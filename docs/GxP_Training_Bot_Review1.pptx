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5656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png"/><Relationship Id="rId4" Type="http://schemas.openxmlformats.org/officeDocument/2006/relationships/image" Target="../media/image24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2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0068" y="891540"/>
            <a:ext cx="1051560" cy="10515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" name="Image 0" descr="C:\Users\Suhas\AppData\Local\Temp\claude\C--Users-Suhas-Documents-Codex-2026-06-17-files-mentioned-by-the-user-codex-gxp-training-bot\e45181c4-67f4-4fce-8ba1-5c1f25c05e17\scratchpad\icons\shield-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442" y="1143914"/>
            <a:ext cx="546811" cy="54681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33172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GxP Training Bot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1371600" y="31546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Role-Specific SOP Quiz Generator for Pharma &amp; Life Sciences GxP Training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301088" y="39776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/>
        </p:spPr>
      </p:sp>
      <p:sp>
        <p:nvSpPr>
          <p:cNvPr id="7" name="Text 4"/>
          <p:cNvSpPr/>
          <p:nvPr/>
        </p:nvSpPr>
        <p:spPr>
          <a:xfrm>
            <a:off x="2301088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PS053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907128" y="39776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/>
        </p:spPr>
      </p:sp>
      <p:sp>
        <p:nvSpPr>
          <p:cNvPr id="9" name="Text 6"/>
          <p:cNvSpPr/>
          <p:nvPr/>
        </p:nvSpPr>
        <p:spPr>
          <a:xfrm>
            <a:off x="4907128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&amp; Life Sciences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513168" y="39776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/>
        </p:spPr>
      </p:sp>
      <p:sp>
        <p:nvSpPr>
          <p:cNvPr id="11" name="Text 8"/>
          <p:cNvSpPr/>
          <p:nvPr/>
        </p:nvSpPr>
        <p:spPr>
          <a:xfrm>
            <a:off x="7513168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Focus: GenAI Tutor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GenAI Bootcamp — Capstone Project  ·  Review-1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We're Solving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EFF6FF"/>
          </a:solidFill>
          <a:ln w="12700">
            <a:solidFill>
              <a:srgbClr val="DCEAFB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4805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“Create a GxP training bot that generates role-specific quizzes from SOPs and explains wrong answers.”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3520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Official Problem Statement, PS053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251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just a quiz app — it's the evidence trail an inspector would ask to see, with AI doing the tedious authoring work without removing the human judgment regulated training legally requires.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49340" y="162306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1" name="Image 0" descr="C:\Users\Suhas\AppData\Local\Temp\claude\C--Users-Suhas-Documents-Codex-2026-06-17-files-mentioned-by-the-user-codex-gxp-training-bot\e45181c4-67f4-4fce-8ba1-5c1f25c05e17\scratchpad\icons\excla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87652"/>
            <a:ext cx="356616" cy="35661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95160" y="1600200"/>
            <a:ext cx="4647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 Scale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995160" y="1920240"/>
            <a:ext cx="464789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quiz-writing by hand for every SOP and every job role takes too long.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49340" y="304038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5" name="Image 1" descr="C:\Users\Suhas\AppData\Local\Temp\claude\C--Users-Suhas-Documents-Codex-2026-06-17-files-mentioned-by-the-user-codex-gxp-training-bot\e45181c4-67f4-4fce-8ba1-5c1f25c05e17\scratchpad\icons\ques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932" y="3204972"/>
            <a:ext cx="356616" cy="35661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995160" y="3017520"/>
            <a:ext cx="4647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Explained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995160" y="3337560"/>
            <a:ext cx="464789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answer just says “Incorrect” — the training moment is lost.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149340" y="445770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9" name="Image 2" descr="C:\Users\Suhas\AppData\Local\Temp\claude\C--Users-Suhas-Documents-Codex-2026-06-17-files-mentioned-by-the-user-codex-gxp-training-bot\e45181c4-67f4-4fce-8ba1-5c1f25c05e17\scratchpad\icons\gav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3932" y="462229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95160" y="4434840"/>
            <a:ext cx="4647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 Be Provable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995160" y="4754880"/>
            <a:ext cx="464789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requires an unchangeable record that training actually happened.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5269" y="1828800"/>
            <a:ext cx="731520" cy="7315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6" name="Image 0" descr="C:\Users\Suhas\AppData\Local\Temp\claude\C--Users-Suhas-Documents-Codex-2026-06-17-files-mentioned-by-the-user-codex-gxp-training-bot\e45181c4-67f4-4fce-8ba1-5c1f25c05e17\scratchpad\icons\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834" y="200436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651760"/>
            <a:ext cx="31190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&amp; Chunk SOPs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3017520"/>
            <a:ext cx="30275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extraction + heading-aware chunking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53458" y="160020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30088" y="1828800"/>
            <a:ext cx="731520" cy="7315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1" name="Image 1" descr="C:\Users\Suhas\AppData\Local\Temp\claude\C--Users-Suhas-Documents-Codex-2026-06-17-files-mentioned-by-the-user-codex-gxp-training-bot\e45181c4-67f4-4fce-8ba1-5c1f25c05e17\scratchpad\icons\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652" y="200436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6338" y="2651760"/>
            <a:ext cx="31190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AI-Drafted Questions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82058" y="3017520"/>
            <a:ext cx="30275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 MCQs with compliance explanations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58277" y="160020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34906" y="1828800"/>
            <a:ext cx="731520" cy="7315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6" name="Image 2" descr="C:\Users\Suhas\AppData\Local\Temp\claude\C--Users-Suhas-Documents-Codex-2026-06-17-files-mentioned-by-the-user-codex-gxp-training-bot\e45181c4-67f4-4fce-8ba1-5c1f25c05e17\scratchpad\icons\user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471" y="2004365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41157" y="2651760"/>
            <a:ext cx="31190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Human Review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386877" y="3017520"/>
            <a:ext cx="30275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approval gate before any learner sees a draft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8620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925269" y="4114800"/>
            <a:ext cx="731520" cy="7315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1" name="Image 3" descr="C:\Users\Suhas\AppData\Local\Temp\claude\C--Users-Suhas-Documents-Codex-2026-06-17-files-mentioned-by-the-user-codex-gxp-training-bot\e45181c4-67f4-4fce-8ba1-5c1f25c05e17\scratchpad\icons\qui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0834" y="4290365"/>
            <a:ext cx="380390" cy="38039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937760"/>
            <a:ext cx="31190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&amp; Explain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77240" y="5303520"/>
            <a:ext cx="30275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grading, explained wrong answers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53458" y="388620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730088" y="4114800"/>
            <a:ext cx="731520" cy="7315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6" name="Image 4" descr="C:\Users\Suhas\AppData\Local\Temp\claude\C--Users-Suhas-Documents-Codex-2026-06-17-files-mentioned-by-the-user-codex-gxp-training-bot\e45181c4-67f4-4fce-8ba1-5c1f25c05e17\scratchpad\icons\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652" y="4290365"/>
            <a:ext cx="380390" cy="38039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36338" y="4937760"/>
            <a:ext cx="31190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RBAC + Audit Trail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582058" y="5303520"/>
            <a:ext cx="30275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roles, 21 CFR Part 11-style logging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58277" y="3886200"/>
            <a:ext cx="348477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534906" y="4114800"/>
            <a:ext cx="731520" cy="7315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1" name="Image 5" descr="C:\Users\Suhas\AppData\Local\Temp\claude\C--Users-Suhas-Documents-Codex-2026-06-17-files-mentioned-by-the-user-codex-gxp-training-bot\e45181c4-67f4-4fce-8ba1-5c1f25c05e17\scratchpad\icons\syn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0471" y="4290365"/>
            <a:ext cx="380390" cy="38039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41157" y="4937760"/>
            <a:ext cx="31190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Graceful Degradation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386877" y="5303520"/>
            <a:ext cx="302757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 — never a hard failure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&amp; GAP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in Real Research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27432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Kıyak et al., Postgrad. Med. J. 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MCQs wrong in up to 45% of cases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Justifies mandatory SME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et al. (RAG), NeurIPS 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grounding reduces hallucination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for grounded generation + SOP chatbot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Taiwo &amp; Yusoff 2026; Kreileder et al. 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Heading-based chunking matches embeddings on structured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Justifies our chunking approach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Khalafi et al., BMC Med. Educ.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Spaced re-testing significantly improves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for adaptive retraining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Heitmann et al., ISPE 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need mandatory SME review in GxP contexts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basis for the approval 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548640" y="443484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FF6FF"/>
          </a:solidFill>
          <a:ln w="12700">
            <a:solidFill>
              <a:srgbClr val="DCEAFB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4599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IDENTIFIED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4892040"/>
            <a:ext cx="105457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peer-reviewed research evaluates adaptive retraining specifically in GxP/pharma compliance training — this is where our own contribution goes beyond replicating prior work.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09648" y="155448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12700">
            <a:solidFill>
              <a:srgbClr val="DCEAFB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06828" y="1691640"/>
            <a:ext cx="502920" cy="50292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6" name="Image 0" descr="C:\Users\Suhas\AppData\Local\Temp\claude\C--Users-Suhas-Documents-Codex-2026-06-17-files-mentioned-by-the-user-codex-gxp-training-bot\e45181c4-67f4-4fce-8ba1-5c1f25c05e17\scratchpad\icons\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528" y="18123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169768" y="1627632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18 + Vite — Frontend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169768" y="192024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role-aware views: Dashboard, SOP Library, Generate Quiz, Question Review, Learner Quiz, Analytics, Users &amp; Roles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95848" y="2331720"/>
            <a:ext cx="0" cy="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209648" y="274320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06828" y="288036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2" name="Image 1" descr="C:\Users\Suhas\AppData\Local\Temp\claude\C--Users-Suhas-Documents-Codex-2026-06-17-files-mentioned-by-the-user-codex-gxp-training-bot\e45181c4-67f4-4fce-8ba1-5c1f25c05e17\scratchpad\icons\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528" y="3001061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69768" y="2816352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Django REST API — Backend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69768" y="31089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role-gated apps: accounts, sops, ai_engine, quiz, attempts, analytics, audit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038448" y="352044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53248" y="352044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038448" y="3520440"/>
            <a:ext cx="41148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38448" y="3840480"/>
            <a:ext cx="0" cy="2286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8153248" y="3840480"/>
            <a:ext cx="0" cy="2286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2209648" y="4069080"/>
            <a:ext cx="365760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12700">
            <a:solidFill>
              <a:srgbClr val="E9D8FD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2461108" y="4389120"/>
            <a:ext cx="502920" cy="502920"/>
          </a:xfrm>
          <a:prstGeom prst="ellipse">
            <a:avLst/>
          </a:prstGeom>
          <a:solidFill>
            <a:srgbClr val="6D28D9"/>
          </a:solidFill>
          <a:ln/>
        </p:spPr>
      </p:sp>
      <p:pic>
        <p:nvPicPr>
          <p:cNvPr id="22" name="Image 2" descr="C:\Users\Suhas\AppData\Local\Temp\claude\C--Users-Suhas-Documents-Codex-2026-06-17-files-mentioned-by-the-user-codex-gxp-training-bot\e45181c4-67f4-4fce-8ba1-5c1f25c05e17\scratchpad\icons\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1808" y="4509821"/>
            <a:ext cx="261518" cy="26151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124048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NVIDIA NIM — AI Layer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3124048" y="4526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generation + offline fallback + confidence scoring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324448" y="4069080"/>
            <a:ext cx="3657600" cy="1143000"/>
          </a:xfrm>
          <a:prstGeom prst="roundRect">
            <a:avLst>
              <a:gd name="adj" fmla="val 6400"/>
            </a:avLst>
          </a:prstGeom>
          <a:solidFill>
            <a:srgbClr val="FFFBEB"/>
          </a:solidFill>
          <a:ln w="12700">
            <a:solidFill>
              <a:srgbClr val="FDE9C8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575908" y="4389120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27" name="Image 3" descr="C:\Users\Suhas\AppData\Local\Temp\claude\C--Users-Suhas-Documents-Codex-2026-06-17-files-mentioned-by-the-user-codex-gxp-training-bot\e45181c4-67f4-4fce-8ba1-5c1f25c05e17\scratchpad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6608" y="4509821"/>
            <a:ext cx="261518" cy="26151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238848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 + Celery/Redis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238848" y="4526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storage + async background jobs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layer is isolated behind one module — swapping providers means changing one file, not the whole app.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429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745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74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2838" y="176022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8" name="Image 0" descr="C:\Users\Suhas\AppData\Local\Temp\claude\C--Users-Suhas-Documents-Codex-2026-06-17-files-mentioned-by-the-user-codex-gxp-training-bot\e45181c4-67f4-4fce-8ba1-5c1f25c05e17\scratchpad\icons\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485" y="1902866"/>
            <a:ext cx="309067" cy="30906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2468880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&amp; Chunk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77240" y="2834640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→ text → sections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30370" y="2606040"/>
            <a:ext cx="310896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68698" y="1691640"/>
            <a:ext cx="345429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51578" y="18745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14" name="Text 11"/>
          <p:cNvSpPr/>
          <p:nvPr/>
        </p:nvSpPr>
        <p:spPr>
          <a:xfrm>
            <a:off x="4551578" y="1874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022897" y="176022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6" name="Image 1" descr="C:\Users\Suhas\AppData\Local\Temp\claude\C--Users-Suhas-Documents-Codex-2026-06-17-files-mentioned-by-the-user-codex-gxp-training-bot\e45181c4-67f4-4fce-8ba1-5c1f25c05e17\scratchpad\icons\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543" y="1902866"/>
            <a:ext cx="309067" cy="30906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597298" y="2468880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Draft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597298" y="2834640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MCQs + confidence score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850429" y="2606040"/>
            <a:ext cx="310896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88757" y="1691640"/>
            <a:ext cx="345429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371637" y="18745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22" name="Text 18"/>
          <p:cNvSpPr/>
          <p:nvPr/>
        </p:nvSpPr>
        <p:spPr>
          <a:xfrm>
            <a:off x="8371637" y="1874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10842955" y="176022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4" name="Image 2" descr="C:\Users\Suhas\AppData\Local\Temp\claude\C--Users-Suhas-Documents-Codex-2026-06-17-files-mentioned-by-the-user-codex-gxp-training-bot\e45181c4-67f4-4fce-8ba1-5c1f25c05e17\scratchpad\icons\user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5602" y="1902866"/>
            <a:ext cx="309067" cy="309067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417357" y="2468880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 Review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8417357" y="2834640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E-signed approve/reject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48640" y="3886200"/>
            <a:ext cx="345429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731520" y="40690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29" name="Text 24"/>
          <p:cNvSpPr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3202838" y="395478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1" name="Image 3" descr="C:\Users\Suhas\AppData\Local\Temp\claude\C--Users-Suhas-Documents-Codex-2026-06-17-files-mentioned-by-the-user-codex-gxp-training-bot\e45181c4-67f4-4fce-8ba1-5c1f25c05e17\scratchpad\icons\user-gradu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5485" y="4097426"/>
            <a:ext cx="309067" cy="309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77240" y="4663440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Learner Quiz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777240" y="5029200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questions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030370" y="4800600"/>
            <a:ext cx="310896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  <a:tailEnd type="triangle"/>
          </a:ln>
        </p:spPr>
      </p:sp>
      <p:sp>
        <p:nvSpPr>
          <p:cNvPr id="35" name="Shape 29"/>
          <p:cNvSpPr/>
          <p:nvPr/>
        </p:nvSpPr>
        <p:spPr>
          <a:xfrm>
            <a:off x="4368698" y="3886200"/>
            <a:ext cx="345429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4551578" y="40690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37" name="Text 31"/>
          <p:cNvSpPr/>
          <p:nvPr/>
        </p:nvSpPr>
        <p:spPr>
          <a:xfrm>
            <a:off x="4551578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Shape 32"/>
          <p:cNvSpPr/>
          <p:nvPr/>
        </p:nvSpPr>
        <p:spPr>
          <a:xfrm>
            <a:off x="7022897" y="395478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9" name="Image 4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543" y="4097426"/>
            <a:ext cx="309067" cy="309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4597298" y="4663440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Auto-Graded</a:t>
            </a:r>
            <a:endParaRPr lang="en-US" sz="1450" dirty="0"/>
          </a:p>
        </p:txBody>
      </p:sp>
      <p:sp>
        <p:nvSpPr>
          <p:cNvPr id="41" name="Text 34"/>
          <p:cNvSpPr/>
          <p:nvPr/>
        </p:nvSpPr>
        <p:spPr>
          <a:xfrm>
            <a:off x="4597298" y="5029200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explanations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850429" y="4800600"/>
            <a:ext cx="310896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  <a:tailEnd type="triangle"/>
          </a:ln>
        </p:spPr>
      </p:sp>
      <p:sp>
        <p:nvSpPr>
          <p:cNvPr id="43" name="Shape 36"/>
          <p:cNvSpPr/>
          <p:nvPr/>
        </p:nvSpPr>
        <p:spPr>
          <a:xfrm>
            <a:off x="8188757" y="3886200"/>
            <a:ext cx="345429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371637" y="40690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45" name="Text 38"/>
          <p:cNvSpPr/>
          <p:nvPr/>
        </p:nvSpPr>
        <p:spPr>
          <a:xfrm>
            <a:off x="8371637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Shape 39"/>
          <p:cNvSpPr/>
          <p:nvPr/>
        </p:nvSpPr>
        <p:spPr>
          <a:xfrm>
            <a:off x="10842955" y="395478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47" name="Image 5" descr="C:\Users\Suhas\AppData\Local\Temp\claude\C--Users-Suhas-Documents-Codex-2026-06-17-files-mentioned-by-the-user-codex-gxp-training-bot\e45181c4-67f4-4fce-8ba1-5c1f25c05e17\scratchpad\icons\chart-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85602" y="4097426"/>
            <a:ext cx="309067" cy="309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8417357" y="4663440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Retraining</a:t>
            </a:r>
            <a:endParaRPr lang="en-US" sz="1450" dirty="0"/>
          </a:p>
        </p:txBody>
      </p:sp>
      <p:sp>
        <p:nvSpPr>
          <p:cNvPr id="49" name="Text 41"/>
          <p:cNvSpPr/>
          <p:nvPr/>
        </p:nvSpPr>
        <p:spPr>
          <a:xfrm>
            <a:off x="8417357" y="5029200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Weak-topic scheduling</a:t>
            </a:r>
            <a:endParaRPr lang="en-US" sz="1100" dirty="0"/>
          </a:p>
        </p:txBody>
      </p:sp>
      <p:sp>
        <p:nvSpPr>
          <p:cNvPr id="50" name="Text 42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writes to an append-only audit trail that can never be edited or deleted.</a:t>
            </a:r>
            <a:endParaRPr lang="en-US" sz="1150" dirty="0"/>
          </a:p>
        </p:txBody>
      </p:sp>
      <p:sp>
        <p:nvSpPr>
          <p:cNvPr id="51" name="Text 43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52" name="Text 44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Technical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8412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792224"/>
            <a:ext cx="548640" cy="54864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6" name="Image 0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1923898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3736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auth over session auth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17320" y="2084832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for a decoupled SPA — avoids CSRF-cookie plumbing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2633472"/>
            <a:ext cx="548640" cy="54864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0" name="Image 1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2765146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578608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404, not 403, for a stranger's quiz attempt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417320" y="292608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403 would confirm the record exists — a 404 doesn't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328416"/>
            <a:ext cx="11094415" cy="8412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85800" y="3474720"/>
            <a:ext cx="548640" cy="54864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5" name="Image 2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606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419856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 signature = question + correct answer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417320" y="3767328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alone gave false positives across different facts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85800" y="4315968"/>
            <a:ext cx="548640" cy="54864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9" name="Image 3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447642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17320" y="4261104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Heading-aware chunking over embeddings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417320" y="4608576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Literature-backed — not a shortcut (see Literature Survey)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48640" y="5010912"/>
            <a:ext cx="11094415" cy="8412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3" name="Shape 17"/>
          <p:cNvSpPr/>
          <p:nvPr/>
        </p:nvSpPr>
        <p:spPr>
          <a:xfrm>
            <a:off x="685800" y="5157216"/>
            <a:ext cx="548640" cy="54864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4" name="Image 4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5288890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5102352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Leitner scheduler over Bayesian/Deep Knowledge Tracing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1417320" y="5449824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data scale we actually have — evidence-based, not guessed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3357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2527" y="189738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6" name="Image 0" descr="C:\Users\Suhas\AppData\Local\Temp\claude\C--Users-Suhas-Documents-Codex-2026-06-17-files-mentioned-by-the-user-codex-gxp-training-bot\e45181c4-67f4-4fce-8ba1-5c1f25c05e17\scratchpad\icons\fl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119" y="206197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697480"/>
            <a:ext cx="235069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347472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02254" y="1691640"/>
            <a:ext cx="253357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26141" y="189738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1" name="Image 1" descr="C:\Users\Suhas\AppData\Local\Temp\claude\C--Users-Suhas-Documents-Codex-2026-06-17-files-mentioned-by-the-user-codex-gxp-training-bot\e45181c4-67f4-4fce-8ba1-5c1f25c05e17\scratchpad\icons\book-op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733" y="206197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93694" y="2697480"/>
            <a:ext cx="235069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3539414" y="347472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Sources Cited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55868" y="1691640"/>
            <a:ext cx="253357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79755" y="189738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6" name="Image 2" descr="C:\Users\Suhas\AppData\Local\Temp\claude\C--Users-Suhas-Documents-Codex-2026-06-17-files-mentioned-by-the-user-codex-gxp-training-bot\e45181c4-67f4-4fce-8ba1-5c1f25c05e17\scratchpad\icons\check-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4347" y="2061972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47308" y="2697480"/>
            <a:ext cx="235069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6393028" y="347472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Maintained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109481" y="1691640"/>
            <a:ext cx="253357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33368" y="1897380"/>
            <a:ext cx="685800" cy="68580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1" name="Image 3" descr="C:\Users\Suhas\AppData\Local\Temp\claude\C--Users-Suhas-Documents-Codex-2026-06-17-files-mentioned-by-the-user-codex-gxp-training-bot\e45181c4-67f4-4fce-8ba1-5c1f25c05e17\scratchpad\icons\bu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7960" y="2061972"/>
            <a:ext cx="356616" cy="35661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00921" y="2697480"/>
            <a:ext cx="235069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3" name="Text 17"/>
          <p:cNvSpPr/>
          <p:nvPr/>
        </p:nvSpPr>
        <p:spPr>
          <a:xfrm>
            <a:off x="9246641" y="347472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438912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 w="12700">
            <a:solidFill>
              <a:srgbClr val="DCEAFB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572000"/>
            <a:ext cx="105457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Live, Not Just Claimed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822960" y="4937760"/>
            <a:ext cx="1054577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upload SOP → AI draft → e-signed approval → scored quiz with explanations → grounded chatbot answer → audit-log export — every step confirmed working in a real browser session, not just by automated tests.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Walkthrough Plan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5" name="Image 0" descr="C:\Users\Suhas\AppData\Local\Temp\claude\C--Users-Suhas-Documents-Codex-2026-06-17-files-mentioned-by-the-user-codex-gxp-training-bot\e45181c4-67f4-4fce-8ba1-5c1f25c05e17\scratchpad\icons\sign-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" y="1890979"/>
            <a:ext cx="332842" cy="33284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80822" y="1618488"/>
            <a:ext cx="279806" cy="272491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4"/>
          <p:cNvSpPr/>
          <p:nvPr/>
        </p:nvSpPr>
        <p:spPr>
          <a:xfrm>
            <a:off x="1132251" y="1581912"/>
            <a:ext cx="193853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37160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as Admin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371600" y="2057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dashboard data, not a mockup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2907792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1" name="Image 1" descr="C:\Users\Suhas\AppData\Local\Temp\claude\C--Users-Suhas-Documents-Codex-2026-06-17-files-mentioned-by-the-user-codex-gxp-training-bot\e45181c4-67f4-4fce-8ba1-5c1f25c05e17\scratchpad\icons\up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79" y="3061411"/>
            <a:ext cx="332842" cy="33284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207008" y="2880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13" name="Text 9"/>
          <p:cNvSpPr/>
          <p:nvPr/>
        </p:nvSpPr>
        <p:spPr>
          <a:xfrm>
            <a:off x="1207008" y="2880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562024" y="2880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Real SOP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562024" y="322783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chunk count on success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94360" y="4078224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7" name="Image 2" descr="C:\Users\Suhas\AppData\Local\Temp\claude\C--Users-Suhas-Documents-Codex-2026-06-17-files-mentioned-by-the-user-codex-gxp-training-bot\e45181c4-67f4-4fce-8ba1-5c1f25c05e17\scratchpad\icons\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979" y="4231843"/>
            <a:ext cx="332842" cy="33284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1207008" y="405079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19" name="Text 14"/>
          <p:cNvSpPr/>
          <p:nvPr/>
        </p:nvSpPr>
        <p:spPr>
          <a:xfrm>
            <a:off x="1207008" y="40507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582141" y="403250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a Quiz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582141" y="439826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badge + confidence score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94360" y="5248656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3" name="Image 3" descr="C:\Users\Suhas\AppData\Local\Temp\claude\C--Users-Suhas-Documents-Codex-2026-06-17-files-mentioned-by-the-user-codex-gxp-training-bot\e45181c4-67f4-4fce-8ba1-5c1f25c05e17\scratchpad\icons\user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979" y="5402275"/>
            <a:ext cx="332842" cy="33284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1207008" y="5221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25" name="Text 19"/>
          <p:cNvSpPr/>
          <p:nvPr/>
        </p:nvSpPr>
        <p:spPr>
          <a:xfrm>
            <a:off x="1207008" y="52212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1562024" y="518464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with E-Signature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1566251" y="5523163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Password-confirmed approval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278728" y="173736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9" name="Image 4" descr="C:\Users\Suhas\AppData\Local\Temp\claude\C--Users-Suhas-Documents-Codex-2026-06-17-files-mentioned-by-the-user-codex-gxp-training-bot\e45181c4-67f4-4fce-8ba1-5c1f25c05e17\scratchpad\icons\user-gradu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2347" y="1890979"/>
            <a:ext cx="332842" cy="332842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6891376" y="170992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31" name="Text 24"/>
          <p:cNvSpPr/>
          <p:nvPr/>
        </p:nvSpPr>
        <p:spPr>
          <a:xfrm>
            <a:off x="6891376" y="17099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7183984" y="16733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Learner Takes the Quiz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7183984" y="20116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answer wrong — on purpose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6278728" y="2907792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5" name="Image 5" descr="C:\Users\Suhas\AppData\Local\Temp\claude\C--Users-Suhas-Documents-Codex-2026-06-17-files-mentioned-by-the-user-codex-gxp-training-bot\e45181c4-67f4-4fce-8ba1-5c1f25c05e17\scratchpad\icons\chart-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2347" y="3061411"/>
            <a:ext cx="332842" cy="332842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6891376" y="2880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37" name="Text 29"/>
          <p:cNvSpPr/>
          <p:nvPr/>
        </p:nvSpPr>
        <p:spPr>
          <a:xfrm>
            <a:off x="6891376" y="2880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7183984" y="285292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Explanation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7183984" y="321682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Wrong-answer reasoning + weak topics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6278728" y="4078224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41" name="Image 6" descr="C:\Users\Suhas\AppData\Local\Temp\claude\C--Users-Suhas-Documents-Codex-2026-06-17-files-mentioned-by-the-user-codex-gxp-training-bot\e45181c4-67f4-4fce-8ba1-5c1f25c05e17\scratchpad\icons\commen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347" y="4231843"/>
            <a:ext cx="332842" cy="3328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6891376" y="405079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43" name="Text 34"/>
          <p:cNvSpPr/>
          <p:nvPr/>
        </p:nvSpPr>
        <p:spPr>
          <a:xfrm>
            <a:off x="6891376" y="40507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4" name="Text 35"/>
          <p:cNvSpPr/>
          <p:nvPr/>
        </p:nvSpPr>
        <p:spPr>
          <a:xfrm>
            <a:off x="7208520" y="40050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SOP Chatbot</a:t>
            </a:r>
            <a:endParaRPr lang="en-US" sz="1450" dirty="0"/>
          </a:p>
        </p:txBody>
      </p:sp>
      <p:sp>
        <p:nvSpPr>
          <p:cNvPr id="45" name="Text 36"/>
          <p:cNvSpPr/>
          <p:nvPr/>
        </p:nvSpPr>
        <p:spPr>
          <a:xfrm>
            <a:off x="7233056" y="433425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answer, cited section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6278728" y="5248656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47" name="Image 7" descr="C:\Users\Suhas\AppData\Local\Temp\claude\C--Users-Suhas-Documents-Codex-2026-06-17-files-mentioned-by-the-user-codex-gxp-training-bot\e45181c4-67f4-4fce-8ba1-5c1f25c05e17\scratchpad\icons\file-downloa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2347" y="5402275"/>
            <a:ext cx="332842" cy="332842"/>
          </a:xfrm>
          <a:prstGeom prst="rect">
            <a:avLst/>
          </a:prstGeom>
        </p:spPr>
      </p:pic>
      <p:sp>
        <p:nvSpPr>
          <p:cNvPr id="48" name="Shape 38"/>
          <p:cNvSpPr/>
          <p:nvPr/>
        </p:nvSpPr>
        <p:spPr>
          <a:xfrm>
            <a:off x="6891376" y="5221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49" name="Text 39"/>
          <p:cNvSpPr/>
          <p:nvPr/>
        </p:nvSpPr>
        <p:spPr>
          <a:xfrm>
            <a:off x="6891376" y="52212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0" name="Text 40"/>
          <p:cNvSpPr/>
          <p:nvPr/>
        </p:nvSpPr>
        <p:spPr>
          <a:xfrm>
            <a:off x="7220563" y="520293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the Audit Log</a:t>
            </a:r>
            <a:endParaRPr lang="en-US" sz="1450" dirty="0"/>
          </a:p>
        </p:txBody>
      </p:sp>
      <p:sp>
        <p:nvSpPr>
          <p:cNvPr id="51" name="Text 41"/>
          <p:cNvSpPr/>
          <p:nvPr/>
        </p:nvSpPr>
        <p:spPr>
          <a:xfrm>
            <a:off x="7310171" y="5495171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CSV download</a:t>
            </a:r>
            <a:endParaRPr lang="en-US" sz="1100" dirty="0"/>
          </a:p>
        </p:txBody>
      </p:sp>
      <p:sp>
        <p:nvSpPr>
          <p:cNvPr id="52" name="Text 42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53" name="Text 43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ORIGINAL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 Features Added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2532" y="17830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6" name="Image 0" descr="C:\Users\Suhas\AppData\Local\Temp\claude\C--Users-Suhas-Documents-Codex-2026-06-17-files-mentioned-by-the-user-codex-gxp-training-bot\e45181c4-67f4-4fce-8ba1-5c1f25c05e17\scratchpad\icons\finger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151" y="19366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4688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 Signatures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" y="27889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e-signature on approve/reject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390824" y="16002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54716" y="17830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1" name="Image 1" descr="C:\Users\Suhas\AppData\Local\Temp\claude\C--Users-Suhas-Documents-Codex-2026-06-17-files-mentioned-by-the-user-codex-gxp-training-bot\e45181c4-67f4-4fce-8ba1-5c1f25c05e17\scratchpad\icons\percent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335" y="19366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7984" y="24688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Confidence Scoring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55416" y="27889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0.0–1.0 score per question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233008" y="16002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96900" y="17830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6" name="Image 2" descr="C:\Users\Suhas\AppData\Local\Temp\claude\C--Users-Suhas-Documents-Codex-2026-06-17-files-mentioned-by-the-user-codex-gxp-training-bot\e45181c4-67f4-4fce-8ba1-5c1f25c05e17\scratchpad\icons\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0519" y="193669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70168" y="24688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Validation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97600" y="27889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File-type allowlist + 20MB size cap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9075191" y="16002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39083" y="17830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1" name="Image 3" descr="C:\Users\Suhas\AppData\Local\Temp\claude\C--Users-Suhas-Documents-Codex-2026-06-17-files-mentioned-by-the-user-codex-gxp-training-bot\e45181c4-67f4-4fce-8ba1-5c1f25c05e17\scratchpad\icons\re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2703" y="19366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12351" y="24688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NIM Retry With Backoff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239783" y="27889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before falling back offline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1969732" y="36576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2933624" y="38404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6" name="Image 4" descr="C:\Users\Suhas\AppData\Local\Temp\claude\C--Users-Suhas-Documents-Codex-2026-06-17-files-mentioned-by-the-user-codex-gxp-training-bot\e45181c4-67f4-4fce-8ba1-5c1f25c05e17\scratchpad\icons\file-down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7243" y="399409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106892" y="45262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Audit-Log CSV Export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2134324" y="48463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Inspector-ready compliance export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811916" y="36576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775808" y="38404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1" name="Image 5" descr="C:\Users\Suhas\AppData\Local\Temp\claude\C--Users-Suhas-Documents-Codex-2026-06-17-files-mentioned-by-the-user-codex-gxp-training-bot\e45181c4-67f4-4fce-8ba1-5c1f25c05e17\scratchpad\icons\chart-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9427" y="3994099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949076" y="45262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Retraining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4976508" y="48463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Leitner-style spaced-repetition scheduler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7654100" y="3657600"/>
            <a:ext cx="256786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617991" y="3840480"/>
            <a:ext cx="640080" cy="64008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6" name="Image 6" descr="C:\Users\Suhas\AppData\Local\Temp\claude\C--Users-Suhas-Documents-Codex-2026-06-17-files-mentioned-by-the-user-codex-gxp-training-bot\e45181c4-67f4-4fce-8ba1-5c1f25c05e17\scratchpad\icons\commen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1611" y="3994099"/>
            <a:ext cx="332842" cy="33284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791260" y="4526280"/>
            <a:ext cx="2293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RAG-Based SOP Chatbot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7818692" y="4846320"/>
            <a:ext cx="2238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Q&amp;A grounded in SOP chunks</a:t>
            </a:r>
            <a:endParaRPr lang="en-US" sz="950" dirty="0"/>
          </a:p>
        </p:txBody>
      </p:sp>
      <p:sp>
        <p:nvSpPr>
          <p:cNvPr id="39" name="Text 30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62940" y="178308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5" name="Image 0" descr="C:\Users\Suhas\AppData\Local\Temp\claude\C--Users-Suhas-Documents-Codex-2026-06-17-files-mentioned-by-the-user-codex-gxp-training-bot\e45181c4-67f4-4fce-8ba1-5c1f25c05e17\scratchpad\icons\project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86" y="1925726"/>
            <a:ext cx="309067" cy="3090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69164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Embeddings-Based Chunking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63040" y="205740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scale ever justifies moving past heading-aware chunking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62940" y="265176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9" name="Image 1" descr="C:\Users\Suhas\AppData\Local\Temp\claude\C--Users-Suhas-Documents-Codex-2026-06-17-files-mentioned-by-the-user-codex-gxp-training-bot\e45181c4-67f4-4fce-8ba1-5c1f25c05e17\scratchpad\icons\tas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" y="2794406"/>
            <a:ext cx="309067" cy="30906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Auto-Assignment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463040" y="292608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pre-creates the quiz attempt instead of surfacing a suggestion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62940" y="352044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3" name="Image 2" descr="C:\Users\Suhas\AppData\Local\Temp\claude\C--Users-Suhas-Documents-Codex-2026-06-17-files-mentioned-by-the-user-codex-gxp-training-bot\e45181c4-67f4-4fce-8ba1-5c1f25c05e17\scratchpad\icons\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586" y="3663086"/>
            <a:ext cx="309067" cy="30906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42900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Concept-Clustering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463040" y="379476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LECTOR-style: treat related weak topics as reinforcing one another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62940" y="438912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17" name="Image 3" descr="C:\Users\Suhas\AppData\Local\Temp\claude\C--Users-Suhas-Documents-Codex-2026-06-17-files-mentioned-by-the-user-codex-gxp-training-bot\e45181c4-67f4-4fce-8ba1-5c1f25c05e17\scratchpad\icons\fla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586" y="4531766"/>
            <a:ext cx="309067" cy="30906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429768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Test Suite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463040" y="466344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Testing Library — backend already has 59 tests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62940" y="5257800"/>
            <a:ext cx="594360" cy="59436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1" name="Image 4" descr="C:\Users\Suhas\AppData\Local\Temp\claude\C--Users-Suhas-Documents-Codex-2026-06-17-files-mentioned-by-the-user-codex-gxp-training-bot\e45181c4-67f4-4fce-8ba1-5c1f25c05e17\scratchpad\icons\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586" y="5400446"/>
            <a:ext cx="309067" cy="30906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463040" y="516636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SSO + Multi-Tenancy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463040" y="553212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identity, multiple organizations on one deployment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SLIDE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Questions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457200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710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this a real LLM or a mockup?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— NVIDIA NIM's hosted Llama 3.1, with a deterministic offline fallback so a demo never depends on network access.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this secure enough for real employee data?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auth, 3-tier RBAC on API and UI, ownership-scoped attempts, an append-only audit log, and electronic signatures on approvals.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not semantic/embeddings chunking?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independent 2026 studies found it doesn't reliably beat structure-aware chunking on documents like SOPs — a considered choice.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stops the AI from being confidently wrong?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stops a draft from being wrong — that's why every draft is confidence-scored and gated behind mandatory, signed human approval.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you have tests?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backend tests, RBAC boundary tests both ways, a forced offline-fallback path, and regression tests for real bugs found and fixed.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783080"/>
            <a:ext cx="1005840" cy="1005840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3" name="Image 0" descr="C:\Users\Suhas\AppData\Local\Temp\claude\C--Users-Suhas-Documents-Codex-2026-06-17-files-mentioned-by-the-user-codex-gxp-training-bot\e45181c4-67f4-4fce-8ba1-5c1f25c05e17\scratchpad\icons\shield-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202448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1089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800704" y="4700016"/>
            <a:ext cx="384048" cy="384048"/>
          </a:xfrm>
          <a:prstGeom prst="ellipse">
            <a:avLst/>
          </a:prstGeom>
          <a:solidFill>
            <a:srgbClr val="111827"/>
          </a:solidFill>
          <a:ln/>
        </p:spPr>
      </p:sp>
      <p:pic>
        <p:nvPicPr>
          <p:cNvPr id="7" name="Image 1" descr="C:\Users\Suhas\AppData\Local\Temp\claude\C--Users-Suhas-Documents-Codex-2026-06-17-files-mentioned-by-the-user-codex-gxp-training-bot\e45181c4-67f4-4fce-8ba1-5c1f25c05e17\scratchpad\icons\git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2875" y="4792188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12768" y="469087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github.com/Kurapati-Sai-Suhas/sop-quiz-pilot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Training Bot · PS053 · NVIDIA GenAI Bootcamp Review-1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1200</Words>
  <Application>Microsoft Office PowerPoint</Application>
  <PresentationFormat>Widescreen</PresentationFormat>
  <Paragraphs>218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 Suhas Kurapati</cp:lastModifiedBy>
  <cp:revision>2</cp:revision>
  <dcterms:created xsi:type="dcterms:W3CDTF">2026-07-21T17:01:32Z</dcterms:created>
  <dcterms:modified xsi:type="dcterms:W3CDTF">2026-07-21T17:07:21Z</dcterms:modified>
</cp:coreProperties>
</file>