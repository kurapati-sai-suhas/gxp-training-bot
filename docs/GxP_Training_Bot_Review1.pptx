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08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24.png"/><Relationship Id="rId4" Type="http://schemas.openxmlformats.org/officeDocument/2006/relationships/image" Target="../media/image5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8.png"/><Relationship Id="rId10" Type="http://schemas.openxmlformats.org/officeDocument/2006/relationships/image" Target="../media/image7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0505" y="685800"/>
            <a:ext cx="1371600" cy="13716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3" name="Image 0" descr="C:\Users\Suhas\AppData\Local\Temp\claude\C--Users-Suhas-Documents-Codex-2026-06-17-files-mentioned-by-the-user-codex-gxp-training-bot\c7b338ea-8bdb-4d3c-b965-6876669ca506\scratchpad\unpacked_orig\ppt\media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553" y="106984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3172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GxP Training Bot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645920" y="3154680"/>
            <a:ext cx="8899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Role-Specific SOP Quiz Generator for Pharma &amp; Life Sciences GxP Training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301088" y="3977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01088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PS053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07128" y="3977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07128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Life Sciences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13168" y="3977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13168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Focus: GenAI Tutor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6126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GenAI Bootcamp — Capstone Project — Review-1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 GxP training bot that generates role-specific quizzes from SOPs and explains wrong answers.”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Official Problem Statement, PS053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7" name="Image 0" descr="C:\Users\Suhas\AppData\Local\Temp\claude\C--Users-Suhas-Documents-Codex-2026-06-17-files-mentioned-by-the-user-codex-gxp-training-bot\c7b338ea-8bdb-4d3c-b965-6876669ca506\scratchpad\unpacked_orig\ppt\media\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2838298"/>
            <a:ext cx="221285" cy="2212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679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Doesn't Scale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99008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quiz-writing by hand for every SOP and every job role takes too long.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1" name="Image 1" descr="C:\Users\Suhas\AppData\Local\Temp\claude\C--Users-Suhas-Documents-Codex-2026-06-17-files-mentioned-by-the-user-codex-gxp-training-bot\c7b338ea-8bdb-4d3c-b965-6876669ca506\scratchpad\unpacked_orig\ppt\media\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3798418"/>
            <a:ext cx="221285" cy="2212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3639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Explained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34440" y="39502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answer just says “Incorrect” — the training moment is lost.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2697480"/>
            <a:ext cx="5577840" cy="2651760"/>
          </a:xfrm>
          <a:prstGeom prst="roundRect">
            <a:avLst>
              <a:gd name="adj" fmla="val 2759"/>
            </a:avLst>
          </a:prstGeom>
          <a:solidFill>
            <a:srgbClr val="0F172A"/>
          </a:solidFill>
          <a:ln/>
        </p:spPr>
      </p:sp>
      <p:sp>
        <p:nvSpPr>
          <p:cNvPr id="15" name="Text 11"/>
          <p:cNvSpPr/>
          <p:nvPr/>
        </p:nvSpPr>
        <p:spPr>
          <a:xfrm>
            <a:off x="6355080" y="2880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55080" y="324612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7" name="Image 2" descr="C:\Users\Suhas\AppData\Local\Temp\claude\C--Users-Suhas-Documents-Codex-2026-06-17-files-mentioned-by-the-user-codex-gxp-training-bot\c7b338ea-8bdb-4d3c-b965-6876669ca506\scratchpad\unpacked_orig\ppt\media\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98" y="3386938"/>
            <a:ext cx="221285" cy="22128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0" y="32461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Be Provable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55080" y="3703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just a quiz app — it's the evidence trail an inspector would ask to see, with AI doing the tedious authoring work without removing the human judgment regulated training legally requires.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55080" y="4709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requires an unchangeable record that training actually happened.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6" name="Image 0" descr="C:\Users\Suhas\AppData\Local\Temp\claude\C--Users-Suhas-Documents-Codex-2026-06-17-files-mentioned-by-the-user-codex-gxp-training-bot\c7b338ea-8bdb-4d3c-b965-6876669ca506\scratchpad\unpacked_orig\ppt\media\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9495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&amp; Chunk SOPs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95351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+ heading-aware chunking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78308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1" name="Image 1" descr="C:\Users\Suhas\AppData\Local\Temp\claude\C--Users-Suhas-Documents-Codex-2026-06-17-files-mentioned-by-the-user-codex-gxp-training-bot\c7b338ea-8bdb-4d3c-b965-6876669ca506\scratchpad\unpacked_orig\ppt\media\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19495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AI-Drafted Questions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295351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MCQs with compliance explanations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78308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6" name="Image 2" descr="C:\Users\Suhas\AppData\Local\Temp\claude\C--Users-Suhas-Documents-Codex-2026-06-17-files-mentioned-by-the-user-codex-gxp-training-bot\c7b338ea-8bdb-4d3c-b965-6876669ca506\scratchpad\unpacked_orig\ppt\media\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194950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Human Review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75320" y="295351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approval gate before any learner sees a draft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1" name="Image 3" descr="C:\Users\Suhas\AppData\Local\Temp\claude\C--Users-Suhas-Documents-Codex-2026-06-17-files-mentioned-by-the-user-codex-gxp-training-bot\c7b338ea-8bdb-4d3c-b965-6876669ca506\scratchpad\unpacked_orig\ppt\media\imag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1" y="428122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46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&amp; Explain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28523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grading, explained wrong answers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840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11480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6" name="Image 4" descr="C:\Users\Suhas\AppData\Local\Temp\claude\C--Users-Suhas-Documents-Codex-2026-06-17-files-mentioned-by-the-user-codex-gxp-training-bot\c7b338ea-8bdb-4d3c-b965-6876669ca506\scratchpad\unpacked_orig\ppt\media\imag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421" y="428122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846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+ Audit Trail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26280" y="528523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roles, 21 CFR Part 11-style logging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840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1040" y="411480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31" name="Image 5" descr="C:\Users\Suhas\AppData\Local\Temp\claude\C--Users-Suhas-Documents-Codex-2026-06-17-files-mentioned-by-the-user-codex-gxp-training-bot\c7b338ea-8bdb-4d3c-b965-6876669ca506\scratchpad\unpacked_orig\ppt\media\image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7461" y="428122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846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75320" y="528523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 — never a hard failure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&amp; GAP IDENTIFICATION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Real Research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Kıyak et al., Postgrad. Med. J.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AI-generated MCQs wrong in up to 45% of cases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Justifies mandatory SME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 et al. (RAG), NeurIPS 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grounding reduces hallucination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for grounded generation + SOP chatbot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Taiwo &amp; Yusoff 2026; Kreileder et al.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Heading-based chunking matches embeddings on structured 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Justifies our chunking approach as the default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Khalafi et al., BMC Med. Educ.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Spaced re-testing significantly improves retention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for adaptive retraining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Heitmann et al., ISPE 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need mandatory SME review in GxP contexts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basis for the approval 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Kiss et al. 2025; Moreno-Cediel et al.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(embeddings) chunking beats fixed-size splits, cheaply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for our embeddings-based chunking fallback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Ye, Su &amp; Cao, KDD 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Difficulty-stratified scheduling improves spaced repetition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for difficulty-weighted retraining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Geng et al., NAACL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confidence scores are often miscalibrated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for confidence-aware retraining scoring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510235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peer-reviewed research evaluates adaptive retraining specifically in GxP/pharma compliance training — this is where our own contribution goes beyond replicating prior work.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691640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6" name="Image 0" descr="C:\Users\Suhas\AppData\Local\Temp\claude\C--Users-Suhas-Documents-Codex-2026-06-17-files-mentioned-by-the-user-codex-gxp-training-bot\c7b338ea-8bdb-4d3c-b965-6876669ca506\scratchpad\unpacked_orig\ppt\media\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02" y="18708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18 + Vite — 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role-aware views: Dashboard, SOP Library, Generate Quiz, Question Review, Learner Quiz, Analytics, Users &amp; Roles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4173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3400" y="1691640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1" name="Image 1" descr="C:\Users\Suhas\AppData\Local\Temp\claude\C--Users-Suhas-Documents-Codex-2026-06-17-files-mentioned-by-the-user-codex-gxp-training-bot\c7b338ea-8bdb-4d3c-b965-6876669ca506\scratchpad\unpacked_orig\ppt\media\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622" y="18708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REST API — Backend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0440" y="32004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role-gated apps: accounts, sops, ai_engine, quiz, attempts, analytics, audit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4173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0" y="1691640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6" name="Image 2" descr="C:\Users\Suhas\AppData\Local\Temp\claude\C--Users-Suhas-Documents-Codex-2026-06-17-files-mentioned-by-the-user-codex-gxp-training-bot\c7b338ea-8bdb-4d3c-b965-6876669ca506\scratchpad\unpacked_orig\ppt\media\imag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542" y="187086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NIM — AI Layer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32004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generation + offline fallback + confidence scoring. Also powers the RAG SOP chatbot — see Tech Stack, next slide.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15400" y="14173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21240" y="1691640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1" name="Image 3" descr="C:\Users\Suhas\AppData\Local\Temp\claude\C--Users-Suhas-Documents-Codex-2026-06-17-files-mentioned-by-the-user-codex-gxp-training-bot\c7b338ea-8bdb-4d3c-b965-6876669ca506\scratchpad\unpacked_orig\ppt\media\image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0462" y="187086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 + Celery/Redis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98280" y="32004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storage + async background jobs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is isolated behind one module — swapping providers means changing one file, not the whole app.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— What We Built It With, And How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5448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6" name="Image 0" descr="C:\Users\Suhas\AppData\Local\Temp\claude\C--Users-Suhas-Documents-Codex-2026-06-17-files-mentioned-by-the-user-codex-gxp-training-bot\c7b338ea-8bdb-4d3c-b965-6876669ca506\scratchpad\unpacked_orig\ppt\media\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6824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08483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5 + DRF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542032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role-gated apps (accounts, sops, ai_engine, quiz, attempts, analytics, audit); ModelViewSets + approve/reject/generate actions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64992" y="13716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55448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1" name="Image 1" descr="C:\Users\Suhas\AppData\Local\Temp\claude\C--Users-Suhas-Documents-Codex-2026-06-17-files-mentioned-by-the-user-codex-gxp-training-bot\c7b338ea-8bdb-4d3c-b965-6876669ca506\scratchpad\unpacked_orig\ppt\media\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168249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9584" y="208483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18 + Vite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29584" y="2542032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role-aware views, single-page app, token-authenticated fetch client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81344" y="13716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82512" y="155448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6" name="Image 2" descr="C:\Users\Suhas\AppData\Local\Temp\claude\C--Users-Suhas-Documents-Codex-2026-06-17-files-mentioned-by-the-user-codex-gxp-training-bot\c7b338ea-8bdb-4d3c-b965-6876669ca506\scratchpad\unpacked_orig\ppt\media\imag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68249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208483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NIM — Llama 3.1 8B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45936" y="2542032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client; powers BOTH quiz drafting AND the RAG chatbot below — same client, two prompts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97696" y="13716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98864" y="155448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1" name="Image 3" descr="C:\Users\Suhas\AppData\Local\Temp\claude\C--Users-Suhas-Documents-Codex-2026-06-17-files-mentioned-by-the-user-codex-gxp-training-bot\c7b338ea-8bdb-4d3c-b965-6876669ca506\scratchpad\icons_new\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68249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2288" y="208483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Retrieval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62288" y="2542032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word-overlap ranking over SOPChunk text, not embeddings — no vector DB needed at this scale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61188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379476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6" name="Image 4" descr="C:\Users\Suhas\AppData\Local\Temp\claude\C--Users-Suhas-Documents-Codex-2026-06-17-files-mentioned-by-the-user-codex-gxp-training-bot\c7b338ea-8bdb-4d3c-b965-6876669ca506\scratchpad\unpacked_orig\ppt\media\imag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392277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" y="432511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Celery + Redis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13232" y="4782312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Offloads slow NVIDIA NIM calls off the request thread; eager-mode fallback for tests/demos without a broker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64992" y="361188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66160" y="379476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31" name="Image 5" descr="C:\Users\Suhas\AppData\Local\Temp\claude\C--Users-Suhas-Documents-Codex-2026-06-17-files-mentioned-by-the-user-codex-gxp-training-bot\c7b338ea-8bdb-4d3c-b965-6876669ca506\scratchpad\unpacked_orig\ppt\media\imag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4176" y="3922776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9584" y="432511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Auth + RBAC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29584" y="4782312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TokenAuthentication; 3-tier roles via Django Groups (Admin/SME) + is_staff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81344" y="361188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82512" y="379476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36" name="Image 6" descr="C:\Users\Suhas\AppData\Local\Temp\claude\C--Users-Suhas-Documents-Codex-2026-06-17-files-mentioned-by-the-user-codex-gxp-training-bot\c7b338ea-8bdb-4d3c-b965-6876669ca506\scratchpad\unpacked_orig\ppt\media\image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3922776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45936" y="432511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(dev) / Postgres-ready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345936" y="4782312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DATABASE_URL env var to switch; append-only AuditLog for 21 CFR Part 11 evidence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997696" y="361188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198864" y="379476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41" name="Image 7" descr="C:\Users\Suhas\AppData\Local\Temp\claude\C--Users-Suhas-Documents-Codex-2026-06-17-files-mentioned-by-the-user-codex-gxp-training-bot\c7b338ea-8bdb-4d3c-b965-6876669ca506\scratchpad\unpacked_orig\ppt\media\image1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3922776"/>
            <a:ext cx="201168" cy="20116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62288" y="432511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PyMuPDF + python-docx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162288" y="4782312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text extraction feeding heading-aware chunking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548640" y="59253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RAG live? Same NVIDIA NIM client as quiz drafting (item 3) — a different prompt, grounded strictly in one SOP's own chunks, never outside knowledge.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66420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8" name="Image 0" descr="C:\Users\Suhas\AppData\Local\Temp\claude\C--Users-Suhas-Documents-Codex-2026-06-17-files-mentioned-by-the-user-codex-gxp-training-bot\c7b338ea-8bdb-4d3c-b965-6876669ca506\scratchpad\unpacked_orig\ppt\media\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79222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2402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&amp; Chunk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67004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→ text → sections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69164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132320" y="166420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5" name="Image 1" descr="C:\Users\Suhas\AppData\Local\Temp\claude\C--Users-Suhas-Documents-Codex-2026-06-17-files-mentioned-by-the-user-codex-gxp-training-bot\c7b338ea-8bdb-4d3c-b965-6876669ca506\scratchpad\unpacked_orig\ppt\media\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1792224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26280" y="22402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26280" y="267004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+ confidence score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75320" y="169164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6"/>
          <p:cNvSpPr/>
          <p:nvPr/>
        </p:nvSpPr>
        <p:spPr>
          <a:xfrm>
            <a:off x="827532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10881360" y="166420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2" name="Image 2" descr="C:\Users\Suhas\AppData\Local\Temp\claude\C--Users-Suhas-Documents-Codex-2026-06-17-files-mentioned-by-the-user-codex-gxp-training-bot\c7b338ea-8bdb-4d3c-b965-6876669ca506\scratchpad\unpacked_orig\ppt\media\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376" y="1792224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75320" y="22402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Review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275320" y="267004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E-signed approve/reject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3703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77240" y="393192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7" name="Text 22"/>
          <p:cNvSpPr/>
          <p:nvPr/>
        </p:nvSpPr>
        <p:spPr>
          <a:xfrm>
            <a:off x="77724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3383280" y="390448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9" name="Image 3" descr="C:\Users\Suhas\AppData\Local\Temp\claude\C--Users-Suhas-Documents-Codex-2026-06-17-files-mentioned-by-the-user-codex-gxp-training-bot\c7b338ea-8bdb-4d3c-b965-6876669ca506\scratchpad\unpacked_orig\ppt\media\image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032504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77240" y="4480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 Quiz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77240" y="491032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questions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297680" y="3703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526280" y="393192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4" name="Text 28"/>
          <p:cNvSpPr/>
          <p:nvPr/>
        </p:nvSpPr>
        <p:spPr>
          <a:xfrm>
            <a:off x="452628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7132320" y="390448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36" name="Image 4" descr="C:\Users\Suhas\AppData\Local\Temp\claude\C--Users-Suhas-Documents-Codex-2026-06-17-files-mentioned-by-the-user-codex-gxp-training-bot\c7b338ea-8bdb-4d3c-b965-6876669ca506\scratchpad\unpacked_orig\ppt\media\image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0336" y="4032504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526280" y="4480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Auto-Graded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4526280" y="491032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explanations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046720" y="3703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275320" y="393192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1" name="Text 34"/>
          <p:cNvSpPr/>
          <p:nvPr/>
        </p:nvSpPr>
        <p:spPr>
          <a:xfrm>
            <a:off x="827532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10881360" y="390448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43" name="Image 5" descr="C:\Users\Suhas\AppData\Local\Temp\claude\C--Users-Suhas-Documents-Codex-2026-06-17-files-mentioned-by-the-user-codex-gxp-training-bot\c7b338ea-8bdb-4d3c-b965-6876669ca506\scratchpad\unpacked_orig\ppt\media\imag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9376" y="4032504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275320" y="4480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Retraining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8275320" y="491032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Weak-topic scheduling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writes to an append-only audit trail that can never be edited or deleted.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Deep-Dive (1/2) — Ingestion to Drafting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49047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76672" y="1472184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8" name="Image 0" descr="C:\Users\Suhas\AppData\Local\Temp\claude\C--Users-Suhas-Documents-Codex-2026-06-17-files-mentioned-by-the-user-codex-gxp-training-bot\c7b338ea-8bdb-4d3c-b965-6876669ca506\scratchpad\unpacked_orig\ppt\media\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326" y="1584838"/>
            <a:ext cx="177028" cy="1770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147218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Upload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7512" y="1947672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SOPDocumentViewSet + serializer validation (file-type allowlist, 20MB cap).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7512" y="2331720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 bad or oversized file before parsing ever starts.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7512" y="2715768"/>
            <a:ext cx="51114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Learner/Admin picks a PDF/DOCX/TXT/MD in the React form -&gt; multipart POST to /api/sops/ -&gt; serializer checks extension + size -&gt; file saved to MEDIA_ROOT, DB row created, sop_uploaded logged to the audit trail.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91072" y="149047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2"/>
          <p:cNvSpPr/>
          <p:nvPr/>
        </p:nvSpPr>
        <p:spPr>
          <a:xfrm>
            <a:off x="6291072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1000232" y="1472184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7" name="Image 1" descr="C:\Users\Suhas\AppData\Local\Temp\claude\C--Users-Suhas-Documents-Codex-2026-06-17-files-mentioned-by-the-user-codex-gxp-training-bot\c7b338ea-8bdb-4d3c-b965-6876669ca506\scratchpad\unpacked_orig\ppt\media\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886" y="1584838"/>
            <a:ext cx="177028" cy="1770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48272" y="147218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Text Extraction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291072" y="1947672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(fitz) for PDF, python-docx for DOCX, direct read for TXT/MD.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291072" y="2331720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binary or service needed; keeps page/paragraph structure for chunking.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291072" y="2715768"/>
            <a:ext cx="51114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clicks Process -&gt; a Celery task calls extract_text_from_file(), which branches by file extension and returns one text blob per SOP; status flips to processed, or failed if nothing extractable (e.g. a scanned PDF with no text layer).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02920" y="38404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7512" y="400507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4" name="Text 20"/>
          <p:cNvSpPr/>
          <p:nvPr/>
        </p:nvSpPr>
        <p:spPr>
          <a:xfrm>
            <a:off x="667512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376672" y="3986784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6" name="Image 2" descr="C:\Users\Suhas\AppData\Local\Temp\claude\C--Users-Suhas-Documents-Codex-2026-06-17-files-mentioned-by-the-user-codex-gxp-training-bot\c7b338ea-8bdb-4d3c-b965-6876669ca506\scratchpad\unpacked_orig\ppt\media\image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326" y="4099438"/>
            <a:ext cx="177028" cy="17702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24712" y="398678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Chunking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67512" y="4462272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Heading-aware regex chunker; embeddings-based (NVIDIA nv-embedqa-e5-v5) semantic chunker as the fallback.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67512" y="4846320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embeddings on structured SOPs (2 studies); embeddings now smarten the fallback too (2 more studies).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67512" y="5230368"/>
            <a:ext cx="51114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for heading patterns ("Section 2:", "3.1"). If none found, uses Max-Min semantic chunking (NVIDIA embeddings, cosine similarity) instead of blind splitting; only drops to fixed-length if that also fails.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126480" y="38404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291072" y="400507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3" name="Text 28"/>
          <p:cNvSpPr/>
          <p:nvPr/>
        </p:nvSpPr>
        <p:spPr>
          <a:xfrm>
            <a:off x="6291072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11000232" y="3986784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35" name="Image 3" descr="C:\Users\Suhas\AppData\Local\Temp\claude\C--Users-Suhas-Documents-Codex-2026-06-17-files-mentioned-by-the-user-codex-gxp-training-bot\c7b338ea-8bdb-4d3c-b965-6876669ca506\scratchpad\unpacked_orig\ppt\media\imag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2886" y="4099438"/>
            <a:ext cx="177028" cy="17702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748272" y="398678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AI Quiz Draft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6291072" y="4462272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(Llama 3.1 8B) via an OpenAI-compatible client, run through Celery.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291072" y="4846320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so a slow LLM call never blocks a request; retries + offline fallback keep demos network-independent.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6291072" y="5230368"/>
            <a:ext cx="51114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chunk, sends the chunk text + role name in a prompt asking for strict JSON questions; retries 3x with backoff on failure, then falls back to a deterministic generator. Every question is tagged with its generation_source so it's provable later.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Deep-Dive (2/2) — Review to Retraining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49047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76672" y="1472184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8" name="Image 0" descr="C:\Users\Suhas\AppData\Local\Temp\claude\C--Users-Suhas-Documents-Codex-2026-06-17-files-mentioned-by-the-user-codex-gxp-training-bot\c7b338ea-8bdb-4d3c-b965-6876669ca506\scratchpad\unpacked_orig\ppt\media\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326" y="1584838"/>
            <a:ext cx="177028" cy="1770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147218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SME / QA Review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7512" y="1947672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custom approve/reject actions + password re-entry (e-signature).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7512" y="2331720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the approval to the reviewer's authenticated identity — 21 CFR Part 11-style.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7512" y="2715768"/>
            <a:ext cx="51114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sees the draft with its confidence score and NVIDIA NIM/offline badge, clicks Approve/Reject; a modal asks them to re-type their password; the backend re-checks it before flipping status and logging e_signature: true.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91072" y="149047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2"/>
          <p:cNvSpPr/>
          <p:nvPr/>
        </p:nvSpPr>
        <p:spPr>
          <a:xfrm>
            <a:off x="6291072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1000232" y="1472184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7" name="Image 1" descr="C:\Users\Suhas\AppData\Local\Temp\claude\C--Users-Suhas-Documents-Codex-2026-06-17-files-mentioned-by-the-user-codex-gxp-training-bot\c7b338ea-8bdb-4d3c-b965-6876669ca506\scratchpad\unpacked_orig\ppt\media\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886" y="1584838"/>
            <a:ext cx="177028" cy="1770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48272" y="147218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Publish to Learners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291072" y="1947672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Role-filtered queryset: status=approved AND job_role=X.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291072" y="2331720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never leave the server for that role — filtered at the query, not just hidden in the UI.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291072" y="2715768"/>
            <a:ext cx="51114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learner opens Learner Quiz, the frontend calls GET /api/quiz/questions/?job_role=X&amp;status=approved; a draft or rejected question is never even serialized into the response for that learner.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02920" y="38404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7512" y="400507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4" name="Text 20"/>
          <p:cNvSpPr/>
          <p:nvPr/>
        </p:nvSpPr>
        <p:spPr>
          <a:xfrm>
            <a:off x="667512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376672" y="3986784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6" name="Image 2" descr="C:\Users\Suhas\AppData\Local\Temp\claude\C--Users-Suhas-Documents-Codex-2026-06-17-files-mentioned-by-the-user-codex-gxp-training-bot\c7b338ea-8bdb-4d3c-b965-6876669ca506\scratchpad\unpacked_orig\ppt\media\image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326" y="4099438"/>
            <a:ext cx="177028" cy="17702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24712" y="398678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Learner Quiz + Grading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67512" y="4462272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quiz UI; grading happens server-side in QuizAttemptViewSet.submit().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67512" y="4846320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can't be trusted to self-report its own score.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67512" y="5230368"/>
            <a:ext cx="51114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answers each question client-side (local state only); on submit, the full answer array posts to the backend, which re-checks each selected option against Option.is_correct in the database and computes the score itself.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126480" y="38404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291072" y="400507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3" name="Text 28"/>
          <p:cNvSpPr/>
          <p:nvPr/>
        </p:nvSpPr>
        <p:spPr>
          <a:xfrm>
            <a:off x="6291072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11000232" y="3986784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35" name="Image 3" descr="C:\Users\Suhas\AppData\Local\Temp\claude\C--Users-Suhas-Documents-Codex-2026-06-17-files-mentioned-by-the-user-codex-gxp-training-bot\c7b338ea-8bdb-4d3c-b965-6876669ca506\scratchpad\unpacked_orig\ppt\media\imag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2886" y="4099438"/>
            <a:ext cx="177028" cy="17702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748272" y="398678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Adaptive Retraining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6291072" y="4462272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Leitner box scheduler, difficulty-weighted and confidence-filtered, called once per completed attempt.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291072" y="4846320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an order-dependent bug; hard questions count for more, ambiguous AI questions count for less; flags risk early.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6291072" y="5230368"/>
            <a:ext cx="51114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(weighted by difficulty, excluding low-confidence questions, &gt;=80%) advances the box; fail resets it. On next login, auto-assigned/ finds anything due, pre-creates a targeted attempt, and escalates after 3 failed cycles.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Technical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5" name="Image 0" descr="C:\Users\Suhas\AppData\Local\Temp\claude\C--Users-Suhas-Documents-Codex-2026-06-17-files-mentioned-by-the-user-codex-gxp-training-bot\c7b338ea-8bdb-4d3c-b965-6876669ca506\scratchpad\unpacked_orig\ppt\media\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9961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auth over session auth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88720" y="167335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for a decoupled SPA — avoids CSRF-cookie plumbing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1284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9" name="Image 1" descr="C:\Users\Suhas\AppData\Local\Temp\claude\C--Users-Suhas-Documents-Codex-2026-06-17-files-mentioned-by-the-user-codex-gxp-training-bot\c7b338ea-8bdb-4d3c-b965-6876669ca506\scratchpad\unpacked_orig\ppt\media\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340864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18541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404, not 403, for a stranger's quiz attempt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88720" y="2514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403 would confirm the record exists — a 404 doesn't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54096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3" name="Image 2" descr="C:\Users\Suhas\AppData\Local\Temp\claude\C--Users-Suhas-Documents-Codex-2026-06-17-files-mentioned-by-the-user-codex-gxp-training-bot\c7b338ea-8bdb-4d3c-b965-6876669ca506\scratchpad\unpacked_orig\ppt\media\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18211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0266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signature = question + correct answer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88720" y="335584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alone gave false positives across different facts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7" name="Image 3" descr="C:\Users\Suhas\AppData\Local\Temp\claude\C--Users-Suhas-Documents-Codex-2026-06-17-files-mentioned-by-the-user-codex-gxp-training-bot\c7b338ea-8bdb-4d3c-b965-6876669ca506\scratchpad\unpacked_orig\ppt\media\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02336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8679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Heading-aware chunking over embeddings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88720" y="419709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Literature-backed — not a shortcut (see Literature Survey)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73659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1" name="Image 4" descr="C:\Users\Suhas\AppData\Local\Temp\claude\C--Users-Suhas-Documents-Codex-2026-06-17-files-mentioned-by-the-user-codex-gxp-training-bot\c7b338ea-8bdb-4d3c-b965-6876669ca506\scratchpad\unpacked_orig\ppt\media\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864608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7091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Leitner scheduler over Bayesian/Deep Knowledge Tracing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188720" y="50383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data scale we actually have — evidence-based, not guessed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8640" y="55778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5" name="Image 5" descr="C:\Users\Suhas\AppData\Local\Temp\claude\C--Users-Suhas-Documents-Codex-2026-06-17-files-mentioned-by-the-user-codex-gxp-training-bot\c7b338ea-8bdb-4d3c-b965-6876669ca506\scratchpad\unpacked_orig\ppt\media\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705856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88720" y="555040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adaptive-retraining once per attempt, not once per answer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1188720" y="58795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real bug: the last question graded was silently overriding an otherwise-strong attempt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3060" y="1664208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6" name="Image 0" descr="C:\Users\Suhas\AppData\Local\Temp\claude\C--Users-Suhas-Documents-Codex-2026-06-17-files-mentioned-by-the-user-codex-gxp-training-bot\c7b338ea-8bdb-4d3c-b965-6876669ca506\scratchpad\unpacked_orig\ppt\media\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878" y="1805026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28163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463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1980" y="1664208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1" name="Image 1" descr="C:\Users\Suhas\AppData\Local\Temp\claude\C--Users-Suhas-Documents-Codex-2026-06-17-files-mentioned-by-the-user-codex-gxp-training-bot\c7b338ea-8bdb-4d3c-b965-6876669ca506\scratchpad\unpacked_orig\ppt\media\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798" y="1805026"/>
            <a:ext cx="221285" cy="2212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474720" y="28163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Sources Cited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463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00900" y="1664208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6" name="Image 2" descr="C:\Users\Suhas\AppData\Local\Temp\claude\C--Users-Suhas-Documents-Codex-2026-06-17-files-mentioned-by-the-user-codex-gxp-training-bot\c7b338ea-8bdb-4d3c-b965-6876669ca506\scratchpad\unpacked_orig\ppt\media\image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718" y="1805026"/>
            <a:ext cx="221285" cy="2212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263640" y="28163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Maintained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15400" y="1463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9820" y="1664208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1" name="Image 3" descr="C:\Users\Suhas\AppData\Local\Temp\claude\C--Users-Suhas-Documents-Codex-2026-06-17-files-mentioned-by-the-user-codex-gxp-training-bot\c7b338ea-8bdb-4d3c-b965-6876669ca506\scratchpad\unpacked_orig\ppt\media\image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0638" y="1805026"/>
            <a:ext cx="221285" cy="2212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052560" y="28163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Found &amp; Fixed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52044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3749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Live, Not Just Claimed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68680" y="42062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upload SOP → AI draft → e-signed approval → scored quiz with explanations → grounded chatbot answer → audit-log export — every step confirmed working in a real browser session, not just by automated tests.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those five bugs were caught during a follow-up audit: 18 “AI-drafted” questions had silently bypassed the real NVIDIA NIM pipeline, the Dashboard's workflow diagram showed static labels instead of live counts, and adaptive retraining scored per-answer instead of per-attempt, letting the last question graded override a strong quiz. All three were found and fixed by testing the real UI, not by trusting the code — and retraining now shows a measured +3% average score improvement across repeat attempts.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Walkthrough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581912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8" name="Image 0" descr="C:\Users\Suhas\AppData\Local\Temp\claude\C--Users-Suhas-Documents-Codex-2026-06-17-files-mentioned-by-the-user-codex-gxp-training-bot\c7b338ea-8bdb-4d3c-b965-6876669ca506\scratchpad\unpacked_orig\ppt\media\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534" y="1697126"/>
            <a:ext cx="181051" cy="1810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10312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as Admin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" y="269748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dashboard data, not a mockup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64992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872" y="160020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0"/>
          <p:cNvSpPr/>
          <p:nvPr/>
        </p:nvSpPr>
        <p:spPr>
          <a:xfrm>
            <a:off x="3547872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76672" y="1581912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5" name="Image 1" descr="C:\Users\Suhas\AppData\Local\Temp\claude\C--Users-Suhas-Documents-Codex-2026-06-17-files-mentioned-by-the-user-codex-gxp-training-bot\c7b338ea-8bdb-4d3c-b965-6876669ca506\scratchpad\unpacked_orig\ppt\media\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886" y="1697126"/>
            <a:ext cx="181051" cy="1810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9584" y="210312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 Real SOP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529584" y="269748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chunk count on success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81344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64224" y="160020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6"/>
          <p:cNvSpPr/>
          <p:nvPr/>
        </p:nvSpPr>
        <p:spPr>
          <a:xfrm>
            <a:off x="636422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193024" y="1581912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2" name="Image 2" descr="C:\Users\Suhas\AppData\Local\Temp\claude\C--Users-Suhas-Documents-Codex-2026-06-17-files-mentioned-by-the-user-codex-gxp-training-bot\c7b338ea-8bdb-4d3c-b965-6876669ca506\scratchpad\unpacked_orig\ppt\media\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238" y="1697126"/>
            <a:ext cx="181051" cy="18105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45936" y="210312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a Quiz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345936" y="269748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badge + confidence score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8997696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80576" y="160020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7" name="Text 22"/>
          <p:cNvSpPr/>
          <p:nvPr/>
        </p:nvSpPr>
        <p:spPr>
          <a:xfrm>
            <a:off x="918057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11009376" y="1581912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9" name="Image 3" descr="C:\Users\Suhas\AppData\Local\Temp\claude\C--Users-Suhas-Documents-Codex-2026-06-17-files-mentioned-by-the-user-codex-gxp-training-bot\c7b338ea-8bdb-4d3c-b965-6876669ca506\scratchpad\unpacked_orig\ppt\media\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4590" y="1697126"/>
            <a:ext cx="181051" cy="18105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62288" y="210312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with E-Signature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162288" y="269748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Password-confirmed approval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48640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4" name="Text 28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2560320" y="3913632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36" name="Image 4" descr="C:\Users\Suhas\AppData\Local\Temp\claude\C--Users-Suhas-Documents-Codex-2026-06-17-files-mentioned-by-the-user-codex-gxp-training-bot\c7b338ea-8bdb-4d3c-b965-6876669ca506\scratchpad\unpacked_orig\ppt\media\image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5534" y="4028846"/>
            <a:ext cx="181051" cy="18105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13232" y="443484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 Takes the Quiz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713232" y="502920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 wrong — on purpose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3364992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3547872" y="393192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1" name="Text 34"/>
          <p:cNvSpPr/>
          <p:nvPr/>
        </p:nvSpPr>
        <p:spPr>
          <a:xfrm>
            <a:off x="3547872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5376672" y="3913632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43" name="Image 5" descr="C:\Users\Suhas\AppData\Local\Temp\claude\C--Users-Suhas-Documents-Codex-2026-06-17-files-mentioned-by-the-user-codex-gxp-training-bot\c7b338ea-8bdb-4d3c-b965-6876669ca506\scratchpad\unpacked_orig\ppt\media\imag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1886" y="4028846"/>
            <a:ext cx="181051" cy="181051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529584" y="443484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Explanation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3529584" y="502920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Wrong-answer reasoning + weak topics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6181344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6364224" y="393192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8" name="Text 40"/>
          <p:cNvSpPr/>
          <p:nvPr/>
        </p:nvSpPr>
        <p:spPr>
          <a:xfrm>
            <a:off x="6364224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8193024" y="3913632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50" name="Image 6" descr="C:\Users\Suhas\AppData\Local\Temp\claude\C--Users-Suhas-Documents-Codex-2026-06-17-files-mentioned-by-the-user-codex-gxp-training-bot\c7b338ea-8bdb-4d3c-b965-6876669ca506\scratchpad\unpacked_orig\ppt\media\image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8238" y="4028846"/>
            <a:ext cx="181051" cy="181051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345936" y="443484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SOP Chatbot</a:t>
            </a:r>
            <a:endParaRPr lang="en-US" sz="1150" dirty="0"/>
          </a:p>
        </p:txBody>
      </p:sp>
      <p:sp>
        <p:nvSpPr>
          <p:cNvPr id="52" name="Text 43"/>
          <p:cNvSpPr/>
          <p:nvPr/>
        </p:nvSpPr>
        <p:spPr>
          <a:xfrm>
            <a:off x="6345936" y="502920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answer, cited section</a:t>
            </a:r>
            <a:endParaRPr lang="en-US" sz="950" dirty="0"/>
          </a:p>
        </p:txBody>
      </p:sp>
      <p:sp>
        <p:nvSpPr>
          <p:cNvPr id="53" name="Shape 44"/>
          <p:cNvSpPr/>
          <p:nvPr/>
        </p:nvSpPr>
        <p:spPr>
          <a:xfrm>
            <a:off x="8997696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9180576" y="393192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5" name="Text 46"/>
          <p:cNvSpPr/>
          <p:nvPr/>
        </p:nvSpPr>
        <p:spPr>
          <a:xfrm>
            <a:off x="9180576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11009376" y="3913632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57" name="Image 7" descr="C:\Users\Suhas\AppData\Local\Temp\claude\C--Users-Suhas-Documents-Codex-2026-06-17-files-mentioned-by-the-user-codex-gxp-training-bot\c7b338ea-8bdb-4d3c-b965-6876669ca506\scratchpad\unpacked_orig\ppt\media\image2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4590" y="4028846"/>
            <a:ext cx="181051" cy="181051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9162288" y="443484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the Audit Log</a:t>
            </a:r>
            <a:endParaRPr lang="en-US" sz="1150" dirty="0"/>
          </a:p>
        </p:txBody>
      </p:sp>
      <p:sp>
        <p:nvSpPr>
          <p:cNvPr id="59" name="Text 49"/>
          <p:cNvSpPr/>
          <p:nvPr/>
        </p:nvSpPr>
        <p:spPr>
          <a:xfrm>
            <a:off x="9162288" y="502920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CSV download</a:t>
            </a:r>
            <a:endParaRPr lang="en-US" sz="950" dirty="0"/>
          </a:p>
        </p:txBody>
      </p:sp>
      <p:sp>
        <p:nvSpPr>
          <p:cNvPr id="60" name="Text 5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ORIGINAL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Features Added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6" name="Image 0" descr="C:\Users\Suhas\AppData\Local\Temp\claude\C--Users-Suhas-Documents-Codex-2026-06-17-files-mentioned-by-the-user-codex-gxp-training-bot\c7b338ea-8bdb-4d3c-b965-6876669ca506\scratchpad\unpacked_orig\ppt\media\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46504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16712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 Signatures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65176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e-signature on approve/reject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64992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61848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1" name="Image 1" descr="C:\Users\Suhas\AppData\Local\Temp\claude\C--Users-Suhas-Documents-Codex-2026-06-17-files-mentioned-by-the-user-codex-gxp-training-bot\c7b338ea-8bdb-4d3c-b965-6876669ca506\scratchpad\unpacked_orig\ppt\media\imag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174650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9584" y="216712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Confidence Scoring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29584" y="265176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0.0–1.0 score per question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81344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82512" y="161848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6" name="Image 2" descr="C:\Users\Suhas\AppData\Local\Temp\claude\C--Users-Suhas-Documents-Codex-2026-06-17-files-mentioned-by-the-user-codex-gxp-training-bot\c7b338ea-8bdb-4d3c-b965-6876669ca506\scratchpad\unpacked_orig\ppt\media\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74650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216712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Validation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45936" y="265176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File-type allowlist + 20MB size cap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97696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98864" y="161848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1" name="Image 3" descr="C:\Users\Suhas\AppData\Local\Temp\claude\C--Users-Suhas-Documents-Codex-2026-06-17-files-mentioned-by-the-user-codex-gxp-training-bot\c7b338ea-8bdb-4d3c-b965-6876669ca506\scratchpad\unpacked_orig\ppt\media\image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74650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2288" y="216712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 Retry With Backoff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62288" y="265176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before falling back offline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395020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6" name="Image 4" descr="C:\Users\Suhas\AppData\Local\Temp\claude\C--Users-Suhas-Documents-Codex-2026-06-17-files-mentioned-by-the-user-codex-gxp-training-bot\c7b338ea-8bdb-4d3c-b965-6876669ca506\scratchpad\unpacked_orig\ppt\media\image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078224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" y="449884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Audit-Log CSV Export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13232" y="498348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Inspector-ready compliance export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64992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66160" y="395020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31" name="Image 5" descr="C:\Users\Suhas\AppData\Local\Temp\claude\C--Users-Suhas-Documents-Codex-2026-06-17-files-mentioned-by-the-user-codex-gxp-training-bot\c7b338ea-8bdb-4d3c-b965-6876669ca506\scratchpad\unpacked_orig\ppt\media\imag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4176" y="4078224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9584" y="449884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Retraining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29584" y="498348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Difficulty-weighted, confidence-filtered Leitner scheduler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81344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82512" y="395020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36" name="Image 6" descr="C:\Users\Suhas\AppData\Local\Temp\claude\C--Users-Suhas-Documents-Codex-2026-06-17-files-mentioned-by-the-user-codex-gxp-training-bot\c7b338ea-8bdb-4d3c-b965-6876669ca506\scratchpad\unpacked_orig\ppt\media\image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4078224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45936" y="449884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RAG-Based SOP Chatbot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345936" y="498348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Q&amp;A grounded in SOP chunks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997696" y="37490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198864" y="395020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41" name="Image 7" descr="C:\Users\Suhas\AppData\Local\Temp\claude\C--Users-Suhas-Documents-Codex-2026-06-17-files-mentioned-by-the-user-codex-gxp-training-bot\c7b338ea-8bdb-4d3c-b965-6876669ca506\scratchpad\unpacked_orig\ppt\media\image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4078224"/>
            <a:ext cx="201168" cy="20116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62288" y="449884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Retraining Visibility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162288" y="4983480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list of learners stuck in a retraining loop, for QA follow-up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5" name="Image 0" descr="C:\Users\Suhas\AppData\Local\Temp\claude\C--Users-Suhas-Documents-Codex-2026-06-17-files-mentioned-by-the-user-codex-gxp-training-bot\c7b338ea-8bdb-4d3c-b965-6876669ca506\scratchpad\unpacked_orig\ppt\media\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1649578"/>
            <a:ext cx="221285" cy="2212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904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Concept-Clustering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828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LECTOR-style: treat related weak topics as reinforcing one another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9" name="Image 1" descr="C:\Users\Suhas\AppData\Local\Temp\claude\C--Users-Suhas-Documents-Codex-2026-06-17-files-mentioned-by-the-user-codex-gxp-training-bot\c7b338ea-8bdb-4d3c-b965-6876669ca506\scratchpad\unpacked_orig\ppt\media\image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2563978"/>
            <a:ext cx="221285" cy="2212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4048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Chunking at Scale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27432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embeddings as the primary strategy, not just the fallback, if corpus size ever favors 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3" name="Image 2" descr="C:\Users\Suhas\AppData\Local\Temp\claude\C--Users-Suhas-Documents-Codex-2026-06-17-files-mentioned-by-the-user-codex-gxp-training-bot\c7b338ea-8bdb-4d3c-b965-6876669ca506\scratchpad\unpacked_orig\ppt\media\image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8" y="3478378"/>
            <a:ext cx="221285" cy="2212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3192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Confidence Threshold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3657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0.5 trust cutoff from labeled review outcomes instead of a fixed constant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7" name="Image 3" descr="C:\Users\Suhas\AppData\Local\Temp\claude\C--Users-Suhas-Documents-Codex-2026-06-17-files-mentioned-by-the-user-codex-gxp-training-bot\c7b338ea-8bdb-4d3c-b965-6876669ca506\scratchpad\unpacked_orig\ppt\media\image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8" y="4392778"/>
            <a:ext cx="221285" cy="22128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2336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Test Suite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4572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Testing Library — backend already has 65 tests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1" name="Image 4" descr="C:\Users\Suhas\AppData\Local\Temp\claude\C--Users-Suhas-Documents-Codex-2026-06-17-files-mentioned-by-the-user-codex-gxp-training-bot\c7b338ea-8bdb-4d3c-b965-6876669ca506\scratchpad\unpacked_orig\ppt\media\image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458" y="5307178"/>
            <a:ext cx="221285" cy="22128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51480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SSO + Multi-Tenancy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234440" y="54864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identity, multiple organizations on one deployment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0505" y="1371600"/>
            <a:ext cx="1371600" cy="13716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3" name="Image 0" descr="C:\Users\Suhas\AppData\Local\Temp\claude\C--Users-Suhas-Documents-Codex-2026-06-17-files-mentioned-by-the-user-codex-gxp-training-bot\c7b338ea-8bdb-4d3c-b965-6876669ca506\scratchpad\unpacked_orig\ppt\media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553" y="175564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01752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39105" y="434340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7" name="Image 1" descr="C:\Users\Suhas\AppData\Local\Temp\claude\C--Users-Suhas-Documents-Codex-2026-06-17-files-mentioned-by-the-user-codex-gxp-training-bot\c7b338ea-8bdb-4d3c-b965-6876669ca506\scratchpad\unpacked_orig\ppt\media\image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121" y="44714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48920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github.com/Kurapati-Sai-Suhas/sop-quiz-pilot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Training Bot · PS053 · NVIDIA GenAI Bootcamp Review-1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2231</Words>
  <Application>Microsoft Office PowerPoint</Application>
  <PresentationFormat>Widescreen</PresentationFormat>
  <Paragraphs>286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Suhas Kurapati</cp:lastModifiedBy>
  <cp:revision>2</cp:revision>
  <dcterms:created xsi:type="dcterms:W3CDTF">2026-07-22T03:07:10Z</dcterms:created>
  <dcterms:modified xsi:type="dcterms:W3CDTF">2026-07-22T03:40:26Z</dcterms:modified>
</cp:coreProperties>
</file>