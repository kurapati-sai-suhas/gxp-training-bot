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2263A"/>
                </a:solidFill>
                <a:latin typeface="Segoe UI Semibold"/>
              </a:rPr>
              <a:t>Learning gain — both weak sections</a:t>
            </a:r>
          </a:p>
        </c:rich>
      </c:tx>
      <c:layout/>
      <c:overlay val="0"/>
    </c:title>
    <c:autoTitleDeleted val="0"/>
    <c:plotArea>
      <c:barChart>
        <c:barDir val="col"/>
        <c:grouping val="clustered"/>
        <c:ser>
          <c:idx val="0"/>
          <c:order val="0"/>
          <c:tx>
            <c:strRef>
              <c:f>Sheet1!$B$1</c:f>
              <c:strCache>
                <c:ptCount val="1"/>
                <c:pt idx="0">
                  <c:v>Section accuracy (%)</c:v>
                </c:pt>
              </c:strCache>
            </c:strRef>
          </c:tx>
          <c:dPt>
            <c:idx val="0"/>
            <c:spPr>
              <a:solidFill>
                <a:srgbClr val="B8C7CC"/>
              </a:solidFill>
            </c:spPr>
          </c:dPt>
          <c:dPt>
            <c:idx val="1"/>
            <c:spPr>
              <a:solidFill>
                <a:srgbClr val="0E6E6E"/>
              </a:solidFill>
            </c:spPr>
          </c:dPt>
          <c:cat>
            <c:strRef>
              <c:f>Sheet1!$A$2:$A$3</c:f>
              <c:strCache>
                <c:ptCount val="2"/>
                <c:pt idx="0">
                  <c:v>Before retraining</c:v>
                </c:pt>
                <c:pt idx="1">
                  <c:v>After retraining</c:v>
                </c:pt>
              </c:strCache>
            </c:strRef>
          </c:cat>
          <c:val>
            <c:numRef>
              <c:f>Sheet1!$B$2:$B$3</c:f>
              <c:numCache>
                <c:formatCode>General</c:formatCode>
                <c:ptCount val="2"/>
                <c:pt idx="0">
                  <c:v>50.0</c:v>
                </c:pt>
                <c:pt idx="1">
                  <c:v>100.0</c:v>
                </c:pt>
              </c:numCache>
            </c:numRef>
          </c:val>
        </c:ser>
        <c:dLbls>
          <c:txPr>
            <a:bodyPr/>
            <a:lstStyle/>
            <a:p>
              <a:pPr>
                <a:defRPr sz="1300" b="1">
                  <a:solidFill>
                    <a:srgbClr val="12263A"/>
                  </a:solidFill>
                  <a:latin typeface="Segoe UI Semibold"/>
                </a:defRPr>
              </a:pPr>
            </a:p>
          </c:txPr>
          <c:showLegendKey val="0"/>
          <c:showVal val="1"/>
          <c:showCatName val="0"/>
          <c:showSerName val="0"/>
          <c:showPercent val="0"/>
          <c:showBubbleSize val="0"/>
          <c:showLeaderLines val="1"/>
        </c:dLbls>
        <c:gapWidth val="12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12263A"/>
                </a:solidFill>
              </a:defRPr>
            </a:pPr>
          </a:p>
        </c:txPr>
        <c:crossAx val="-2113994440"/>
        <c:crosses val="autoZero"/>
        <c:auto val="1"/>
        <c:lblAlgn val="ctr"/>
        <c:lblOffset val="100"/>
        <c:noMultiLvlLbl val="0"/>
      </c:catAx>
      <c:valAx>
        <c:axId val="-2113994440"/>
        <c:scaling>
          <c:max val="110.0"/>
          <c:min val="0.0"/>
        </c:scaling>
        <c:delete val="0"/>
        <c:axPos val="l"/>
        <c:majorGridlines>
          <c:spPr>
            <a:ln w="9525">
              <a:solidFill>
                <a:srgbClr val="E1E8EA"/>
              </a:solidFill>
            </a:ln>
          </c:spPr>
        </c:majorGridlines>
        <c:majorTickMark val="out"/>
        <c:minorTickMark val="none"/>
        <c:tickLblPos val="nextTo"/>
        <c:spPr>
          <a:ln>
            <a:solidFill>
              <a:srgbClr val="C8D3D6"/>
            </a:solidFill>
          </a:ln>
        </c:spPr>
        <c:txPr>
          <a:bodyPr/>
          <a:lstStyle/>
          <a:p>
            <a:pPr>
              <a:defRPr sz="1000">
                <a:solidFill>
                  <a:srgbClr val="5A6B73"/>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Open with the one sentence: this system turns controlled SOP content into SME-approved assessments, then uses each learner's question-level performance to identify weak source sections and aim future training at those weaknesses. Point at the strip: SOP, AI, SME, learner, adaptive training. Say the AI drafts and the human decides.</a:t>
            </a:r>
          </a:p>
          <a:p/>
          <a:p>
            <a:r>
              <a:t>TECHNICAL DETAIL</a:t>
            </a:r>
          </a:p>
          <a:p>
            <a:r>
              <a:t>The strip is the trust boundary as much as the data flow. Content only moves past 'SME' once a qualified human has approved it under electronic signature.</a:t>
            </a:r>
          </a:p>
          <a:p/>
          <a:p>
            <a:r>
              <a:t>LIKELY EXAMINER QUESTION</a:t>
            </a:r>
          </a:p>
          <a:p>
            <a:r>
              <a:t>What exactly is 'GxP' here?</a:t>
            </a:r>
          </a:p>
          <a:p/>
          <a:p>
            <a:r>
              <a:t>ONE-LINE ANSWER</a:t>
            </a:r>
          </a:p>
          <a:p>
            <a:r>
              <a:t>Good practice regulations for pharma manufacturing — my system is GxP-oriented in its controls, not a compliant validated system, and I'll be precise about that difference.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Frame the gap with a concrete example: if an operator scores 60% you know THEY struggled, you don't know WHAT they struggled with. So the next round of training repeats everything, including the material they already knew. Then read the boxed question aloud — that is the question the whole project answers.</a:t>
            </a:r>
          </a:p>
          <a:p/>
          <a:p>
            <a:r>
              <a:t>TECHNICAL DETAIL</a:t>
            </a:r>
          </a:p>
          <a:p>
            <a:r>
              <a:t>Three constraints pull against each other: automation wants the AI to act freely, regulation wants a human accountable for content, and personalisation wants per-learner divergence. The architecture is essentially the resolution of that three-way tension.</a:t>
            </a:r>
          </a:p>
          <a:p/>
          <a:p>
            <a:r>
              <a:t>LIKELY EXAMINER QUESTION</a:t>
            </a:r>
          </a:p>
          <a:p>
            <a:r>
              <a:t>Why not just let the LLM mark and adapt everything?</a:t>
            </a:r>
          </a:p>
          <a:p/>
          <a:p>
            <a:r>
              <a:t>ONE-LINE ANSWER</a:t>
            </a:r>
          </a:p>
          <a:p>
            <a:r>
              <a:t>Because nothing in the pipeline can verify the model's output is correct — the human gate is the only correctness control, so the LLM drafts and never decides.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Read the aim once, slowly — it is the sentence the examiners will judge the rest against. Then walk the six objectives left to right, top to bottom, spending one line each. Point out that objectives 1 to 4 build the content pipeline and 5 to 6 are the adaptive contribution.</a:t>
            </a:r>
          </a:p>
          <a:p/>
          <a:p>
            <a:r>
              <a:t>TECHNICAL DETAIL</a:t>
            </a:r>
          </a:p>
          <a:p>
            <a:r>
              <a:t>The objectives map directly onto the seven Django apps: sops covers 1 and 2, ai_engine covers 3, quiz covers 4, attempts covers 5 and 6, with accounts, analytics and audit supporting all of them.</a:t>
            </a:r>
          </a:p>
          <a:p/>
          <a:p>
            <a:r>
              <a:t>LIKELY EXAMINER QUESTION</a:t>
            </a:r>
          </a:p>
          <a:p>
            <a:r>
              <a:t>Which of these is your actual contribution rather than integration?</a:t>
            </a:r>
          </a:p>
          <a:p/>
          <a:p>
            <a:r>
              <a:t>ONE-LINE ANSWER</a:t>
            </a:r>
          </a:p>
          <a:p>
            <a:r>
              <a:t>Objectives 5 and 6 — the section-level adaptive model and its reconciliation with spaced repetition are the parts I designed rather than assembled.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Do not read the table. Say: the literature gave me three things — a way to model ability (Elo), a way to model forgetting (the DSR model behind FSRS), and a warning about AI-generated assessment quality. Then point only at the two rows that matter most: Pelánek, which I implemented directly, and Kıyak, which is why the SME gate is mandatory rather than optional.</a:t>
            </a:r>
          </a:p>
          <a:p/>
          <a:p>
            <a:r>
              <a:t>TECHNICAL DETAIL</a:t>
            </a:r>
          </a:p>
          <a:p>
            <a:r>
              <a:t>The Kıyak review reports error rates from 0.3% up to 45% across 71 studies, and concludes current evidence does not support unsupervised use in summative assessment. That single finding is the strongest justification for the human-in-the-loop design.</a:t>
            </a:r>
          </a:p>
          <a:p/>
          <a:p>
            <a:r>
              <a:t>LIKELY EXAMINER QUESTION</a:t>
            </a:r>
          </a:p>
          <a:p>
            <a:r>
              <a:t>Why did you reject Deep Knowledge Tracing?</a:t>
            </a:r>
          </a:p>
          <a:p/>
          <a:p>
            <a:r>
              <a:t>ONE-LINE ANSWER</a:t>
            </a:r>
          </a:p>
          <a:p>
            <a:r>
              <a:t>Data scale and auditability — DKT needs thousands of interactions per learner and returns a number I could not defend to an auditor.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Contrast the two columns quickly, then land on the blue bar — that is the actual architectural idea. Every generated question keeps a foreign key to the SOP chunk it came from, so when a learner answers, that answer is evidence about a specific passage of a specific procedure, not about the document as a whole.</a:t>
            </a:r>
          </a:p>
          <a:p/>
          <a:p>
            <a:r>
              <a:t>TECHNICAL DETAIL</a:t>
            </a:r>
          </a:p>
          <a:p>
            <a:r>
              <a:t>Question.source_chunk is the field the entire adaptive claim rests on. Without it, all you can compute is a percentage per document, which is what existing systems already do.</a:t>
            </a:r>
          </a:p>
          <a:p/>
          <a:p>
            <a:r>
              <a:t>LIKELY EXAMINER QUESTION</a:t>
            </a:r>
          </a:p>
          <a:p>
            <a:r>
              <a:t>Isn't per-section tracking just finer-grained scoring?</a:t>
            </a:r>
          </a:p>
          <a:p/>
          <a:p>
            <a:r>
              <a:t>ONE-LINE ANSWER</a:t>
            </a:r>
          </a:p>
          <a:p>
            <a:r>
              <a:t>It is finer-grained scoring plus a decision rule — the scoring identifies the section, the adaptive policy then removes strong sections from the next assessment entirely.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Walk the top lane left to right — that is the content pipeline, and note the SME box is a hard gate, nothing passes it without a human. Then drop to the learner, and show the split: two engines answer two different questions. Adaptive answers WHAT to train, FSRS answers WHEN. Finish on the feedback arrow — that is what makes it a loop rather than a report.</a:t>
            </a:r>
          </a:p>
          <a:p/>
          <a:p>
            <a:r>
              <a:t>TECHNICAL DETAIL</a:t>
            </a:r>
          </a:p>
          <a:p>
            <a:r>
              <a:t>Seven Django apps, React SPA, Postgres or SQLite, Redis and Celery for process isolation, NVIDIA NIM for inference. The two engines are deliberately separate modules, adaptive.py and fsrs.py, because they consume different signals.</a:t>
            </a:r>
          </a:p>
          <a:p/>
          <a:p>
            <a:r>
              <a:t>LIKELY EXAMINER QUESTION</a:t>
            </a:r>
          </a:p>
          <a:p>
            <a:r>
              <a:t>Why are adaptive selection and scheduling two boxes and not one?</a:t>
            </a:r>
          </a:p>
          <a:p/>
          <a:p>
            <a:r>
              <a:t>ONE-LINE ANSWER</a:t>
            </a:r>
          </a:p>
          <a:p>
            <a:r>
              <a:t>Because FSRS retrievability is 1.0 for every stability immediately after an assessment, so it mathematically cannot tell a just-failed section from a just-passed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Six stages, and the honest framing is that stages 1 to 4 are a content supply chain and stages 5 to 6 are the adaptive loop. Emphasise stage 4 is a gate, not a step — content cannot skip it. Emphasise stage 5 happens entirely server-side, because grading on the client would make every downstream number untrustworthy.</a:t>
            </a:r>
          </a:p>
          <a:p/>
          <a:p>
            <a:r>
              <a:t>TECHNICAL DETAIL</a:t>
            </a:r>
          </a:p>
          <a:p>
            <a:r>
              <a:t>Stage 3 has a three-retry policy with exponential backoff, then a deterministic offline generator whose correct answer is taken verbatim from the SOP text — lower quality, but it cannot hallucinate. Failures are classified into nine categories for the logs.</a:t>
            </a:r>
          </a:p>
          <a:p/>
          <a:p>
            <a:r>
              <a:t>LIKELY EXAMINER QUESTION</a:t>
            </a:r>
          </a:p>
          <a:p>
            <a:r>
              <a:t>What happens if NVIDIA NIM is unavailable during a training session?</a:t>
            </a:r>
          </a:p>
          <a:p/>
          <a:p>
            <a:r>
              <a:t>ONE-LINE ANSWER</a:t>
            </a:r>
          </a:p>
          <a:p>
            <a:r>
              <a:t>Generation degrades to the deterministic offline path and the questions are tagged so a reviewer can see which path produced them — the workflow never blocks.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Trace the chain quickly, then stop on the two panels — this pair is the most intellectually honest slide in the deck and examiners respond well to it. Say the left panel is what I built, the right panel is what I did not build and am not claiming.</a:t>
            </a:r>
          </a:p>
          <a:p/>
          <a:p>
            <a:r>
              <a:t>TECHNICAL DETAIL</a:t>
            </a:r>
          </a:p>
          <a:p>
            <a:r>
              <a:t>Deduplication is lexical, not semantic: answer similarity at or above 0.8 AND stem similarity at or above 0.4, on Jaccard over significant tokens. It catches rewording; it does not catch two questions that mean the same thing with no shared vocabulary.</a:t>
            </a:r>
          </a:p>
          <a:p/>
          <a:p>
            <a:r>
              <a:t>LIKELY EXAMINER QUESTION</a:t>
            </a:r>
          </a:p>
          <a:p>
            <a:r>
              <a:t>How do you know the AI-generated question is actually correct?</a:t>
            </a:r>
          </a:p>
          <a:p/>
          <a:p>
            <a:r>
              <a:t>ONE-LINE ANSWER</a:t>
            </a:r>
          </a:p>
          <a:p>
            <a:r>
              <a:t>I don't — provenance shows where it came from, and the SME is the only correctness control; entailment verification is on my roadmap.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Explain why a human gate is not bureaucracy here. Two reasons: regulatory — a qualified person must be accountable for what an operator is assessed on, and 'the model generated it' is not an answer an auditor accepts. And technical — the model has no ground truth, so the SME is the only correctness control in the pipeline. Then read the red bar honestly.</a:t>
            </a:r>
          </a:p>
          <a:p/>
          <a:p>
            <a:r>
              <a:t>TECHNICAL DETAIL</a:t>
            </a:r>
          </a:p>
          <a:p>
            <a:r>
              <a:t>The signature binds to canonical JSON — options ordered by id, keys sorted — so the hash is reproducible. This is why approved questions are immutable: an edit would silently invalidate the signature, so the system refuses the edit rather than tracking it.</a:t>
            </a:r>
          </a:p>
          <a:p/>
          <a:p>
            <a:r>
              <a:t>LIKELY EXAMINER QUESTION</a:t>
            </a:r>
          </a:p>
          <a:p>
            <a:r>
              <a:t>Is this system GxP compliant?</a:t>
            </a:r>
          </a:p>
          <a:p/>
          <a:p>
            <a:r>
              <a:t>ONE-LINE ANSWER</a:t>
            </a:r>
          </a:p>
          <a:p>
            <a:r>
              <a:t>No, and I wouldn't claim it — it's GxP-oriented with Part 11-style controls, and I can list exactly what's missing.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This is the slide to slow down on. Say: for each section I take that learner's answer history newest-first and compute an exponentially recency-weighted accuracy — an answer five back counts half as much. Then explain why: a flat lifetime average cannot represent CHANGE. A learner who went 0 out of 5 then 5 out of 5 has plainly improved, but lifetime says 50%, so the screen showed 'Recent 100%' next to a HIGH badge and contradicted itself. Weighted, they sit at 66.7% and move to MEDIUM.</a:t>
            </a:r>
          </a:p>
          <a:p/>
          <a:p>
            <a:r>
              <a:t>TECHNICAL DETAIL</a:t>
            </a:r>
          </a:p>
          <a:p>
            <a:r>
              <a:t>The evidence gate is deliberately asymmetric: strong performance on fewer than three answers is capped at MEDIUM and cannot exclude a section, but weak performance on a small sample still reads HIGH — because over-training costs a few questions and under-training costs you an unqualified operator.</a:t>
            </a:r>
          </a:p>
          <a:p/>
          <a:p>
            <a:r>
              <a:t>LIKELY EXAMINER QUESTION</a:t>
            </a:r>
          </a:p>
          <a:p>
            <a:r>
              <a:t>Where did 60, 80, 5 and 3 come from?</a:t>
            </a:r>
          </a:p>
          <a:p/>
          <a:p>
            <a:r>
              <a:t>ONE-LINE ANSWER</a:t>
            </a:r>
          </a:p>
          <a:p>
            <a:r>
              <a:t>They are documented chosen defaults, not fitted values — 80% matches the existing pass mark, and MIN_EVIDENCE is the first constant I would tune with real deployment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This is the viva slide. Say it exactly: the priority engine is rule-based over a recency-weighted statistic; two model-based components, Elo and FSRS, estimate parameters online from learner responses. It is adaptive; it is not machine learning, and the LLM has no vote in any adaptive decision. Then point at the black bar and let it sit for a second.</a:t>
            </a:r>
          </a:p>
          <a:p/>
          <a:p>
            <a:r>
              <a:t>TECHNICAL DETAIL</a:t>
            </a:r>
          </a:p>
          <a:p>
            <a:r>
              <a:t>What is estimated online: learner ability, section ability, question difficulty, and per-section FSRS stability and difficulty. What is fixed: the 60 and 80 thresholds, half-life 5, MIN_EVIDENCE 3, both Elo K-factors, and all 17 FSRS weights, which are published defaults fitted on roughly 220 million reviews — not fitted per user here.</a:t>
            </a:r>
          </a:p>
          <a:p/>
          <a:p>
            <a:r>
              <a:t>LIKELY EXAMINER QUESTION</a:t>
            </a:r>
          </a:p>
          <a:p>
            <a:r>
              <a:t>So are you using machine learning or not?</a:t>
            </a:r>
          </a:p>
          <a:p/>
          <a:p>
            <a:r>
              <a:t>ONE-LINE ANSWER</a:t>
            </a:r>
          </a:p>
          <a:p>
            <a:r>
              <a:t>Not in the trained-model sense — nothing is trained offline, no dataset, no loss function; what I have is online parameter estimation, which is a different and weaker claim.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Trace the loop once with your finger, naming each box. Then say the two panels underneath run alongside it, not inside it — Elo per answer, FSRS per section. Finish on the grey bar: that equation is the reason this is two engines and not one, and it is the single best technical point in the presentation.</a:t>
            </a:r>
          </a:p>
          <a:p/>
          <a:p>
            <a:r>
              <a:t>TECHNICAL DETAIL</a:t>
            </a:r>
          </a:p>
          <a:p>
            <a:r>
              <a:t>In the interface this produces two distinct counts: sections needing training, and sections available now. An earlier version reported only the first, so it recommended a section and then the quiz screen had nothing to offer. That was found during audit and there is now a regression test for it.</a:t>
            </a:r>
          </a:p>
          <a:p/>
          <a:p>
            <a:r>
              <a:t>LIKELY EXAMINER QUESTION</a:t>
            </a:r>
          </a:p>
          <a:p>
            <a:r>
              <a:t>Could you just use FSRS retrievability as the priority score?</a:t>
            </a:r>
          </a:p>
          <a:p/>
          <a:p>
            <a:r>
              <a:t>ONE-LINE ANSWER</a:t>
            </a:r>
          </a:p>
          <a:p>
            <a:r>
              <a:t>No — at zero elapsed time it returns 1.0 for everything, so it cannot distinguish a section you just failed from one you just passed.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Lead with the caveat, not the number — say this is a verified demonstration result from a controlled scenario, not a user study. Then give the number: both weak sections went from 50% to 100%, fifty percentage points, computed from stored answers by comparing the oldest half of the history against the newest half. And the selection result: six questions, not nine, because the strong section was excluded.</a:t>
            </a:r>
          </a:p>
          <a:p/>
          <a:p>
            <a:r>
              <a:t>TECHNICAL DETAIL</a:t>
            </a:r>
          </a:p>
          <a:p>
            <a:r>
              <a:t>The 87.9% adaptive versus 75% lifetime figure is worth pointing at — that gap IS the recency weighting recognising improvement. A flat average would still be dragging the early failures along.</a:t>
            </a:r>
          </a:p>
          <a:p/>
          <a:p>
            <a:r>
              <a:t>LIKELY EXAMINER QUESTION</a:t>
            </a:r>
          </a:p>
          <a:p>
            <a:r>
              <a:t>Is this statistically significant?</a:t>
            </a:r>
          </a:p>
          <a:p/>
          <a:p>
            <a:r>
              <a:t>ONE-LINE ANSWER</a:t>
            </a:r>
          </a:p>
          <a:p>
            <a:r>
              <a:t>No — it's a single controlled demonstration with one learner; establishing efficacy would need an A/B trial against non-adaptive retraining, which is a study, not a feature.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Don't read all ten controls. Pick three and say them well: grading is entirely server-side, the answer key never reaches the learner's browser and I verified that on the raw response body, and a completed attempt cannot be rewritten because the submission uses an atomic compare-and-set. Then the test count — but say what the tests ESTABLISH, not just how many.</a:t>
            </a:r>
          </a:p>
          <a:p/>
          <a:p>
            <a:r>
              <a:t>TECHNICAL DETAIL</a:t>
            </a:r>
          </a:p>
          <a:p>
            <a:r>
              <a:t>The duplicate-question control is recent and worth mentioning: submitting the same question five times used to create five answer rows, which was enough to satisfy the minimum-evidence gate with a single question and inflate that section's accuracy. It now returns 400 with zero writes.</a:t>
            </a:r>
          </a:p>
          <a:p/>
          <a:p>
            <a:r>
              <a:t>LIKELY EXAMINER QUESTION</a:t>
            </a:r>
          </a:p>
          <a:p>
            <a:r>
              <a:t>How do you know a learner cannot see the answers?</a:t>
            </a:r>
          </a:p>
          <a:p/>
          <a:p>
            <a:r>
              <a:t>ONE-LINE ANSWER</a:t>
            </a:r>
          </a:p>
          <a:p>
            <a:r>
              <a:t>Different serializers by role — I can open the network tab and show you the raw payload has no is_correct field anywhere.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Volunteer limitation 1 before anyone asks — it is the strongest thing you can do here. Say it precisely: the exact offered question set is not persisted server-side, so validation confirms a submitted question belongs to the permitted SOP, role and approved pool, but a modified client could submit a different eligible question or omit questions. It is bounded and audited. The fix is one join table, and I did not ship a migration on the highest-consequence code path two days before this review.</a:t>
            </a:r>
          </a:p>
          <a:p/>
          <a:p>
            <a:r>
              <a:t>TECHNICAL DETAIL</a:t>
            </a:r>
          </a:p>
          <a:p>
            <a:r>
              <a:t>The ordering argument is the substance: integrity items first because they affect whether the training record can be trusted; capability items second; agentic orchestration last precisely because it is the most fashionable and least load-bearing.</a:t>
            </a:r>
          </a:p>
          <a:p/>
          <a:p>
            <a:r>
              <a:t>LIKELY EXAMINER QUESTION</a:t>
            </a:r>
          </a:p>
          <a:p>
            <a:r>
              <a:t>What is the single biggest weakness of your system?</a:t>
            </a:r>
          </a:p>
          <a:p/>
          <a:p>
            <a:r>
              <a:t>ONE-LINE ANSWER</a:t>
            </a:r>
          </a:p>
          <a:p>
            <a:r>
              <a:t>The adaptive decision is computed and validated server-side but not yet enforced, because the offered question set isn't pinned — and I know exactly how to fix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Take the seven points quickly — the examiners have seen them all by now. Then pause before the black bar and deliver the four lines slowly, as one sentence each. That is your closing statement and it should be the last thing they hear.</a:t>
            </a:r>
          </a:p>
          <a:p/>
          <a:p>
            <a:r>
              <a:t>TECHNICAL DETAIL</a:t>
            </a:r>
          </a:p>
          <a:p>
            <a:r>
              <a:t>The four lines are also the trust architecture in order: generation is automated, control is human, adaptation is data-driven, timing is model-driven. Each responsibility sits with whichever component is actually competent to hold it.</a:t>
            </a:r>
          </a:p>
          <a:p/>
          <a:p>
            <a:r>
              <a:t>LIKELY EXAMINER QUESTION</a:t>
            </a:r>
          </a:p>
          <a:p>
            <a:r>
              <a:t>If you had to defend one design decision, which would it be?</a:t>
            </a:r>
          </a:p>
          <a:p/>
          <a:p>
            <a:r>
              <a:t>ONE-LINE ANSWER</a:t>
            </a:r>
          </a:p>
          <a:p>
            <a:r>
              <a:t>Keeping the LLM out of every adaptive and compliance decision — it drafts content, and nothing else.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Only bring this slide up if asked. If you do, mention that references 3 and 6 are the two actually implemented in code — Elo and the DSR memory model — and reference 7 is the evidence base for why SME review is mandatory.</a:t>
            </a:r>
          </a:p>
          <a:p/>
          <a:p>
            <a:r>
              <a:t>TECHNICAL DETAIL</a:t>
            </a:r>
          </a:p>
          <a:p>
            <a:r>
              <a:t>Reference 7 is a systematic review of 71 studies across 24 countries reporting error rates from 0.3% up to 45% in AI-generated MCQs, concluding that current evidence does not support unsupervised use in summative assessment.</a:t>
            </a:r>
          </a:p>
          <a:p/>
          <a:p>
            <a:r>
              <a:t>LIKELY EXAMINER QUESTION</a:t>
            </a:r>
          </a:p>
          <a:p>
            <a:r>
              <a:t>Which of these did you actually implement?</a:t>
            </a:r>
          </a:p>
          <a:p/>
          <a:p>
            <a:r>
              <a:t>ONE-LINE ANSWER</a:t>
            </a:r>
          </a:p>
          <a:p>
            <a:r>
              <a:t>Pelánek's Elo formulation and the DSR memory model behind FSRS — the rest informed design decisions, including the ones I decided against.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2651760"/>
          </a:xfrm>
          <a:prstGeom prst="roundRect">
            <a:avLst>
              <a:gd name="adj" fmla="val 3000"/>
            </a:avLst>
          </a:prstGeom>
          <a:solidFill>
            <a:srgbClr val="F7FAFA"/>
          </a:solidFill>
          <a:ln w="12700">
            <a:solidFill>
              <a:srgbClr val="F7FA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868680"/>
            <a:ext cx="1371600" cy="4572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15568"/>
            <a:ext cx="10058400" cy="822960"/>
          </a:xfrm>
          <a:prstGeom prst="rect">
            <a:avLst/>
          </a:prstGeom>
          <a:noFill/>
        </p:spPr>
        <p:txBody>
          <a:bodyPr wrap="square" lIns="0" rIns="0" tIns="0" bIns="0" anchor="t">
            <a:spAutoFit/>
          </a:bodyPr>
          <a:lstStyle/>
          <a:p>
            <a:pPr algn="l">
              <a:lnSpc>
                <a:spcPct val="100000"/>
              </a:lnSpc>
            </a:pPr>
            <a:r>
              <a:rPr sz="4400" b="1" i="0">
                <a:solidFill>
                  <a:srgbClr val="12263A"/>
                </a:solidFill>
                <a:latin typeface="Segoe UI Semibold"/>
              </a:rPr>
              <a:t>GxP Training Bot</a:t>
            </a:r>
          </a:p>
        </p:txBody>
      </p:sp>
      <p:sp>
        <p:nvSpPr>
          <p:cNvPr id="5" name="TextBox 4"/>
          <p:cNvSpPr txBox="1"/>
          <p:nvPr/>
        </p:nvSpPr>
        <p:spPr>
          <a:xfrm>
            <a:off x="640080" y="1847088"/>
            <a:ext cx="9692640" cy="457200"/>
          </a:xfrm>
          <a:prstGeom prst="rect">
            <a:avLst/>
          </a:prstGeom>
          <a:noFill/>
        </p:spPr>
        <p:txBody>
          <a:bodyPr wrap="square" lIns="0" rIns="0" tIns="0" bIns="0" anchor="t">
            <a:spAutoFit/>
          </a:bodyPr>
          <a:lstStyle/>
          <a:p>
            <a:pPr algn="l">
              <a:lnSpc>
                <a:spcPct val="100000"/>
              </a:lnSpc>
            </a:pPr>
            <a:r>
              <a:rPr sz="1600" b="0" i="0">
                <a:solidFill>
                  <a:srgbClr val="1F5673"/>
                </a:solidFill>
                <a:latin typeface="Segoe UI"/>
              </a:rPr>
              <a:t>AI-Assisted Adaptive Training and Assessment Platform for Pharmaceutical SOPs</a:t>
            </a:r>
          </a:p>
        </p:txBody>
      </p:sp>
      <p:sp>
        <p:nvSpPr>
          <p:cNvPr id="6" name="Rounded Rectangle 5"/>
          <p:cNvSpPr/>
          <p:nvPr/>
        </p:nvSpPr>
        <p:spPr>
          <a:xfrm>
            <a:off x="640080" y="3063240"/>
            <a:ext cx="1874519" cy="566928"/>
          </a:xfrm>
          <a:prstGeom prst="roundRect">
            <a:avLst>
              <a:gd name="adj" fmla="val 8000"/>
            </a:avLst>
          </a:prstGeom>
          <a:solidFill>
            <a:srgbClr val="FFFFFF"/>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200" b="1">
                <a:solidFill>
                  <a:srgbClr val="0E6E6E"/>
                </a:solidFill>
                <a:latin typeface="Segoe UI"/>
              </a:rPr>
              <a:t>SOP</a:t>
            </a:r>
          </a:p>
        </p:txBody>
      </p:sp>
      <p:cxnSp>
        <p:nvCxnSpPr>
          <p:cNvPr id="7" name="Connector 6"/>
          <p:cNvCxnSpPr/>
          <p:nvPr/>
        </p:nvCxnSpPr>
        <p:spPr>
          <a:xfrm>
            <a:off x="2569464" y="3346704"/>
            <a:ext cx="274320"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98648" y="3063240"/>
            <a:ext cx="1874519" cy="566928"/>
          </a:xfrm>
          <a:prstGeom prst="roundRect">
            <a:avLst>
              <a:gd name="adj" fmla="val 8000"/>
            </a:avLst>
          </a:prstGeom>
          <a:solidFill>
            <a:srgbClr val="FFFFFF"/>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200" b="1">
                <a:solidFill>
                  <a:srgbClr val="0E6E6E"/>
                </a:solidFill>
                <a:latin typeface="Segoe UI"/>
              </a:rPr>
              <a:t>AI</a:t>
            </a:r>
          </a:p>
        </p:txBody>
      </p:sp>
      <p:cxnSp>
        <p:nvCxnSpPr>
          <p:cNvPr id="9" name="Connector 8"/>
          <p:cNvCxnSpPr/>
          <p:nvPr/>
        </p:nvCxnSpPr>
        <p:spPr>
          <a:xfrm>
            <a:off x="4828031" y="3346704"/>
            <a:ext cx="274321"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57216" y="3063240"/>
            <a:ext cx="1874519" cy="566928"/>
          </a:xfrm>
          <a:prstGeom prst="roundRect">
            <a:avLst>
              <a:gd name="adj" fmla="val 8000"/>
            </a:avLst>
          </a:prstGeom>
          <a:solidFill>
            <a:srgbClr val="FFFFFF"/>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200" b="1">
                <a:solidFill>
                  <a:srgbClr val="0E6E6E"/>
                </a:solidFill>
                <a:latin typeface="Segoe UI"/>
              </a:rPr>
              <a:t>SME</a:t>
            </a:r>
          </a:p>
        </p:txBody>
      </p:sp>
      <p:cxnSp>
        <p:nvCxnSpPr>
          <p:cNvPr id="11" name="Connector 10"/>
          <p:cNvCxnSpPr/>
          <p:nvPr/>
        </p:nvCxnSpPr>
        <p:spPr>
          <a:xfrm>
            <a:off x="7086599" y="3346704"/>
            <a:ext cx="274320"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415783" y="3063240"/>
            <a:ext cx="1874519" cy="566928"/>
          </a:xfrm>
          <a:prstGeom prst="roundRect">
            <a:avLst>
              <a:gd name="adj" fmla="val 8000"/>
            </a:avLst>
          </a:prstGeom>
          <a:solidFill>
            <a:srgbClr val="FFFFFF"/>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200" b="1">
                <a:solidFill>
                  <a:srgbClr val="0E6E6E"/>
                </a:solidFill>
                <a:latin typeface="Segoe UI"/>
              </a:rPr>
              <a:t>Learner</a:t>
            </a:r>
          </a:p>
        </p:txBody>
      </p:sp>
      <p:cxnSp>
        <p:nvCxnSpPr>
          <p:cNvPr id="13" name="Connector 12"/>
          <p:cNvCxnSpPr/>
          <p:nvPr/>
        </p:nvCxnSpPr>
        <p:spPr>
          <a:xfrm>
            <a:off x="9345168" y="3346704"/>
            <a:ext cx="274319"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674351" y="3063240"/>
            <a:ext cx="1874519" cy="566928"/>
          </a:xfrm>
          <a:prstGeom prst="roundRect">
            <a:avLst>
              <a:gd name="adj" fmla="val 8000"/>
            </a:avLst>
          </a:prstGeom>
          <a:solidFill>
            <a:srgbClr val="FFFFFF"/>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200" b="1">
                <a:solidFill>
                  <a:srgbClr val="0E6E6E"/>
                </a:solidFill>
                <a:latin typeface="Segoe UI"/>
              </a:rPr>
              <a:t>Adaptive</a:t>
            </a:r>
          </a:p>
          <a:p>
            <a:pPr algn="ctr">
              <a:lnSpc>
                <a:spcPct val="92000"/>
              </a:lnSpc>
            </a:pPr>
            <a:r>
              <a:rPr sz="1200" b="1">
                <a:solidFill>
                  <a:srgbClr val="0E6E6E"/>
                </a:solidFill>
                <a:latin typeface="Segoe UI"/>
              </a:rPr>
              <a:t>Training</a:t>
            </a:r>
          </a:p>
        </p:txBody>
      </p:sp>
      <p:sp>
        <p:nvSpPr>
          <p:cNvPr id="15" name="TextBox 14"/>
          <p:cNvSpPr txBox="1"/>
          <p:nvPr/>
        </p:nvSpPr>
        <p:spPr>
          <a:xfrm>
            <a:off x="640080" y="3977639"/>
            <a:ext cx="10058400" cy="274320"/>
          </a:xfrm>
          <a:prstGeom prst="rect">
            <a:avLst/>
          </a:prstGeom>
          <a:noFill/>
        </p:spPr>
        <p:txBody>
          <a:bodyPr wrap="square" lIns="0" rIns="0" tIns="0" bIns="0" anchor="t">
            <a:spAutoFit/>
          </a:bodyPr>
          <a:lstStyle/>
          <a:p>
            <a:pPr algn="l">
              <a:lnSpc>
                <a:spcPct val="100000"/>
              </a:lnSpc>
            </a:pPr>
            <a:r>
              <a:rPr sz="1100" b="0" i="1">
                <a:solidFill>
                  <a:srgbClr val="5A6B73"/>
                </a:solidFill>
                <a:latin typeface="Segoe UI"/>
              </a:rPr>
              <a:t>Controlled source content flows left to right; only approved content reaches a learner.</a:t>
            </a:r>
          </a:p>
        </p:txBody>
      </p:sp>
      <p:sp>
        <p:nvSpPr>
          <p:cNvPr id="16" name="TextBox 15"/>
          <p:cNvSpPr txBox="1"/>
          <p:nvPr/>
        </p:nvSpPr>
        <p:spPr>
          <a:xfrm>
            <a:off x="640080" y="4617720"/>
            <a:ext cx="1554480" cy="274320"/>
          </a:xfrm>
          <a:prstGeom prst="rect">
            <a:avLst/>
          </a:prstGeom>
          <a:noFill/>
        </p:spPr>
        <p:txBody>
          <a:bodyPr wrap="square" lIns="0" rIns="0" tIns="0" bIns="0" anchor="t">
            <a:spAutoFit/>
          </a:bodyPr>
          <a:lstStyle/>
          <a:p>
            <a:pPr algn="l">
              <a:lnSpc>
                <a:spcPct val="100000"/>
              </a:lnSpc>
            </a:pPr>
            <a:r>
              <a:rPr sz="950" b="1" i="0">
                <a:solidFill>
                  <a:srgbClr val="0E6E6E"/>
                </a:solidFill>
                <a:latin typeface="Segoe UI Semibold"/>
              </a:rPr>
              <a:t>STUDENT</a:t>
            </a:r>
          </a:p>
        </p:txBody>
      </p:sp>
      <p:sp>
        <p:nvSpPr>
          <p:cNvPr id="17" name="TextBox 16"/>
          <p:cNvSpPr txBox="1"/>
          <p:nvPr/>
        </p:nvSpPr>
        <p:spPr>
          <a:xfrm>
            <a:off x="2286000" y="4590288"/>
            <a:ext cx="4572000" cy="27432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[Your Name]</a:t>
            </a:r>
          </a:p>
        </p:txBody>
      </p:sp>
      <p:sp>
        <p:nvSpPr>
          <p:cNvPr id="18" name="TextBox 17"/>
          <p:cNvSpPr txBox="1"/>
          <p:nvPr/>
        </p:nvSpPr>
        <p:spPr>
          <a:xfrm>
            <a:off x="640080" y="4956048"/>
            <a:ext cx="1554480" cy="274320"/>
          </a:xfrm>
          <a:prstGeom prst="rect">
            <a:avLst/>
          </a:prstGeom>
          <a:noFill/>
        </p:spPr>
        <p:txBody>
          <a:bodyPr wrap="square" lIns="0" rIns="0" tIns="0" bIns="0" anchor="t">
            <a:spAutoFit/>
          </a:bodyPr>
          <a:lstStyle/>
          <a:p>
            <a:pPr algn="l">
              <a:lnSpc>
                <a:spcPct val="100000"/>
              </a:lnSpc>
            </a:pPr>
            <a:r>
              <a:rPr sz="950" b="1" i="0">
                <a:solidFill>
                  <a:srgbClr val="0E6E6E"/>
                </a:solidFill>
                <a:latin typeface="Segoe UI Semibold"/>
              </a:rPr>
              <a:t>ROLL NUMBER</a:t>
            </a:r>
          </a:p>
        </p:txBody>
      </p:sp>
      <p:sp>
        <p:nvSpPr>
          <p:cNvPr id="19" name="TextBox 18"/>
          <p:cNvSpPr txBox="1"/>
          <p:nvPr/>
        </p:nvSpPr>
        <p:spPr>
          <a:xfrm>
            <a:off x="2286000" y="4928616"/>
            <a:ext cx="4572000" cy="27432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[Roll No.]</a:t>
            </a:r>
          </a:p>
        </p:txBody>
      </p:sp>
      <p:sp>
        <p:nvSpPr>
          <p:cNvPr id="20" name="TextBox 19"/>
          <p:cNvSpPr txBox="1"/>
          <p:nvPr/>
        </p:nvSpPr>
        <p:spPr>
          <a:xfrm>
            <a:off x="640080" y="5294376"/>
            <a:ext cx="1554480" cy="274320"/>
          </a:xfrm>
          <a:prstGeom prst="rect">
            <a:avLst/>
          </a:prstGeom>
          <a:noFill/>
        </p:spPr>
        <p:txBody>
          <a:bodyPr wrap="square" lIns="0" rIns="0" tIns="0" bIns="0" anchor="t">
            <a:spAutoFit/>
          </a:bodyPr>
          <a:lstStyle/>
          <a:p>
            <a:pPr algn="l">
              <a:lnSpc>
                <a:spcPct val="100000"/>
              </a:lnSpc>
            </a:pPr>
            <a:r>
              <a:rPr sz="950" b="1" i="0">
                <a:solidFill>
                  <a:srgbClr val="0E6E6E"/>
                </a:solidFill>
                <a:latin typeface="Segoe UI Semibold"/>
              </a:rPr>
              <a:t>DEPARTMENT</a:t>
            </a:r>
          </a:p>
        </p:txBody>
      </p:sp>
      <p:sp>
        <p:nvSpPr>
          <p:cNvPr id="21" name="TextBox 20"/>
          <p:cNvSpPr txBox="1"/>
          <p:nvPr/>
        </p:nvSpPr>
        <p:spPr>
          <a:xfrm>
            <a:off x="2286000" y="5266944"/>
            <a:ext cx="4572000" cy="27432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[Department]</a:t>
            </a:r>
          </a:p>
        </p:txBody>
      </p:sp>
      <p:sp>
        <p:nvSpPr>
          <p:cNvPr id="22" name="TextBox 21"/>
          <p:cNvSpPr txBox="1"/>
          <p:nvPr/>
        </p:nvSpPr>
        <p:spPr>
          <a:xfrm>
            <a:off x="640080" y="5632704"/>
            <a:ext cx="1554480" cy="274320"/>
          </a:xfrm>
          <a:prstGeom prst="rect">
            <a:avLst/>
          </a:prstGeom>
          <a:noFill/>
        </p:spPr>
        <p:txBody>
          <a:bodyPr wrap="square" lIns="0" rIns="0" tIns="0" bIns="0" anchor="t">
            <a:spAutoFit/>
          </a:bodyPr>
          <a:lstStyle/>
          <a:p>
            <a:pPr algn="l">
              <a:lnSpc>
                <a:spcPct val="100000"/>
              </a:lnSpc>
            </a:pPr>
            <a:r>
              <a:rPr sz="950" b="1" i="0">
                <a:solidFill>
                  <a:srgbClr val="0E6E6E"/>
                </a:solidFill>
                <a:latin typeface="Segoe UI Semibold"/>
              </a:rPr>
              <a:t>GUIDE</a:t>
            </a:r>
          </a:p>
        </p:txBody>
      </p:sp>
      <p:sp>
        <p:nvSpPr>
          <p:cNvPr id="23" name="TextBox 22"/>
          <p:cNvSpPr txBox="1"/>
          <p:nvPr/>
        </p:nvSpPr>
        <p:spPr>
          <a:xfrm>
            <a:off x="2286000" y="5605272"/>
            <a:ext cx="4572000" cy="27432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[Guide Name]</a:t>
            </a:r>
          </a:p>
        </p:txBody>
      </p:sp>
      <p:sp>
        <p:nvSpPr>
          <p:cNvPr id="24" name="TextBox 23"/>
          <p:cNvSpPr txBox="1"/>
          <p:nvPr/>
        </p:nvSpPr>
        <p:spPr>
          <a:xfrm>
            <a:off x="640080" y="5971031"/>
            <a:ext cx="1554480" cy="274320"/>
          </a:xfrm>
          <a:prstGeom prst="rect">
            <a:avLst/>
          </a:prstGeom>
          <a:noFill/>
        </p:spPr>
        <p:txBody>
          <a:bodyPr wrap="square" lIns="0" rIns="0" tIns="0" bIns="0" anchor="t">
            <a:spAutoFit/>
          </a:bodyPr>
          <a:lstStyle/>
          <a:p>
            <a:pPr algn="l">
              <a:lnSpc>
                <a:spcPct val="100000"/>
              </a:lnSpc>
            </a:pPr>
            <a:r>
              <a:rPr sz="950" b="1" i="0">
                <a:solidFill>
                  <a:srgbClr val="0E6E6E"/>
                </a:solidFill>
                <a:latin typeface="Segoe UI Semibold"/>
              </a:rPr>
              <a:t>INSTITUTION</a:t>
            </a:r>
          </a:p>
        </p:txBody>
      </p:sp>
      <p:sp>
        <p:nvSpPr>
          <p:cNvPr id="25" name="TextBox 24"/>
          <p:cNvSpPr txBox="1"/>
          <p:nvPr/>
        </p:nvSpPr>
        <p:spPr>
          <a:xfrm>
            <a:off x="2286000" y="5943599"/>
            <a:ext cx="4572000" cy="27432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[Institution]</a:t>
            </a:r>
          </a:p>
        </p:txBody>
      </p:sp>
      <p:sp>
        <p:nvSpPr>
          <p:cNvPr id="26" name="Rectangle 25"/>
          <p:cNvSpPr/>
          <p:nvPr/>
        </p:nvSpPr>
        <p:spPr>
          <a:xfrm>
            <a:off x="640080" y="4498848"/>
            <a:ext cx="10911535" cy="10972"/>
          </a:xfrm>
          <a:prstGeom prst="rect">
            <a:avLst/>
          </a:prstGeom>
          <a:solidFill>
            <a:srgbClr val="D6E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01 · MOTIVATION</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Problem Statement</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559052"/>
            <a:ext cx="82296" cy="82296"/>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481328"/>
            <a:ext cx="4837176" cy="365760"/>
          </a:xfrm>
          <a:prstGeom prst="rect">
            <a:avLst/>
          </a:prstGeom>
          <a:noFill/>
        </p:spPr>
        <p:txBody>
          <a:bodyPr wrap="square" lIns="0" rIns="0" tIns="0" bIns="0" anchor="t">
            <a:spAutoFit/>
          </a:bodyPr>
          <a:lstStyle/>
          <a:p>
            <a:pPr algn="l">
              <a:lnSpc>
                <a:spcPct val="100000"/>
              </a:lnSpc>
            </a:pPr>
            <a:r>
              <a:rPr sz="1350" b="0" i="0">
                <a:solidFill>
                  <a:srgbClr val="12263A"/>
                </a:solidFill>
                <a:latin typeface="Segoe UI"/>
              </a:rPr>
              <a:t>SOP retraining is typically static — the same deck and quiz for everyone</a:t>
            </a:r>
          </a:p>
        </p:txBody>
      </p:sp>
      <p:sp>
        <p:nvSpPr>
          <p:cNvPr id="7" name="Oval 6"/>
          <p:cNvSpPr/>
          <p:nvPr/>
        </p:nvSpPr>
        <p:spPr>
          <a:xfrm>
            <a:off x="640080" y="2125980"/>
            <a:ext cx="82296" cy="82296"/>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048256"/>
            <a:ext cx="4837176" cy="365760"/>
          </a:xfrm>
          <a:prstGeom prst="rect">
            <a:avLst/>
          </a:prstGeom>
          <a:noFill/>
        </p:spPr>
        <p:txBody>
          <a:bodyPr wrap="square" lIns="0" rIns="0" tIns="0" bIns="0" anchor="t">
            <a:spAutoFit/>
          </a:bodyPr>
          <a:lstStyle/>
          <a:p>
            <a:pPr algn="l">
              <a:lnSpc>
                <a:spcPct val="100000"/>
              </a:lnSpc>
            </a:pPr>
            <a:r>
              <a:rPr sz="1350" b="0" i="0">
                <a:solidFill>
                  <a:srgbClr val="12263A"/>
                </a:solidFill>
                <a:latin typeface="Segoe UI"/>
              </a:rPr>
              <a:t>Learners arrive with different, individual knowledge gaps</a:t>
            </a:r>
          </a:p>
        </p:txBody>
      </p:sp>
      <p:sp>
        <p:nvSpPr>
          <p:cNvPr id="9" name="Oval 8"/>
          <p:cNvSpPr/>
          <p:nvPr/>
        </p:nvSpPr>
        <p:spPr>
          <a:xfrm>
            <a:off x="640080" y="2692908"/>
            <a:ext cx="82296" cy="82296"/>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615184"/>
            <a:ext cx="4837176" cy="365760"/>
          </a:xfrm>
          <a:prstGeom prst="rect">
            <a:avLst/>
          </a:prstGeom>
          <a:noFill/>
        </p:spPr>
        <p:txBody>
          <a:bodyPr wrap="square" lIns="0" rIns="0" tIns="0" bIns="0" anchor="t">
            <a:spAutoFit/>
          </a:bodyPr>
          <a:lstStyle/>
          <a:p>
            <a:pPr algn="l">
              <a:lnSpc>
                <a:spcPct val="100000"/>
              </a:lnSpc>
            </a:pPr>
            <a:r>
              <a:rPr sz="1350" b="0" i="0">
                <a:solidFill>
                  <a:srgbClr val="12263A"/>
                </a:solidFill>
                <a:latin typeface="Segoe UI"/>
              </a:rPr>
              <a:t>Repeated training wastes time on already-mastered content</a:t>
            </a:r>
          </a:p>
        </p:txBody>
      </p:sp>
      <p:sp>
        <p:nvSpPr>
          <p:cNvPr id="11" name="Oval 10"/>
          <p:cNvSpPr/>
          <p:nvPr/>
        </p:nvSpPr>
        <p:spPr>
          <a:xfrm>
            <a:off x="640080" y="3259836"/>
            <a:ext cx="82296" cy="82296"/>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3182112"/>
            <a:ext cx="4837176" cy="365760"/>
          </a:xfrm>
          <a:prstGeom prst="rect">
            <a:avLst/>
          </a:prstGeom>
          <a:noFill/>
        </p:spPr>
        <p:txBody>
          <a:bodyPr wrap="square" lIns="0" rIns="0" tIns="0" bIns="0" anchor="t">
            <a:spAutoFit/>
          </a:bodyPr>
          <a:lstStyle/>
          <a:p>
            <a:pPr algn="l">
              <a:lnSpc>
                <a:spcPct val="100000"/>
              </a:lnSpc>
            </a:pPr>
            <a:r>
              <a:rPr sz="1350" b="0" i="0">
                <a:solidFill>
                  <a:srgbClr val="12263A"/>
                </a:solidFill>
                <a:latin typeface="Segoe UI"/>
              </a:rPr>
              <a:t>AI-generated questions introduce quality and correctness risk</a:t>
            </a:r>
          </a:p>
        </p:txBody>
      </p:sp>
      <p:sp>
        <p:nvSpPr>
          <p:cNvPr id="13" name="Oval 12"/>
          <p:cNvSpPr/>
          <p:nvPr/>
        </p:nvSpPr>
        <p:spPr>
          <a:xfrm>
            <a:off x="640080" y="3826763"/>
            <a:ext cx="82296" cy="82296"/>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3749039"/>
            <a:ext cx="4837176" cy="365760"/>
          </a:xfrm>
          <a:prstGeom prst="rect">
            <a:avLst/>
          </a:prstGeom>
          <a:noFill/>
        </p:spPr>
        <p:txBody>
          <a:bodyPr wrap="square" lIns="0" rIns="0" tIns="0" bIns="0" anchor="t">
            <a:spAutoFit/>
          </a:bodyPr>
          <a:lstStyle/>
          <a:p>
            <a:pPr algn="l">
              <a:lnSpc>
                <a:spcPct val="100000"/>
              </a:lnSpc>
            </a:pPr>
            <a:r>
              <a:rPr sz="1350" b="0" i="0">
                <a:solidFill>
                  <a:srgbClr val="12263A"/>
                </a:solidFill>
                <a:latin typeface="Segoe UI"/>
              </a:rPr>
              <a:t>Regulated training requires controlled content and human validation</a:t>
            </a:r>
          </a:p>
        </p:txBody>
      </p:sp>
      <p:sp>
        <p:nvSpPr>
          <p:cNvPr id="15" name="Oval 14"/>
          <p:cNvSpPr/>
          <p:nvPr/>
        </p:nvSpPr>
        <p:spPr>
          <a:xfrm>
            <a:off x="640080" y="4393692"/>
            <a:ext cx="82296" cy="82296"/>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4315968"/>
            <a:ext cx="4837176" cy="365760"/>
          </a:xfrm>
          <a:prstGeom prst="rect">
            <a:avLst/>
          </a:prstGeom>
          <a:noFill/>
        </p:spPr>
        <p:txBody>
          <a:bodyPr wrap="square" lIns="0" rIns="0" tIns="0" bIns="0" anchor="t">
            <a:spAutoFit/>
          </a:bodyPr>
          <a:lstStyle/>
          <a:p>
            <a:pPr algn="l">
              <a:lnSpc>
                <a:spcPct val="100000"/>
              </a:lnSpc>
            </a:pPr>
            <a:r>
              <a:rPr sz="1350" b="0" i="0">
                <a:solidFill>
                  <a:srgbClr val="12263A"/>
                </a:solidFill>
                <a:latin typeface="Segoe UI"/>
              </a:rPr>
              <a:t>Recommendations must be traceable and explainable to an auditor</a:t>
            </a:r>
          </a:p>
        </p:txBody>
      </p:sp>
      <p:sp>
        <p:nvSpPr>
          <p:cNvPr id="17" name="Rounded Rectangle 16"/>
          <p:cNvSpPr/>
          <p:nvPr/>
        </p:nvSpPr>
        <p:spPr>
          <a:xfrm>
            <a:off x="6172200" y="1481328"/>
            <a:ext cx="4736592" cy="1572768"/>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645920"/>
            <a:ext cx="4297680" cy="228600"/>
          </a:xfrm>
          <a:prstGeom prst="rect">
            <a:avLst/>
          </a:prstGeom>
          <a:noFill/>
        </p:spPr>
        <p:txBody>
          <a:bodyPr wrap="square" lIns="0" rIns="0" tIns="0" bIns="0" anchor="t">
            <a:spAutoFit/>
          </a:bodyPr>
          <a:lstStyle/>
          <a:p>
            <a:pPr algn="l">
              <a:lnSpc>
                <a:spcPct val="100000"/>
              </a:lnSpc>
            </a:pPr>
            <a:r>
              <a:rPr sz="1000" b="1" i="0">
                <a:solidFill>
                  <a:srgbClr val="5A6B73"/>
                </a:solidFill>
                <a:latin typeface="Segoe UI Semibold"/>
              </a:rPr>
              <a:t>TRADITIONAL</a:t>
            </a:r>
          </a:p>
        </p:txBody>
      </p:sp>
      <p:sp>
        <p:nvSpPr>
          <p:cNvPr id="19" name="Rounded Rectangle 18"/>
          <p:cNvSpPr/>
          <p:nvPr/>
        </p:nvSpPr>
        <p:spPr>
          <a:xfrm>
            <a:off x="6400800" y="1965960"/>
            <a:ext cx="1572768" cy="566928"/>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00" b="0">
                <a:solidFill>
                  <a:srgbClr val="12263A"/>
                </a:solidFill>
                <a:latin typeface="Segoe UI"/>
              </a:rPr>
              <a:t>Same</a:t>
            </a:r>
          </a:p>
          <a:p>
            <a:pPr algn="ctr">
              <a:lnSpc>
                <a:spcPct val="92000"/>
              </a:lnSpc>
            </a:pPr>
            <a:r>
              <a:rPr sz="1100" b="0">
                <a:solidFill>
                  <a:srgbClr val="12263A"/>
                </a:solidFill>
                <a:latin typeface="Segoe UI"/>
              </a:rPr>
              <a:t>content</a:t>
            </a:r>
          </a:p>
        </p:txBody>
      </p:sp>
      <p:cxnSp>
        <p:nvCxnSpPr>
          <p:cNvPr id="20" name="Connector 19"/>
          <p:cNvCxnSpPr/>
          <p:nvPr/>
        </p:nvCxnSpPr>
        <p:spPr>
          <a:xfrm>
            <a:off x="8046720" y="2249424"/>
            <a:ext cx="640080" cy="0"/>
          </a:xfrm>
          <a:prstGeom prst="line">
            <a:avLst/>
          </a:prstGeom>
          <a:ln w="19050">
            <a:solidFill>
              <a:srgbClr val="5A6B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778240" y="1965960"/>
            <a:ext cx="1874519" cy="566928"/>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00" b="0">
                <a:solidFill>
                  <a:srgbClr val="12263A"/>
                </a:solidFill>
                <a:latin typeface="Segoe UI"/>
              </a:rPr>
              <a:t>Everyone</a:t>
            </a:r>
          </a:p>
        </p:txBody>
      </p:sp>
      <p:sp>
        <p:nvSpPr>
          <p:cNvPr id="22" name="Rounded Rectangle 21"/>
          <p:cNvSpPr/>
          <p:nvPr/>
        </p:nvSpPr>
        <p:spPr>
          <a:xfrm>
            <a:off x="6172200" y="3218688"/>
            <a:ext cx="4736592" cy="1572768"/>
          </a:xfrm>
          <a:prstGeom prst="roundRect">
            <a:avLst>
              <a:gd name="adj" fmla="val 3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383280"/>
            <a:ext cx="4297680" cy="228600"/>
          </a:xfrm>
          <a:prstGeom prst="rect">
            <a:avLst/>
          </a:prstGeom>
          <a:noFill/>
        </p:spPr>
        <p:txBody>
          <a:bodyPr wrap="square" lIns="0" rIns="0" tIns="0" bIns="0" anchor="t">
            <a:spAutoFit/>
          </a:bodyPr>
          <a:lstStyle/>
          <a:p>
            <a:pPr algn="l">
              <a:lnSpc>
                <a:spcPct val="100000"/>
              </a:lnSpc>
            </a:pPr>
            <a:r>
              <a:rPr sz="1000" b="1" i="0">
                <a:solidFill>
                  <a:srgbClr val="0E6E6E"/>
                </a:solidFill>
                <a:latin typeface="Segoe UI Semibold"/>
              </a:rPr>
              <a:t>THIS SYSTEM</a:t>
            </a:r>
          </a:p>
        </p:txBody>
      </p:sp>
      <p:sp>
        <p:nvSpPr>
          <p:cNvPr id="24" name="Rounded Rectangle 23"/>
          <p:cNvSpPr/>
          <p:nvPr/>
        </p:nvSpPr>
        <p:spPr>
          <a:xfrm>
            <a:off x="6400800" y="3703320"/>
            <a:ext cx="1572768" cy="566928"/>
          </a:xfrm>
          <a:prstGeom prst="roundRect">
            <a:avLst>
              <a:gd name="adj" fmla="val 8000"/>
            </a:avLst>
          </a:prstGeom>
          <a:solidFill>
            <a:srgbClr val="FFFFFF"/>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00" b="0">
                <a:solidFill>
                  <a:srgbClr val="12263A"/>
                </a:solidFill>
                <a:latin typeface="Segoe UI"/>
              </a:rPr>
              <a:t>Learner</a:t>
            </a:r>
          </a:p>
          <a:p>
            <a:pPr algn="ctr">
              <a:lnSpc>
                <a:spcPct val="92000"/>
              </a:lnSpc>
            </a:pPr>
            <a:r>
              <a:rPr sz="1100" b="0">
                <a:solidFill>
                  <a:srgbClr val="12263A"/>
                </a:solidFill>
                <a:latin typeface="Segoe UI"/>
              </a:rPr>
              <a:t>performance</a:t>
            </a:r>
          </a:p>
        </p:txBody>
      </p:sp>
      <p:cxnSp>
        <p:nvCxnSpPr>
          <p:cNvPr id="25" name="Connector 24"/>
          <p:cNvCxnSpPr/>
          <p:nvPr/>
        </p:nvCxnSpPr>
        <p:spPr>
          <a:xfrm>
            <a:off x="8046720" y="3986784"/>
            <a:ext cx="640080"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778240" y="3703320"/>
            <a:ext cx="1874519" cy="566928"/>
          </a:xfrm>
          <a:prstGeom prst="roundRect">
            <a:avLst>
              <a:gd name="adj" fmla="val 8000"/>
            </a:avLst>
          </a:prstGeom>
          <a:solidFill>
            <a:srgbClr val="FFFFFF"/>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00" b="1">
                <a:solidFill>
                  <a:srgbClr val="12263A"/>
                </a:solidFill>
                <a:latin typeface="Segoe UI"/>
              </a:rPr>
              <a:t>Personalised</a:t>
            </a:r>
          </a:p>
          <a:p>
            <a:pPr algn="ctr">
              <a:lnSpc>
                <a:spcPct val="92000"/>
              </a:lnSpc>
            </a:pPr>
            <a:r>
              <a:rPr sz="1100" b="1">
                <a:solidFill>
                  <a:srgbClr val="12263A"/>
                </a:solidFill>
                <a:latin typeface="Segoe UI"/>
              </a:rPr>
              <a:t>retraining</a:t>
            </a:r>
          </a:p>
        </p:txBody>
      </p:sp>
      <p:sp>
        <p:nvSpPr>
          <p:cNvPr id="27" name="Rounded Rectangle 26"/>
          <p:cNvSpPr/>
          <p:nvPr/>
        </p:nvSpPr>
        <p:spPr>
          <a:xfrm>
            <a:off x="640080" y="5230368"/>
            <a:ext cx="10911535" cy="914400"/>
          </a:xfrm>
          <a:prstGeom prst="roundRect">
            <a:avLst>
              <a:gd name="adj" fmla="val 3000"/>
            </a:avLst>
          </a:prstGeom>
          <a:solidFill>
            <a:srgbClr val="E8EFF3"/>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431536"/>
            <a:ext cx="10362895" cy="548640"/>
          </a:xfrm>
          <a:prstGeom prst="rect">
            <a:avLst/>
          </a:prstGeom>
          <a:noFill/>
        </p:spPr>
        <p:txBody>
          <a:bodyPr wrap="square" lIns="0" rIns="0" tIns="0" bIns="0" anchor="t">
            <a:spAutoFit/>
          </a:bodyPr>
          <a:lstStyle/>
          <a:p>
            <a:pPr algn="l">
              <a:lnSpc>
                <a:spcPct val="115000"/>
              </a:lnSpc>
            </a:pPr>
            <a:r>
              <a:rPr sz="1550" b="1" i="0">
                <a:solidFill>
                  <a:srgbClr val="1F5673"/>
                </a:solidFill>
                <a:latin typeface="Segoe UI"/>
              </a:rPr>
              <a:t>How can SOP-based training be automated while remaining human-validated,</a:t>
            </a:r>
          </a:p>
          <a:p>
            <a:pPr algn="l">
              <a:lnSpc>
                <a:spcPct val="115000"/>
              </a:lnSpc>
            </a:pPr>
            <a:r>
              <a:rPr sz="1550" b="1" i="0">
                <a:solidFill>
                  <a:srgbClr val="1F5673"/>
                </a:solidFill>
                <a:latin typeface="Segoe UI"/>
              </a:rPr>
              <a:t>explainable, and adaptive to individual learner performance?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02 · SCOPE</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Aim and Objectives</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63040"/>
            <a:ext cx="10911535" cy="1024128"/>
          </a:xfrm>
          <a:prstGeom prst="roundRect">
            <a:avLst>
              <a:gd name="adj" fmla="val 3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36776"/>
            <a:ext cx="10362895" cy="731520"/>
          </a:xfrm>
          <a:prstGeom prst="rect">
            <a:avLst/>
          </a:prstGeom>
          <a:noFill/>
        </p:spPr>
        <p:txBody>
          <a:bodyPr wrap="square" lIns="0" rIns="0" tIns="0" bIns="0" anchor="t">
            <a:spAutoFit/>
          </a:bodyPr>
          <a:lstStyle/>
          <a:p>
            <a:pPr algn="l">
              <a:lnSpc>
                <a:spcPct val="115000"/>
              </a:lnSpc>
            </a:pPr>
            <a:r>
              <a:rPr sz="1450" b="1" i="0">
                <a:solidFill>
                  <a:srgbClr val="12263A"/>
                </a:solidFill>
                <a:latin typeface="Segoe UI"/>
              </a:rPr>
              <a:t>To develop an AI-assisted, GxP-oriented training platform that converts pharmaceutical SOPs</a:t>
            </a:r>
          </a:p>
          <a:p>
            <a:pPr algn="l">
              <a:lnSpc>
                <a:spcPct val="115000"/>
              </a:lnSpc>
            </a:pPr>
            <a:r>
              <a:rPr sz="1450" b="1" i="0">
                <a:solidFill>
                  <a:srgbClr val="12263A"/>
                </a:solidFill>
                <a:latin typeface="Segoe UI"/>
              </a:rPr>
              <a:t>into SME-reviewed assessments and adaptively identifies and retrains learner-specific knowledge gaps.</a:t>
            </a:r>
          </a:p>
        </p:txBody>
      </p:sp>
      <p:sp>
        <p:nvSpPr>
          <p:cNvPr id="7" name="Rounded Rectangle 6"/>
          <p:cNvSpPr/>
          <p:nvPr/>
        </p:nvSpPr>
        <p:spPr>
          <a:xfrm>
            <a:off x="640080" y="2816352"/>
            <a:ext cx="3515258" cy="1353312"/>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971800"/>
            <a:ext cx="914400" cy="228600"/>
          </a:xfrm>
          <a:prstGeom prst="rect">
            <a:avLst/>
          </a:prstGeom>
          <a:noFill/>
        </p:spPr>
        <p:txBody>
          <a:bodyPr wrap="square" lIns="0" rIns="0" tIns="0" bIns="0" anchor="t">
            <a:spAutoFit/>
          </a:bodyPr>
          <a:lstStyle/>
          <a:p>
            <a:pPr algn="l">
              <a:lnSpc>
                <a:spcPct val="100000"/>
              </a:lnSpc>
            </a:pPr>
            <a:r>
              <a:rPr sz="1500" b="1" i="0">
                <a:solidFill>
                  <a:srgbClr val="0E6E6E"/>
                </a:solidFill>
                <a:latin typeface="Segoe UI Semibold"/>
              </a:rPr>
              <a:t>01</a:t>
            </a:r>
          </a:p>
        </p:txBody>
      </p:sp>
      <p:sp>
        <p:nvSpPr>
          <p:cNvPr id="9" name="TextBox 8"/>
          <p:cNvSpPr txBox="1"/>
          <p:nvPr/>
        </p:nvSpPr>
        <p:spPr>
          <a:xfrm>
            <a:off x="841247" y="3291840"/>
            <a:ext cx="3112922" cy="274320"/>
          </a:xfrm>
          <a:prstGeom prst="rect">
            <a:avLst/>
          </a:prstGeom>
          <a:noFill/>
        </p:spPr>
        <p:txBody>
          <a:bodyPr wrap="square" lIns="0" rIns="0" tIns="0" bIns="0" anchor="t">
            <a:spAutoFit/>
          </a:bodyPr>
          <a:lstStyle/>
          <a:p>
            <a:pPr algn="l">
              <a:lnSpc>
                <a:spcPct val="100000"/>
              </a:lnSpc>
            </a:pPr>
            <a:r>
              <a:rPr sz="1250" b="1" i="0">
                <a:solidFill>
                  <a:srgbClr val="12263A"/>
                </a:solidFill>
                <a:latin typeface="Segoe UI"/>
              </a:rPr>
              <a:t>SOP ingestion</a:t>
            </a:r>
          </a:p>
        </p:txBody>
      </p:sp>
      <p:sp>
        <p:nvSpPr>
          <p:cNvPr id="10" name="TextBox 9"/>
          <p:cNvSpPr txBox="1"/>
          <p:nvPr/>
        </p:nvSpPr>
        <p:spPr>
          <a:xfrm>
            <a:off x="841247" y="3611880"/>
            <a:ext cx="3112922" cy="457200"/>
          </a:xfrm>
          <a:prstGeom prst="rect">
            <a:avLst/>
          </a:prstGeom>
          <a:noFill/>
        </p:spPr>
        <p:txBody>
          <a:bodyPr wrap="square" lIns="0" rIns="0" tIns="0" bIns="0" anchor="t">
            <a:spAutoFit/>
          </a:bodyPr>
          <a:lstStyle/>
          <a:p>
            <a:pPr algn="l">
              <a:lnSpc>
                <a:spcPct val="105000"/>
              </a:lnSpc>
            </a:pPr>
            <a:r>
              <a:rPr sz="1050" b="0" i="0">
                <a:solidFill>
                  <a:srgbClr val="5A6B73"/>
                </a:solidFill>
                <a:latin typeface="Segoe UI"/>
              </a:rPr>
              <a:t>Upload, extract and validate controlled documents</a:t>
            </a:r>
          </a:p>
        </p:txBody>
      </p:sp>
      <p:sp>
        <p:nvSpPr>
          <p:cNvPr id="11" name="Rounded Rectangle 10"/>
          <p:cNvSpPr/>
          <p:nvPr/>
        </p:nvSpPr>
        <p:spPr>
          <a:xfrm>
            <a:off x="4338218" y="2816352"/>
            <a:ext cx="3515258" cy="1353312"/>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9386" y="2971800"/>
            <a:ext cx="914400" cy="228600"/>
          </a:xfrm>
          <a:prstGeom prst="rect">
            <a:avLst/>
          </a:prstGeom>
          <a:noFill/>
        </p:spPr>
        <p:txBody>
          <a:bodyPr wrap="square" lIns="0" rIns="0" tIns="0" bIns="0" anchor="t">
            <a:spAutoFit/>
          </a:bodyPr>
          <a:lstStyle/>
          <a:p>
            <a:pPr algn="l">
              <a:lnSpc>
                <a:spcPct val="100000"/>
              </a:lnSpc>
            </a:pPr>
            <a:r>
              <a:rPr sz="1500" b="1" i="0">
                <a:solidFill>
                  <a:srgbClr val="0E6E6E"/>
                </a:solidFill>
                <a:latin typeface="Segoe UI Semibold"/>
              </a:rPr>
              <a:t>02</a:t>
            </a:r>
          </a:p>
        </p:txBody>
      </p:sp>
      <p:sp>
        <p:nvSpPr>
          <p:cNvPr id="13" name="TextBox 12"/>
          <p:cNvSpPr txBox="1"/>
          <p:nvPr/>
        </p:nvSpPr>
        <p:spPr>
          <a:xfrm>
            <a:off x="4539386" y="3291840"/>
            <a:ext cx="3112922" cy="274320"/>
          </a:xfrm>
          <a:prstGeom prst="rect">
            <a:avLst/>
          </a:prstGeom>
          <a:noFill/>
        </p:spPr>
        <p:txBody>
          <a:bodyPr wrap="square" lIns="0" rIns="0" tIns="0" bIns="0" anchor="t">
            <a:spAutoFit/>
          </a:bodyPr>
          <a:lstStyle/>
          <a:p>
            <a:pPr algn="l">
              <a:lnSpc>
                <a:spcPct val="100000"/>
              </a:lnSpc>
            </a:pPr>
            <a:r>
              <a:rPr sz="1250" b="1" i="0">
                <a:solidFill>
                  <a:srgbClr val="12263A"/>
                </a:solidFill>
                <a:latin typeface="Segoe UI"/>
              </a:rPr>
              <a:t>Intelligent chunking</a:t>
            </a:r>
          </a:p>
        </p:txBody>
      </p:sp>
      <p:sp>
        <p:nvSpPr>
          <p:cNvPr id="14" name="TextBox 13"/>
          <p:cNvSpPr txBox="1"/>
          <p:nvPr/>
        </p:nvSpPr>
        <p:spPr>
          <a:xfrm>
            <a:off x="4539386" y="3611880"/>
            <a:ext cx="3112922" cy="457200"/>
          </a:xfrm>
          <a:prstGeom prst="rect">
            <a:avLst/>
          </a:prstGeom>
          <a:noFill/>
        </p:spPr>
        <p:txBody>
          <a:bodyPr wrap="square" lIns="0" rIns="0" tIns="0" bIns="0" anchor="t">
            <a:spAutoFit/>
          </a:bodyPr>
          <a:lstStyle/>
          <a:p>
            <a:pPr algn="l">
              <a:lnSpc>
                <a:spcPct val="105000"/>
              </a:lnSpc>
            </a:pPr>
            <a:r>
              <a:rPr sz="1050" b="0" i="0">
                <a:solidFill>
                  <a:srgbClr val="5A6B73"/>
                </a:solidFill>
                <a:latin typeface="Segoe UI"/>
              </a:rPr>
              <a:t>Three-tier cascade: heading → semantic → fixed-length</a:t>
            </a:r>
          </a:p>
        </p:txBody>
      </p:sp>
      <p:sp>
        <p:nvSpPr>
          <p:cNvPr id="15" name="Rounded Rectangle 14"/>
          <p:cNvSpPr/>
          <p:nvPr/>
        </p:nvSpPr>
        <p:spPr>
          <a:xfrm>
            <a:off x="8036356" y="2816352"/>
            <a:ext cx="3515258" cy="1353312"/>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7524" y="2971800"/>
            <a:ext cx="914400" cy="228600"/>
          </a:xfrm>
          <a:prstGeom prst="rect">
            <a:avLst/>
          </a:prstGeom>
          <a:noFill/>
        </p:spPr>
        <p:txBody>
          <a:bodyPr wrap="square" lIns="0" rIns="0" tIns="0" bIns="0" anchor="t">
            <a:spAutoFit/>
          </a:bodyPr>
          <a:lstStyle/>
          <a:p>
            <a:pPr algn="l">
              <a:lnSpc>
                <a:spcPct val="100000"/>
              </a:lnSpc>
            </a:pPr>
            <a:r>
              <a:rPr sz="1500" b="1" i="0">
                <a:solidFill>
                  <a:srgbClr val="0E6E6E"/>
                </a:solidFill>
                <a:latin typeface="Segoe UI Semibold"/>
              </a:rPr>
              <a:t>03</a:t>
            </a:r>
          </a:p>
        </p:txBody>
      </p:sp>
      <p:sp>
        <p:nvSpPr>
          <p:cNvPr id="17" name="TextBox 16"/>
          <p:cNvSpPr txBox="1"/>
          <p:nvPr/>
        </p:nvSpPr>
        <p:spPr>
          <a:xfrm>
            <a:off x="8237524" y="3291840"/>
            <a:ext cx="3112922" cy="274320"/>
          </a:xfrm>
          <a:prstGeom prst="rect">
            <a:avLst/>
          </a:prstGeom>
          <a:noFill/>
        </p:spPr>
        <p:txBody>
          <a:bodyPr wrap="square" lIns="0" rIns="0" tIns="0" bIns="0" anchor="t">
            <a:spAutoFit/>
          </a:bodyPr>
          <a:lstStyle/>
          <a:p>
            <a:pPr algn="l">
              <a:lnSpc>
                <a:spcPct val="100000"/>
              </a:lnSpc>
            </a:pPr>
            <a:r>
              <a:rPr sz="1250" b="1" i="0">
                <a:solidFill>
                  <a:srgbClr val="12263A"/>
                </a:solidFill>
                <a:latin typeface="Segoe UI"/>
              </a:rPr>
              <a:t>AI question generation</a:t>
            </a:r>
          </a:p>
        </p:txBody>
      </p:sp>
      <p:sp>
        <p:nvSpPr>
          <p:cNvPr id="18" name="TextBox 17"/>
          <p:cNvSpPr txBox="1"/>
          <p:nvPr/>
        </p:nvSpPr>
        <p:spPr>
          <a:xfrm>
            <a:off x="8237524" y="3611880"/>
            <a:ext cx="3112922" cy="457200"/>
          </a:xfrm>
          <a:prstGeom prst="rect">
            <a:avLst/>
          </a:prstGeom>
          <a:noFill/>
        </p:spPr>
        <p:txBody>
          <a:bodyPr wrap="square" lIns="0" rIns="0" tIns="0" bIns="0" anchor="t">
            <a:spAutoFit/>
          </a:bodyPr>
          <a:lstStyle/>
          <a:p>
            <a:pPr algn="l">
              <a:lnSpc>
                <a:spcPct val="105000"/>
              </a:lnSpc>
            </a:pPr>
            <a:r>
              <a:rPr sz="1050" b="0" i="0">
                <a:solidFill>
                  <a:srgbClr val="5A6B73"/>
                </a:solidFill>
                <a:latin typeface="Segoe UI"/>
              </a:rPr>
              <a:t>Section-grounded drafting via NVIDIA NIM</a:t>
            </a:r>
          </a:p>
        </p:txBody>
      </p:sp>
      <p:sp>
        <p:nvSpPr>
          <p:cNvPr id="19" name="Rounded Rectangle 18"/>
          <p:cNvSpPr/>
          <p:nvPr/>
        </p:nvSpPr>
        <p:spPr>
          <a:xfrm>
            <a:off x="640080" y="4389120"/>
            <a:ext cx="3515258" cy="1353312"/>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4544568"/>
            <a:ext cx="914400" cy="228600"/>
          </a:xfrm>
          <a:prstGeom prst="rect">
            <a:avLst/>
          </a:prstGeom>
          <a:noFill/>
        </p:spPr>
        <p:txBody>
          <a:bodyPr wrap="square" lIns="0" rIns="0" tIns="0" bIns="0" anchor="t">
            <a:spAutoFit/>
          </a:bodyPr>
          <a:lstStyle/>
          <a:p>
            <a:pPr algn="l">
              <a:lnSpc>
                <a:spcPct val="100000"/>
              </a:lnSpc>
            </a:pPr>
            <a:r>
              <a:rPr sz="1500" b="1" i="0">
                <a:solidFill>
                  <a:srgbClr val="0E6E6E"/>
                </a:solidFill>
                <a:latin typeface="Segoe UI Semibold"/>
              </a:rPr>
              <a:t>04</a:t>
            </a:r>
          </a:p>
        </p:txBody>
      </p:sp>
      <p:sp>
        <p:nvSpPr>
          <p:cNvPr id="21" name="TextBox 20"/>
          <p:cNvSpPr txBox="1"/>
          <p:nvPr/>
        </p:nvSpPr>
        <p:spPr>
          <a:xfrm>
            <a:off x="841247" y="4864608"/>
            <a:ext cx="3112922" cy="274320"/>
          </a:xfrm>
          <a:prstGeom prst="rect">
            <a:avLst/>
          </a:prstGeom>
          <a:noFill/>
        </p:spPr>
        <p:txBody>
          <a:bodyPr wrap="square" lIns="0" rIns="0" tIns="0" bIns="0" anchor="t">
            <a:spAutoFit/>
          </a:bodyPr>
          <a:lstStyle/>
          <a:p>
            <a:pPr algn="l">
              <a:lnSpc>
                <a:spcPct val="100000"/>
              </a:lnSpc>
            </a:pPr>
            <a:r>
              <a:rPr sz="1250" b="1" i="0">
                <a:solidFill>
                  <a:srgbClr val="12263A"/>
                </a:solidFill>
                <a:latin typeface="Segoe UI"/>
              </a:rPr>
              <a:t>SME validation</a:t>
            </a:r>
          </a:p>
        </p:txBody>
      </p:sp>
      <p:sp>
        <p:nvSpPr>
          <p:cNvPr id="22" name="TextBox 21"/>
          <p:cNvSpPr txBox="1"/>
          <p:nvPr/>
        </p:nvSpPr>
        <p:spPr>
          <a:xfrm>
            <a:off x="841247" y="5184648"/>
            <a:ext cx="3112922" cy="457200"/>
          </a:xfrm>
          <a:prstGeom prst="rect">
            <a:avLst/>
          </a:prstGeom>
          <a:noFill/>
        </p:spPr>
        <p:txBody>
          <a:bodyPr wrap="square" lIns="0" rIns="0" tIns="0" bIns="0" anchor="t">
            <a:spAutoFit/>
          </a:bodyPr>
          <a:lstStyle/>
          <a:p>
            <a:pPr algn="l">
              <a:lnSpc>
                <a:spcPct val="105000"/>
              </a:lnSpc>
            </a:pPr>
            <a:r>
              <a:rPr sz="1050" b="0" i="0">
                <a:solidFill>
                  <a:srgbClr val="5A6B73"/>
                </a:solidFill>
                <a:latin typeface="Segoe UI"/>
              </a:rPr>
              <a:t>Human approval bound by electronic signature</a:t>
            </a:r>
          </a:p>
        </p:txBody>
      </p:sp>
      <p:sp>
        <p:nvSpPr>
          <p:cNvPr id="23" name="Rounded Rectangle 22"/>
          <p:cNvSpPr/>
          <p:nvPr/>
        </p:nvSpPr>
        <p:spPr>
          <a:xfrm>
            <a:off x="4338218" y="4389120"/>
            <a:ext cx="3515258" cy="1353312"/>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39386" y="4544568"/>
            <a:ext cx="914400" cy="228600"/>
          </a:xfrm>
          <a:prstGeom prst="rect">
            <a:avLst/>
          </a:prstGeom>
          <a:noFill/>
        </p:spPr>
        <p:txBody>
          <a:bodyPr wrap="square" lIns="0" rIns="0" tIns="0" bIns="0" anchor="t">
            <a:spAutoFit/>
          </a:bodyPr>
          <a:lstStyle/>
          <a:p>
            <a:pPr algn="l">
              <a:lnSpc>
                <a:spcPct val="100000"/>
              </a:lnSpc>
            </a:pPr>
            <a:r>
              <a:rPr sz="1500" b="1" i="0">
                <a:solidFill>
                  <a:srgbClr val="0E6E6E"/>
                </a:solidFill>
                <a:latin typeface="Segoe UI Semibold"/>
              </a:rPr>
              <a:t>05</a:t>
            </a:r>
          </a:p>
        </p:txBody>
      </p:sp>
      <p:sp>
        <p:nvSpPr>
          <p:cNvPr id="25" name="TextBox 24"/>
          <p:cNvSpPr txBox="1"/>
          <p:nvPr/>
        </p:nvSpPr>
        <p:spPr>
          <a:xfrm>
            <a:off x="4539386" y="4864608"/>
            <a:ext cx="3112922" cy="274320"/>
          </a:xfrm>
          <a:prstGeom prst="rect">
            <a:avLst/>
          </a:prstGeom>
          <a:noFill/>
        </p:spPr>
        <p:txBody>
          <a:bodyPr wrap="square" lIns="0" rIns="0" tIns="0" bIns="0" anchor="t">
            <a:spAutoFit/>
          </a:bodyPr>
          <a:lstStyle/>
          <a:p>
            <a:pPr algn="l">
              <a:lnSpc>
                <a:spcPct val="100000"/>
              </a:lnSpc>
            </a:pPr>
            <a:r>
              <a:rPr sz="1250" b="1" i="0">
                <a:solidFill>
                  <a:srgbClr val="12263A"/>
                </a:solidFill>
                <a:latin typeface="Segoe UI"/>
              </a:rPr>
              <a:t>Adaptive learner modelling</a:t>
            </a:r>
          </a:p>
        </p:txBody>
      </p:sp>
      <p:sp>
        <p:nvSpPr>
          <p:cNvPr id="26" name="TextBox 25"/>
          <p:cNvSpPr txBox="1"/>
          <p:nvPr/>
        </p:nvSpPr>
        <p:spPr>
          <a:xfrm>
            <a:off x="4539386" y="5184648"/>
            <a:ext cx="3112922" cy="457200"/>
          </a:xfrm>
          <a:prstGeom prst="rect">
            <a:avLst/>
          </a:prstGeom>
          <a:noFill/>
        </p:spPr>
        <p:txBody>
          <a:bodyPr wrap="square" lIns="0" rIns="0" tIns="0" bIns="0" anchor="t">
            <a:spAutoFit/>
          </a:bodyPr>
          <a:lstStyle/>
          <a:p>
            <a:pPr algn="l">
              <a:lnSpc>
                <a:spcPct val="105000"/>
              </a:lnSpc>
            </a:pPr>
            <a:r>
              <a:rPr sz="1050" b="0" i="0">
                <a:solidFill>
                  <a:srgbClr val="5A6B73"/>
                </a:solidFill>
                <a:latin typeface="Segoe UI"/>
              </a:rPr>
              <a:t>Section-level mastery and targeted retraining</a:t>
            </a:r>
          </a:p>
        </p:txBody>
      </p:sp>
      <p:sp>
        <p:nvSpPr>
          <p:cNvPr id="27" name="Rounded Rectangle 26"/>
          <p:cNvSpPr/>
          <p:nvPr/>
        </p:nvSpPr>
        <p:spPr>
          <a:xfrm>
            <a:off x="8036356" y="4389120"/>
            <a:ext cx="3515258" cy="1353312"/>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7524" y="4544568"/>
            <a:ext cx="914400" cy="228600"/>
          </a:xfrm>
          <a:prstGeom prst="rect">
            <a:avLst/>
          </a:prstGeom>
          <a:noFill/>
        </p:spPr>
        <p:txBody>
          <a:bodyPr wrap="square" lIns="0" rIns="0" tIns="0" bIns="0" anchor="t">
            <a:spAutoFit/>
          </a:bodyPr>
          <a:lstStyle/>
          <a:p>
            <a:pPr algn="l">
              <a:lnSpc>
                <a:spcPct val="100000"/>
              </a:lnSpc>
            </a:pPr>
            <a:r>
              <a:rPr sz="1500" b="1" i="0">
                <a:solidFill>
                  <a:srgbClr val="0E6E6E"/>
                </a:solidFill>
                <a:latin typeface="Segoe UI Semibold"/>
              </a:rPr>
              <a:t>06</a:t>
            </a:r>
          </a:p>
        </p:txBody>
      </p:sp>
      <p:sp>
        <p:nvSpPr>
          <p:cNvPr id="29" name="TextBox 28"/>
          <p:cNvSpPr txBox="1"/>
          <p:nvPr/>
        </p:nvSpPr>
        <p:spPr>
          <a:xfrm>
            <a:off x="8237524" y="4864608"/>
            <a:ext cx="3112922" cy="274320"/>
          </a:xfrm>
          <a:prstGeom prst="rect">
            <a:avLst/>
          </a:prstGeom>
          <a:noFill/>
        </p:spPr>
        <p:txBody>
          <a:bodyPr wrap="square" lIns="0" rIns="0" tIns="0" bIns="0" anchor="t">
            <a:spAutoFit/>
          </a:bodyPr>
          <a:lstStyle/>
          <a:p>
            <a:pPr algn="l">
              <a:lnSpc>
                <a:spcPct val="100000"/>
              </a:lnSpc>
            </a:pPr>
            <a:r>
              <a:rPr sz="1250" b="1" i="0">
                <a:solidFill>
                  <a:srgbClr val="12263A"/>
                </a:solidFill>
                <a:latin typeface="Segoe UI"/>
              </a:rPr>
              <a:t>Explainable scheduling</a:t>
            </a:r>
          </a:p>
        </p:txBody>
      </p:sp>
      <p:sp>
        <p:nvSpPr>
          <p:cNvPr id="30" name="TextBox 29"/>
          <p:cNvSpPr txBox="1"/>
          <p:nvPr/>
        </p:nvSpPr>
        <p:spPr>
          <a:xfrm>
            <a:off x="8237524" y="5184648"/>
            <a:ext cx="3112922" cy="457200"/>
          </a:xfrm>
          <a:prstGeom prst="rect">
            <a:avLst/>
          </a:prstGeom>
          <a:noFill/>
        </p:spPr>
        <p:txBody>
          <a:bodyPr wrap="square" lIns="0" rIns="0" tIns="0" bIns="0" anchor="t">
            <a:spAutoFit/>
          </a:bodyPr>
          <a:lstStyle/>
          <a:p>
            <a:pPr algn="l">
              <a:lnSpc>
                <a:spcPct val="105000"/>
              </a:lnSpc>
            </a:pPr>
            <a:r>
              <a:rPr sz="1050" b="0" i="0">
                <a:solidFill>
                  <a:srgbClr val="5A6B73"/>
                </a:solidFill>
                <a:latin typeface="Segoe UI"/>
              </a:rPr>
              <a:t>FSRS review timing with stated reasoning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03 · RELATED WORK</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Literature Review</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481328"/>
          <a:ext cx="10908792" cy="4206240"/>
        </p:xfrm>
        <a:graphic>
          <a:graphicData uri="http://schemas.openxmlformats.org/drawingml/2006/table">
            <a:tbl>
              <a:tblPr firstRow="1" bandRow="1">
                <a:tableStyleId>{5C22544A-7EE6-4342-B048-85BDC9FD1C3A}</a:tableStyleId>
              </a:tblPr>
              <a:tblGrid>
                <a:gridCol w="2212848"/>
                <a:gridCol w="2606040"/>
                <a:gridCol w="2880360"/>
                <a:gridCol w="3209544"/>
              </a:tblGrid>
              <a:tr h="525780">
                <a:tc>
                  <a:txBody>
                    <a:bodyPr/>
                    <a:lstStyle/>
                    <a:p>
                      <a:pPr>
                        <a:lnSpc>
                          <a:spcPct val="95000"/>
                        </a:lnSpc>
                      </a:pPr>
                      <a:r>
                        <a:rPr sz="1000" b="1">
                          <a:solidFill>
                            <a:srgbClr val="FFFFFF"/>
                          </a:solidFill>
                          <a:latin typeface="Segoe UI Semibold"/>
                        </a:rPr>
                        <a:t>Work</a:t>
                      </a:r>
                    </a:p>
                  </a:txBody>
                  <a:tcPr marL="73152" marR="73152" marT="45720" marB="45720" anchor="t">
                    <a:solidFill>
                      <a:srgbClr val="12263A"/>
                    </a:solidFill>
                  </a:tcPr>
                </a:tc>
                <a:tc>
                  <a:txBody>
                    <a:bodyPr/>
                    <a:lstStyle/>
                    <a:p>
                      <a:pPr>
                        <a:lnSpc>
                          <a:spcPct val="95000"/>
                        </a:lnSpc>
                      </a:pPr>
                      <a:r>
                        <a:rPr sz="1000" b="1">
                          <a:solidFill>
                            <a:srgbClr val="FFFFFF"/>
                          </a:solidFill>
                          <a:latin typeface="Segoe UI Semibold"/>
                        </a:rPr>
                        <a:t>Contribution</a:t>
                      </a:r>
                    </a:p>
                  </a:txBody>
                  <a:tcPr marL="73152" marR="73152" marT="45720" marB="45720" anchor="t">
                    <a:solidFill>
                      <a:srgbClr val="12263A"/>
                    </a:solidFill>
                  </a:tcPr>
                </a:tc>
                <a:tc>
                  <a:txBody>
                    <a:bodyPr/>
                    <a:lstStyle/>
                    <a:p>
                      <a:pPr>
                        <a:lnSpc>
                          <a:spcPct val="95000"/>
                        </a:lnSpc>
                      </a:pPr>
                      <a:r>
                        <a:rPr sz="1000" b="1">
                          <a:solidFill>
                            <a:srgbClr val="FFFFFF"/>
                          </a:solidFill>
                          <a:latin typeface="Segoe UI Semibold"/>
                        </a:rPr>
                        <a:t>Limitation</a:t>
                      </a:r>
                    </a:p>
                  </a:txBody>
                  <a:tcPr marL="73152" marR="73152" marT="45720" marB="45720" anchor="t">
                    <a:solidFill>
                      <a:srgbClr val="12263A"/>
                    </a:solidFill>
                  </a:tcPr>
                </a:tc>
                <a:tc>
                  <a:txBody>
                    <a:bodyPr/>
                    <a:lstStyle/>
                    <a:p>
                      <a:pPr>
                        <a:lnSpc>
                          <a:spcPct val="95000"/>
                        </a:lnSpc>
                      </a:pPr>
                      <a:r>
                        <a:rPr sz="1000" b="1">
                          <a:solidFill>
                            <a:srgbClr val="FFFFFF"/>
                          </a:solidFill>
                          <a:latin typeface="Segoe UI Semibold"/>
                        </a:rPr>
                        <a:t>Relevance here</a:t>
                      </a:r>
                    </a:p>
                  </a:txBody>
                  <a:tcPr marL="73152" marR="73152" marT="45720" marB="45720" anchor="t">
                    <a:solidFill>
                      <a:srgbClr val="12263A"/>
                    </a:solidFill>
                  </a:tcPr>
                </a:tc>
              </a:tr>
              <a:tr h="525780">
                <a:tc>
                  <a:txBody>
                    <a:bodyPr/>
                    <a:lstStyle/>
                    <a:p>
                      <a:pPr>
                        <a:lnSpc>
                          <a:spcPct val="95000"/>
                        </a:lnSpc>
                      </a:pPr>
                      <a:r>
                        <a:rPr sz="950" b="0">
                          <a:solidFill>
                            <a:srgbClr val="12263A"/>
                          </a:solidFill>
                          <a:latin typeface="Segoe UI"/>
                        </a:rPr>
                        <a:t>Corbett &amp; Anderson (1994)
Bayesian Knowledge Tracing</a:t>
                      </a:r>
                    </a:p>
                  </a:txBody>
                  <a:tcPr marL="73152" marR="73152" marT="45720" marB="45720" anchor="t">
                    <a:solidFill>
                      <a:srgbClr val="FFFFFF"/>
                    </a:solidFill>
                  </a:tcPr>
                </a:tc>
                <a:tc>
                  <a:txBody>
                    <a:bodyPr/>
                    <a:lstStyle/>
                    <a:p>
                      <a:pPr>
                        <a:lnSpc>
                          <a:spcPct val="95000"/>
                        </a:lnSpc>
                      </a:pPr>
                      <a:r>
                        <a:rPr sz="950" b="0">
                          <a:solidFill>
                            <a:srgbClr val="12263A"/>
                          </a:solidFill>
                          <a:latin typeface="Segoe UI"/>
                        </a:rPr>
                        <a:t>Probabilistic per-skill mastery estimation</a:t>
                      </a:r>
                    </a:p>
                  </a:txBody>
                  <a:tcPr marL="73152" marR="73152" marT="45720" marB="45720" anchor="t">
                    <a:solidFill>
                      <a:srgbClr val="FFFFFF"/>
                    </a:solidFill>
                  </a:tcPr>
                </a:tc>
                <a:tc>
                  <a:txBody>
                    <a:bodyPr/>
                    <a:lstStyle/>
                    <a:p>
                      <a:pPr>
                        <a:lnSpc>
                          <a:spcPct val="95000"/>
                        </a:lnSpc>
                      </a:pPr>
                      <a:r>
                        <a:rPr sz="950" b="0">
                          <a:solidFill>
                            <a:srgbClr val="12263A"/>
                          </a:solidFill>
                          <a:latin typeface="Segoe UI"/>
                        </a:rPr>
                        <a:t>Needs many responses per skill; skill model must be authored</a:t>
                      </a:r>
                    </a:p>
                  </a:txBody>
                  <a:tcPr marL="73152" marR="73152" marT="45720" marB="45720" anchor="t">
                    <a:solidFill>
                      <a:srgbClr val="FFFFFF"/>
                    </a:solidFill>
                  </a:tcPr>
                </a:tc>
                <a:tc>
                  <a:txBody>
                    <a:bodyPr/>
                    <a:lstStyle/>
                    <a:p>
                      <a:pPr>
                        <a:lnSpc>
                          <a:spcPct val="95000"/>
                        </a:lnSpc>
                      </a:pPr>
                      <a:r>
                        <a:rPr sz="950" b="0">
                          <a:solidFill>
                            <a:srgbClr val="12263A"/>
                          </a:solidFill>
                          <a:latin typeface="Segoe UI"/>
                        </a:rPr>
                        <a:t>Motivates mastery modelling; too data-hungry at our scale</a:t>
                      </a:r>
                    </a:p>
                  </a:txBody>
                  <a:tcPr marL="73152" marR="73152" marT="45720" marB="45720" anchor="t">
                    <a:solidFill>
                      <a:srgbClr val="FFFFFF"/>
                    </a:solidFill>
                  </a:tcPr>
                </a:tc>
              </a:tr>
              <a:tr h="525780">
                <a:tc>
                  <a:txBody>
                    <a:bodyPr/>
                    <a:lstStyle/>
                    <a:p>
                      <a:pPr>
                        <a:lnSpc>
                          <a:spcPct val="95000"/>
                        </a:lnSpc>
                      </a:pPr>
                      <a:r>
                        <a:rPr sz="950" b="0">
                          <a:solidFill>
                            <a:srgbClr val="12263A"/>
                          </a:solidFill>
                          <a:latin typeface="Segoe UI"/>
                        </a:rPr>
                        <a:t>Piech et al. (2015)
Deep Knowledge Tracing</a:t>
                      </a:r>
                    </a:p>
                  </a:txBody>
                  <a:tcPr marL="73152" marR="73152" marT="45720" marB="45720" anchor="t">
                    <a:solidFill>
                      <a:srgbClr val="F4F7F8"/>
                    </a:solidFill>
                  </a:tcPr>
                </a:tc>
                <a:tc>
                  <a:txBody>
                    <a:bodyPr/>
                    <a:lstStyle/>
                    <a:p>
                      <a:pPr>
                        <a:lnSpc>
                          <a:spcPct val="95000"/>
                        </a:lnSpc>
                      </a:pPr>
                      <a:r>
                        <a:rPr sz="950" b="0">
                          <a:solidFill>
                            <a:srgbClr val="12263A"/>
                          </a:solidFill>
                          <a:latin typeface="Segoe UI"/>
                        </a:rPr>
                        <a:t>RNN learner modelling from interaction sequences</a:t>
                      </a:r>
                    </a:p>
                  </a:txBody>
                  <a:tcPr marL="73152" marR="73152" marT="45720" marB="45720" anchor="t">
                    <a:solidFill>
                      <a:srgbClr val="F4F7F8"/>
                    </a:solidFill>
                  </a:tcPr>
                </a:tc>
                <a:tc>
                  <a:txBody>
                    <a:bodyPr/>
                    <a:lstStyle/>
                    <a:p>
                      <a:pPr>
                        <a:lnSpc>
                          <a:spcPct val="95000"/>
                        </a:lnSpc>
                      </a:pPr>
                      <a:r>
                        <a:rPr sz="950" b="0">
                          <a:solidFill>
                            <a:srgbClr val="12263A"/>
                          </a:solidFill>
                          <a:latin typeface="Segoe UI"/>
                        </a:rPr>
                        <a:t>Thousands of interactions per learner; not interpretable</a:t>
                      </a:r>
                    </a:p>
                  </a:txBody>
                  <a:tcPr marL="73152" marR="73152" marT="45720" marB="45720" anchor="t">
                    <a:solidFill>
                      <a:srgbClr val="F4F7F8"/>
                    </a:solidFill>
                  </a:tcPr>
                </a:tc>
                <a:tc>
                  <a:txBody>
                    <a:bodyPr/>
                    <a:lstStyle/>
                    <a:p>
                      <a:pPr>
                        <a:lnSpc>
                          <a:spcPct val="95000"/>
                        </a:lnSpc>
                      </a:pPr>
                      <a:r>
                        <a:rPr sz="950" b="0">
                          <a:solidFill>
                            <a:srgbClr val="12263A"/>
                          </a:solidFill>
                          <a:latin typeface="Segoe UI"/>
                        </a:rPr>
                        <a:t>Explicitly not adopted — data scale and auditability</a:t>
                      </a:r>
                    </a:p>
                  </a:txBody>
                  <a:tcPr marL="73152" marR="73152" marT="45720" marB="45720" anchor="t">
                    <a:solidFill>
                      <a:srgbClr val="F4F7F8"/>
                    </a:solidFill>
                  </a:tcPr>
                </a:tc>
              </a:tr>
              <a:tr h="525780">
                <a:tc>
                  <a:txBody>
                    <a:bodyPr/>
                    <a:lstStyle/>
                    <a:p>
                      <a:pPr>
                        <a:lnSpc>
                          <a:spcPct val="95000"/>
                        </a:lnSpc>
                      </a:pPr>
                      <a:r>
                        <a:rPr sz="950" b="0">
                          <a:solidFill>
                            <a:srgbClr val="12263A"/>
                          </a:solidFill>
                          <a:latin typeface="Segoe UI"/>
                        </a:rPr>
                        <a:t>Pelánek (2016)
Elo in adaptive education</a:t>
                      </a:r>
                    </a:p>
                  </a:txBody>
                  <a:tcPr marL="73152" marR="73152" marT="45720" marB="45720" anchor="t">
                    <a:solidFill>
                      <a:srgbClr val="FFFFFF"/>
                    </a:solidFill>
                  </a:tcPr>
                </a:tc>
                <a:tc>
                  <a:txBody>
                    <a:bodyPr/>
                    <a:lstStyle/>
                    <a:p>
                      <a:pPr>
                        <a:lnSpc>
                          <a:spcPct val="95000"/>
                        </a:lnSpc>
                      </a:pPr>
                      <a:r>
                        <a:rPr sz="950" b="0">
                          <a:solidFill>
                            <a:srgbClr val="12263A"/>
                          </a:solidFill>
                          <a:latin typeface="Segoe UI"/>
                        </a:rPr>
                        <a:t>Online joint estimation of learner skill and item difficulty</a:t>
                      </a:r>
                    </a:p>
                  </a:txBody>
                  <a:tcPr marL="73152" marR="73152" marT="45720" marB="45720" anchor="t">
                    <a:solidFill>
                      <a:srgbClr val="FFFFFF"/>
                    </a:solidFill>
                  </a:tcPr>
                </a:tc>
                <a:tc>
                  <a:txBody>
                    <a:bodyPr/>
                    <a:lstStyle/>
                    <a:p>
                      <a:pPr>
                        <a:lnSpc>
                          <a:spcPct val="95000"/>
                        </a:lnSpc>
                      </a:pPr>
                      <a:r>
                        <a:rPr sz="950" b="0">
                          <a:solidFill>
                            <a:srgbClr val="12263A"/>
                          </a:solidFill>
                          <a:latin typeface="Segoe UI"/>
                        </a:rPr>
                        <a:t>Coarser than IRT; no discrimination parameter</a:t>
                      </a:r>
                    </a:p>
                  </a:txBody>
                  <a:tcPr marL="73152" marR="73152" marT="45720" marB="45720" anchor="t">
                    <a:solidFill>
                      <a:srgbClr val="FFFFFF"/>
                    </a:solidFill>
                  </a:tcPr>
                </a:tc>
                <a:tc>
                  <a:txBody>
                    <a:bodyPr/>
                    <a:lstStyle/>
                    <a:p>
                      <a:pPr>
                        <a:lnSpc>
                          <a:spcPct val="95000"/>
                        </a:lnSpc>
                      </a:pPr>
                      <a:r>
                        <a:rPr sz="950" b="0">
                          <a:solidFill>
                            <a:srgbClr val="12263A"/>
                          </a:solidFill>
                          <a:latin typeface="Segoe UI"/>
                        </a:rPr>
                        <a:t>Directly implemented — learner K=32, question K=16</a:t>
                      </a:r>
                    </a:p>
                  </a:txBody>
                  <a:tcPr marL="73152" marR="73152" marT="45720" marB="45720" anchor="t">
                    <a:solidFill>
                      <a:srgbClr val="FFFFFF"/>
                    </a:solidFill>
                  </a:tcPr>
                </a:tc>
              </a:tr>
              <a:tr h="525780">
                <a:tc>
                  <a:txBody>
                    <a:bodyPr/>
                    <a:lstStyle/>
                    <a:p>
                      <a:pPr>
                        <a:lnSpc>
                          <a:spcPct val="95000"/>
                        </a:lnSpc>
                      </a:pPr>
                      <a:r>
                        <a:rPr sz="950" b="0">
                          <a:solidFill>
                            <a:srgbClr val="12263A"/>
                          </a:solidFill>
                          <a:latin typeface="Segoe UI"/>
                        </a:rPr>
                        <a:t>Settles &amp; Meeder (2016)
Half-life regression</a:t>
                      </a:r>
                    </a:p>
                  </a:txBody>
                  <a:tcPr marL="73152" marR="73152" marT="45720" marB="45720" anchor="t">
                    <a:solidFill>
                      <a:srgbClr val="F4F7F8"/>
                    </a:solidFill>
                  </a:tcPr>
                </a:tc>
                <a:tc>
                  <a:txBody>
                    <a:bodyPr/>
                    <a:lstStyle/>
                    <a:p>
                      <a:pPr>
                        <a:lnSpc>
                          <a:spcPct val="95000"/>
                        </a:lnSpc>
                      </a:pPr>
                      <a:r>
                        <a:rPr sz="950" b="0">
                          <a:solidFill>
                            <a:srgbClr val="12263A"/>
                          </a:solidFill>
                          <a:latin typeface="Segoe UI"/>
                        </a:rPr>
                        <a:t>Trainable spaced repetition from large-scale logs</a:t>
                      </a:r>
                    </a:p>
                  </a:txBody>
                  <a:tcPr marL="73152" marR="73152" marT="45720" marB="45720" anchor="t">
                    <a:solidFill>
                      <a:srgbClr val="F4F7F8"/>
                    </a:solidFill>
                  </a:tcPr>
                </a:tc>
                <a:tc>
                  <a:txBody>
                    <a:bodyPr/>
                    <a:lstStyle/>
                    <a:p>
                      <a:pPr>
                        <a:lnSpc>
                          <a:spcPct val="95000"/>
                        </a:lnSpc>
                      </a:pPr>
                      <a:r>
                        <a:rPr sz="950" b="0">
                          <a:solidFill>
                            <a:srgbClr val="12263A"/>
                          </a:solidFill>
                          <a:latin typeface="Segoe UI"/>
                        </a:rPr>
                        <a:t>Requires a large proprietary review corpus</a:t>
                      </a:r>
                    </a:p>
                  </a:txBody>
                  <a:tcPr marL="73152" marR="73152" marT="45720" marB="45720" anchor="t">
                    <a:solidFill>
                      <a:srgbClr val="F4F7F8"/>
                    </a:solidFill>
                  </a:tcPr>
                </a:tc>
                <a:tc>
                  <a:txBody>
                    <a:bodyPr/>
                    <a:lstStyle/>
                    <a:p>
                      <a:pPr>
                        <a:lnSpc>
                          <a:spcPct val="95000"/>
                        </a:lnSpc>
                      </a:pPr>
                      <a:r>
                        <a:rPr sz="950" b="0">
                          <a:solidFill>
                            <a:srgbClr val="12263A"/>
                          </a:solidFill>
                          <a:latin typeface="Segoe UI"/>
                        </a:rPr>
                        <a:t>Basis for weighting difficulty in the mastery signal</a:t>
                      </a:r>
                    </a:p>
                  </a:txBody>
                  <a:tcPr marL="73152" marR="73152" marT="45720" marB="45720" anchor="t">
                    <a:solidFill>
                      <a:srgbClr val="F4F7F8"/>
                    </a:solidFill>
                  </a:tcPr>
                </a:tc>
              </a:tr>
              <a:tr h="525780">
                <a:tc>
                  <a:txBody>
                    <a:bodyPr/>
                    <a:lstStyle/>
                    <a:p>
                      <a:pPr>
                        <a:lnSpc>
                          <a:spcPct val="95000"/>
                        </a:lnSpc>
                      </a:pPr>
                      <a:r>
                        <a:rPr sz="950" b="0">
                          <a:solidFill>
                            <a:srgbClr val="12263A"/>
                          </a:solidFill>
                          <a:latin typeface="Segoe UI"/>
                        </a:rPr>
                        <a:t>Ye, Su &amp; Cao (2022)
SSP-MMC</a:t>
                      </a:r>
                    </a:p>
                  </a:txBody>
                  <a:tcPr marL="73152" marR="73152" marT="45720" marB="45720" anchor="t">
                    <a:solidFill>
                      <a:srgbClr val="FFFFFF"/>
                    </a:solidFill>
                  </a:tcPr>
                </a:tc>
                <a:tc>
                  <a:txBody>
                    <a:bodyPr/>
                    <a:lstStyle/>
                    <a:p>
                      <a:pPr>
                        <a:lnSpc>
                          <a:spcPct val="95000"/>
                        </a:lnSpc>
                      </a:pPr>
                      <a:r>
                        <a:rPr sz="950" b="0">
                          <a:solidFill>
                            <a:srgbClr val="12263A"/>
                          </a:solidFill>
                          <a:latin typeface="Segoe UI"/>
                        </a:rPr>
                        <a:t>Spaced repetition as stochastic shortest path</a:t>
                      </a:r>
                    </a:p>
                  </a:txBody>
                  <a:tcPr marL="73152" marR="73152" marT="45720" marB="45720" anchor="t">
                    <a:solidFill>
                      <a:srgbClr val="FFFFFF"/>
                    </a:solidFill>
                  </a:tcPr>
                </a:tc>
                <a:tc>
                  <a:txBody>
                    <a:bodyPr/>
                    <a:lstStyle/>
                    <a:p>
                      <a:pPr>
                        <a:lnSpc>
                          <a:spcPct val="95000"/>
                        </a:lnSpc>
                      </a:pPr>
                      <a:r>
                        <a:rPr sz="950" b="0">
                          <a:solidFill>
                            <a:srgbClr val="12263A"/>
                          </a:solidFill>
                          <a:latin typeface="Segoe UI"/>
                        </a:rPr>
                        <a:t>Optimises cost, not content selection</a:t>
                      </a:r>
                    </a:p>
                  </a:txBody>
                  <a:tcPr marL="73152" marR="73152" marT="45720" marB="45720" anchor="t">
                    <a:solidFill>
                      <a:srgbClr val="FFFFFF"/>
                    </a:solidFill>
                  </a:tcPr>
                </a:tc>
                <a:tc>
                  <a:txBody>
                    <a:bodyPr/>
                    <a:lstStyle/>
                    <a:p>
                      <a:pPr>
                        <a:lnSpc>
                          <a:spcPct val="95000"/>
                        </a:lnSpc>
                      </a:pPr>
                      <a:r>
                        <a:rPr sz="950" b="0">
                          <a:solidFill>
                            <a:srgbClr val="12263A"/>
                          </a:solidFill>
                          <a:latin typeface="Segoe UI"/>
                        </a:rPr>
                        <a:t>Supports separating scheduling from selection</a:t>
                      </a:r>
                    </a:p>
                  </a:txBody>
                  <a:tcPr marL="73152" marR="73152" marT="45720" marB="45720" anchor="t">
                    <a:solidFill>
                      <a:srgbClr val="FFFFFF"/>
                    </a:solidFill>
                  </a:tcPr>
                </a:tc>
              </a:tr>
              <a:tr h="525780">
                <a:tc>
                  <a:txBody>
                    <a:bodyPr/>
                    <a:lstStyle/>
                    <a:p>
                      <a:pPr>
                        <a:lnSpc>
                          <a:spcPct val="95000"/>
                        </a:lnSpc>
                      </a:pPr>
                      <a:r>
                        <a:rPr sz="950" b="0">
                          <a:solidFill>
                            <a:srgbClr val="12263A"/>
                          </a:solidFill>
                          <a:latin typeface="Segoe UI"/>
                        </a:rPr>
                        <a:t>Su, Ye et al. (2023)
DSR memory model (FSRS)</a:t>
                      </a:r>
                    </a:p>
                  </a:txBody>
                  <a:tcPr marL="73152" marR="73152" marT="45720" marB="45720" anchor="t">
                    <a:solidFill>
                      <a:srgbClr val="F4F7F8"/>
                    </a:solidFill>
                  </a:tcPr>
                </a:tc>
                <a:tc>
                  <a:txBody>
                    <a:bodyPr/>
                    <a:lstStyle/>
                    <a:p>
                      <a:pPr>
                        <a:lnSpc>
                          <a:spcPct val="95000"/>
                        </a:lnSpc>
                      </a:pPr>
                      <a:r>
                        <a:rPr sz="950" b="0">
                          <a:solidFill>
                            <a:srgbClr val="12263A"/>
                          </a:solidFill>
                          <a:latin typeface="Segoe UI"/>
                        </a:rPr>
                        <a:t>Difficulty–Stability–Retrievability model of memory</a:t>
                      </a:r>
                    </a:p>
                  </a:txBody>
                  <a:tcPr marL="73152" marR="73152" marT="45720" marB="45720" anchor="t">
                    <a:solidFill>
                      <a:srgbClr val="F4F7F8"/>
                    </a:solidFill>
                  </a:tcPr>
                </a:tc>
                <a:tc>
                  <a:txBody>
                    <a:bodyPr/>
                    <a:lstStyle/>
                    <a:p>
                      <a:pPr>
                        <a:lnSpc>
                          <a:spcPct val="95000"/>
                        </a:lnSpc>
                      </a:pPr>
                      <a:r>
                        <a:rPr sz="950" b="0">
                          <a:solidFill>
                            <a:srgbClr val="12263A"/>
                          </a:solidFill>
                          <a:latin typeface="Segoe UI"/>
                        </a:rPr>
                        <a:t>Weights fitted on ~220M reviews, not per-user here</a:t>
                      </a:r>
                    </a:p>
                  </a:txBody>
                  <a:tcPr marL="73152" marR="73152" marT="45720" marB="45720" anchor="t">
                    <a:solidFill>
                      <a:srgbClr val="F4F7F8"/>
                    </a:solidFill>
                  </a:tcPr>
                </a:tc>
                <a:tc>
                  <a:txBody>
                    <a:bodyPr/>
                    <a:lstStyle/>
                    <a:p>
                      <a:pPr>
                        <a:lnSpc>
                          <a:spcPct val="95000"/>
                        </a:lnSpc>
                      </a:pPr>
                      <a:r>
                        <a:rPr sz="950" b="0">
                          <a:solidFill>
                            <a:srgbClr val="12263A"/>
                          </a:solidFill>
                          <a:latin typeface="Segoe UI"/>
                        </a:rPr>
                        <a:t>Implemented as the review scheduler (fsrs.py)</a:t>
                      </a:r>
                    </a:p>
                  </a:txBody>
                  <a:tcPr marL="73152" marR="73152" marT="45720" marB="45720" anchor="t">
                    <a:solidFill>
                      <a:srgbClr val="F4F7F8"/>
                    </a:solidFill>
                  </a:tcPr>
                </a:tc>
              </a:tr>
              <a:tr h="525780">
                <a:tc>
                  <a:txBody>
                    <a:bodyPr/>
                    <a:lstStyle/>
                    <a:p>
                      <a:pPr>
                        <a:lnSpc>
                          <a:spcPct val="95000"/>
                        </a:lnSpc>
                      </a:pPr>
                      <a:r>
                        <a:rPr sz="950" b="0">
                          <a:solidFill>
                            <a:srgbClr val="12263A"/>
                          </a:solidFill>
                          <a:latin typeface="Segoe UI"/>
                        </a:rPr>
                        <a:t>Kıyak et al. (2026)
AI-generated MCQ validity</a:t>
                      </a:r>
                    </a:p>
                  </a:txBody>
                  <a:tcPr marL="73152" marR="73152" marT="45720" marB="45720" anchor="t">
                    <a:solidFill>
                      <a:srgbClr val="FFFFFF"/>
                    </a:solidFill>
                  </a:tcPr>
                </a:tc>
                <a:tc>
                  <a:txBody>
                    <a:bodyPr/>
                    <a:lstStyle/>
                    <a:p>
                      <a:pPr>
                        <a:lnSpc>
                          <a:spcPct val="95000"/>
                        </a:lnSpc>
                      </a:pPr>
                      <a:r>
                        <a:rPr sz="950" b="0">
                          <a:solidFill>
                            <a:srgbClr val="12263A"/>
                          </a:solidFill>
                          <a:latin typeface="Segoe UI"/>
                        </a:rPr>
                        <a:t>Systematic review, 71 studies, 24 countries</a:t>
                      </a:r>
                    </a:p>
                  </a:txBody>
                  <a:tcPr marL="73152" marR="73152" marT="45720" marB="45720" anchor="t">
                    <a:solidFill>
                      <a:srgbClr val="FFFFFF"/>
                    </a:solidFill>
                  </a:tcPr>
                </a:tc>
                <a:tc>
                  <a:txBody>
                    <a:bodyPr/>
                    <a:lstStyle/>
                    <a:p>
                      <a:pPr>
                        <a:lnSpc>
                          <a:spcPct val="95000"/>
                        </a:lnSpc>
                      </a:pPr>
                      <a:r>
                        <a:rPr sz="950" b="0">
                          <a:solidFill>
                            <a:srgbClr val="12263A"/>
                          </a:solidFill>
                          <a:latin typeface="Segoe UI"/>
                        </a:rPr>
                        <a:t>Error rates 0.3%–45%; distractor quality often weak</a:t>
                      </a:r>
                    </a:p>
                  </a:txBody>
                  <a:tcPr marL="73152" marR="73152" marT="45720" marB="45720" anchor="t">
                    <a:solidFill>
                      <a:srgbClr val="FFFFFF"/>
                    </a:solidFill>
                  </a:tcPr>
                </a:tc>
                <a:tc>
                  <a:txBody>
                    <a:bodyPr/>
                    <a:lstStyle/>
                    <a:p>
                      <a:pPr>
                        <a:lnSpc>
                          <a:spcPct val="95000"/>
                        </a:lnSpc>
                      </a:pPr>
                      <a:r>
                        <a:rPr sz="950" b="0">
                          <a:solidFill>
                            <a:srgbClr val="12263A"/>
                          </a:solidFill>
                          <a:latin typeface="Segoe UI"/>
                        </a:rPr>
                        <a:t>Evidence base for a mandatory SME gate</a:t>
                      </a:r>
                    </a:p>
                  </a:txBody>
                  <a:tcPr marL="73152" marR="73152" marT="45720" marB="45720" anchor="t">
                    <a:solidFill>
                      <a:srgbClr val="FFFFFF"/>
                    </a:solidFill>
                  </a:tcPr>
                </a:tc>
              </a:tr>
            </a:tbl>
          </a:graphicData>
        </a:graphic>
      </p:graphicFrame>
      <p:sp>
        <p:nvSpPr>
          <p:cNvPr id="6" name="TextBox 5"/>
          <p:cNvSpPr txBox="1"/>
          <p:nvPr/>
        </p:nvSpPr>
        <p:spPr>
          <a:xfrm>
            <a:off x="640080" y="5961888"/>
            <a:ext cx="10911535" cy="365760"/>
          </a:xfrm>
          <a:prstGeom prst="rect">
            <a:avLst/>
          </a:prstGeom>
          <a:noFill/>
        </p:spPr>
        <p:txBody>
          <a:bodyPr wrap="square" lIns="0" rIns="0" tIns="0" bIns="0" anchor="t">
            <a:spAutoFit/>
          </a:bodyPr>
          <a:lstStyle/>
          <a:p>
            <a:pPr algn="l">
              <a:lnSpc>
                <a:spcPct val="100000"/>
              </a:lnSpc>
            </a:pPr>
            <a:r>
              <a:rPr sz="1000" b="0" i="1">
                <a:solidFill>
                  <a:srgbClr val="5A6B73"/>
                </a:solidFill>
                <a:latin typeface="Segoe UI"/>
              </a:rPr>
              <a:t>Full IEEE-style citations on the References slide. No claim on this slide is drawn from a source I have not read.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04 · POSITIONING</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Existing Systems vs Proposed System</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63040"/>
            <a:ext cx="5318607" cy="4343400"/>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64208"/>
            <a:ext cx="4769967" cy="274320"/>
          </a:xfrm>
          <a:prstGeom prst="rect">
            <a:avLst/>
          </a:prstGeom>
          <a:noFill/>
        </p:spPr>
        <p:txBody>
          <a:bodyPr wrap="square" lIns="0" rIns="0" tIns="0" bIns="0" anchor="t">
            <a:spAutoFit/>
          </a:bodyPr>
          <a:lstStyle/>
          <a:p>
            <a:pPr algn="l">
              <a:lnSpc>
                <a:spcPct val="100000"/>
              </a:lnSpc>
            </a:pPr>
            <a:r>
              <a:rPr sz="1100" b="1" i="0">
                <a:solidFill>
                  <a:srgbClr val="5A6B73"/>
                </a:solidFill>
                <a:latin typeface="Segoe UI Semibold"/>
              </a:rPr>
              <a:t>EXISTING PRACTICE</a:t>
            </a:r>
          </a:p>
        </p:txBody>
      </p:sp>
      <p:sp>
        <p:nvSpPr>
          <p:cNvPr id="7" name="TextBox 6"/>
          <p:cNvSpPr txBox="1"/>
          <p:nvPr/>
        </p:nvSpPr>
        <p:spPr>
          <a:xfrm>
            <a:off x="914400" y="2121408"/>
            <a:ext cx="274320" cy="274320"/>
          </a:xfrm>
          <a:prstGeom prst="rect">
            <a:avLst/>
          </a:prstGeom>
          <a:noFill/>
        </p:spPr>
        <p:txBody>
          <a:bodyPr wrap="square" lIns="0" rIns="0" tIns="0" bIns="0" anchor="t">
            <a:spAutoFit/>
          </a:bodyPr>
          <a:lstStyle/>
          <a:p>
            <a:pPr algn="l">
              <a:lnSpc>
                <a:spcPct val="100000"/>
              </a:lnSpc>
            </a:pPr>
            <a:r>
              <a:rPr sz="1300" b="1" i="0">
                <a:solidFill>
                  <a:srgbClr val="5A6B73"/>
                </a:solidFill>
                <a:latin typeface="Segoe UI"/>
              </a:rPr>
              <a:t>—</a:t>
            </a:r>
          </a:p>
        </p:txBody>
      </p:sp>
      <p:sp>
        <p:nvSpPr>
          <p:cNvPr id="8" name="TextBox 7"/>
          <p:cNvSpPr txBox="1"/>
          <p:nvPr/>
        </p:nvSpPr>
        <p:spPr>
          <a:xfrm>
            <a:off x="1261872" y="2121408"/>
            <a:ext cx="4404207" cy="45720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Static SOP training decks</a:t>
            </a:r>
          </a:p>
        </p:txBody>
      </p:sp>
      <p:sp>
        <p:nvSpPr>
          <p:cNvPr id="9" name="TextBox 8"/>
          <p:cNvSpPr txBox="1"/>
          <p:nvPr/>
        </p:nvSpPr>
        <p:spPr>
          <a:xfrm>
            <a:off x="914400" y="2688336"/>
            <a:ext cx="274320" cy="274320"/>
          </a:xfrm>
          <a:prstGeom prst="rect">
            <a:avLst/>
          </a:prstGeom>
          <a:noFill/>
        </p:spPr>
        <p:txBody>
          <a:bodyPr wrap="square" lIns="0" rIns="0" tIns="0" bIns="0" anchor="t">
            <a:spAutoFit/>
          </a:bodyPr>
          <a:lstStyle/>
          <a:p>
            <a:pPr algn="l">
              <a:lnSpc>
                <a:spcPct val="100000"/>
              </a:lnSpc>
            </a:pPr>
            <a:r>
              <a:rPr sz="1300" b="1" i="0">
                <a:solidFill>
                  <a:srgbClr val="5A6B73"/>
                </a:solidFill>
                <a:latin typeface="Segoe UI"/>
              </a:rPr>
              <a:t>—</a:t>
            </a:r>
          </a:p>
        </p:txBody>
      </p:sp>
      <p:sp>
        <p:nvSpPr>
          <p:cNvPr id="10" name="TextBox 9"/>
          <p:cNvSpPr txBox="1"/>
          <p:nvPr/>
        </p:nvSpPr>
        <p:spPr>
          <a:xfrm>
            <a:off x="1261872" y="2688336"/>
            <a:ext cx="4404207" cy="45720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Identical quiz for every learner</a:t>
            </a:r>
          </a:p>
        </p:txBody>
      </p:sp>
      <p:sp>
        <p:nvSpPr>
          <p:cNvPr id="11" name="TextBox 10"/>
          <p:cNvSpPr txBox="1"/>
          <p:nvPr/>
        </p:nvSpPr>
        <p:spPr>
          <a:xfrm>
            <a:off x="914400" y="3255263"/>
            <a:ext cx="274320" cy="274320"/>
          </a:xfrm>
          <a:prstGeom prst="rect">
            <a:avLst/>
          </a:prstGeom>
          <a:noFill/>
        </p:spPr>
        <p:txBody>
          <a:bodyPr wrap="square" lIns="0" rIns="0" tIns="0" bIns="0" anchor="t">
            <a:spAutoFit/>
          </a:bodyPr>
          <a:lstStyle/>
          <a:p>
            <a:pPr algn="l">
              <a:lnSpc>
                <a:spcPct val="100000"/>
              </a:lnSpc>
            </a:pPr>
            <a:r>
              <a:rPr sz="1300" b="1" i="0">
                <a:solidFill>
                  <a:srgbClr val="5A6B73"/>
                </a:solidFill>
                <a:latin typeface="Segoe UI"/>
              </a:rPr>
              <a:t>—</a:t>
            </a:r>
          </a:p>
        </p:txBody>
      </p:sp>
      <p:sp>
        <p:nvSpPr>
          <p:cNvPr id="12" name="TextBox 11"/>
          <p:cNvSpPr txBox="1"/>
          <p:nvPr/>
        </p:nvSpPr>
        <p:spPr>
          <a:xfrm>
            <a:off x="1261872" y="3255263"/>
            <a:ext cx="4404207" cy="45720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Little or no personalisation</a:t>
            </a:r>
          </a:p>
        </p:txBody>
      </p:sp>
      <p:sp>
        <p:nvSpPr>
          <p:cNvPr id="13" name="TextBox 12"/>
          <p:cNvSpPr txBox="1"/>
          <p:nvPr/>
        </p:nvSpPr>
        <p:spPr>
          <a:xfrm>
            <a:off x="914400" y="3822191"/>
            <a:ext cx="274320" cy="274320"/>
          </a:xfrm>
          <a:prstGeom prst="rect">
            <a:avLst/>
          </a:prstGeom>
          <a:noFill/>
        </p:spPr>
        <p:txBody>
          <a:bodyPr wrap="square" lIns="0" rIns="0" tIns="0" bIns="0" anchor="t">
            <a:spAutoFit/>
          </a:bodyPr>
          <a:lstStyle/>
          <a:p>
            <a:pPr algn="l">
              <a:lnSpc>
                <a:spcPct val="100000"/>
              </a:lnSpc>
            </a:pPr>
            <a:r>
              <a:rPr sz="1300" b="1" i="0">
                <a:solidFill>
                  <a:srgbClr val="5A6B73"/>
                </a:solidFill>
                <a:latin typeface="Segoe UI"/>
              </a:rPr>
              <a:t>—</a:t>
            </a:r>
          </a:p>
        </p:txBody>
      </p:sp>
      <p:sp>
        <p:nvSpPr>
          <p:cNvPr id="14" name="TextBox 13"/>
          <p:cNvSpPr txBox="1"/>
          <p:nvPr/>
        </p:nvSpPr>
        <p:spPr>
          <a:xfrm>
            <a:off x="1261872" y="3822191"/>
            <a:ext cx="4404207" cy="45720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Questions prepared manually</a:t>
            </a:r>
          </a:p>
        </p:txBody>
      </p:sp>
      <p:sp>
        <p:nvSpPr>
          <p:cNvPr id="15" name="TextBox 14"/>
          <p:cNvSpPr txBox="1"/>
          <p:nvPr/>
        </p:nvSpPr>
        <p:spPr>
          <a:xfrm>
            <a:off x="914400" y="4389120"/>
            <a:ext cx="274320" cy="274320"/>
          </a:xfrm>
          <a:prstGeom prst="rect">
            <a:avLst/>
          </a:prstGeom>
          <a:noFill/>
        </p:spPr>
        <p:txBody>
          <a:bodyPr wrap="square" lIns="0" rIns="0" tIns="0" bIns="0" anchor="t">
            <a:spAutoFit/>
          </a:bodyPr>
          <a:lstStyle/>
          <a:p>
            <a:pPr algn="l">
              <a:lnSpc>
                <a:spcPct val="100000"/>
              </a:lnSpc>
            </a:pPr>
            <a:r>
              <a:rPr sz="1300" b="1" i="0">
                <a:solidFill>
                  <a:srgbClr val="5A6B73"/>
                </a:solidFill>
                <a:latin typeface="Segoe UI"/>
              </a:rPr>
              <a:t>—</a:t>
            </a:r>
          </a:p>
        </p:txBody>
      </p:sp>
      <p:sp>
        <p:nvSpPr>
          <p:cNvPr id="16" name="TextBox 15"/>
          <p:cNvSpPr txBox="1"/>
          <p:nvPr/>
        </p:nvSpPr>
        <p:spPr>
          <a:xfrm>
            <a:off x="1261872" y="4389120"/>
            <a:ext cx="4404207" cy="45720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Retraining not tied to measured performance</a:t>
            </a:r>
          </a:p>
        </p:txBody>
      </p:sp>
      <p:sp>
        <p:nvSpPr>
          <p:cNvPr id="17" name="TextBox 16"/>
          <p:cNvSpPr txBox="1"/>
          <p:nvPr/>
        </p:nvSpPr>
        <p:spPr>
          <a:xfrm>
            <a:off x="914400" y="4956048"/>
            <a:ext cx="274320" cy="274320"/>
          </a:xfrm>
          <a:prstGeom prst="rect">
            <a:avLst/>
          </a:prstGeom>
          <a:noFill/>
        </p:spPr>
        <p:txBody>
          <a:bodyPr wrap="square" lIns="0" rIns="0" tIns="0" bIns="0" anchor="t">
            <a:spAutoFit/>
          </a:bodyPr>
          <a:lstStyle/>
          <a:p>
            <a:pPr algn="l">
              <a:lnSpc>
                <a:spcPct val="100000"/>
              </a:lnSpc>
            </a:pPr>
            <a:r>
              <a:rPr sz="1300" b="1" i="0">
                <a:solidFill>
                  <a:srgbClr val="5A6B73"/>
                </a:solidFill>
                <a:latin typeface="Segoe UI"/>
              </a:rPr>
              <a:t>—</a:t>
            </a:r>
          </a:p>
        </p:txBody>
      </p:sp>
      <p:sp>
        <p:nvSpPr>
          <p:cNvPr id="18" name="TextBox 17"/>
          <p:cNvSpPr txBox="1"/>
          <p:nvPr/>
        </p:nvSpPr>
        <p:spPr>
          <a:xfrm>
            <a:off x="1261872" y="4956048"/>
            <a:ext cx="4404207" cy="45720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Limited explanation of what to study next</a:t>
            </a:r>
          </a:p>
        </p:txBody>
      </p:sp>
      <p:sp>
        <p:nvSpPr>
          <p:cNvPr id="19" name="Rounded Rectangle 18"/>
          <p:cNvSpPr/>
          <p:nvPr/>
        </p:nvSpPr>
        <p:spPr>
          <a:xfrm>
            <a:off x="6233007" y="1463040"/>
            <a:ext cx="5318607" cy="4343400"/>
          </a:xfrm>
          <a:prstGeom prst="roundRect">
            <a:avLst>
              <a:gd name="adj" fmla="val 3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7327" y="1664208"/>
            <a:ext cx="4769967" cy="274320"/>
          </a:xfrm>
          <a:prstGeom prst="rect">
            <a:avLst/>
          </a:prstGeom>
          <a:noFill/>
        </p:spPr>
        <p:txBody>
          <a:bodyPr wrap="square" lIns="0" rIns="0" tIns="0" bIns="0" anchor="t">
            <a:spAutoFit/>
          </a:bodyPr>
          <a:lstStyle/>
          <a:p>
            <a:pPr algn="l">
              <a:lnSpc>
                <a:spcPct val="100000"/>
              </a:lnSpc>
            </a:pPr>
            <a:r>
              <a:rPr sz="1100" b="1" i="0">
                <a:solidFill>
                  <a:srgbClr val="0E6E6E"/>
                </a:solidFill>
                <a:latin typeface="Segoe UI Semibold"/>
              </a:rPr>
              <a:t>PROPOSED SYSTEM</a:t>
            </a:r>
          </a:p>
        </p:txBody>
      </p:sp>
      <p:sp>
        <p:nvSpPr>
          <p:cNvPr id="21" name="TextBox 20"/>
          <p:cNvSpPr txBox="1"/>
          <p:nvPr/>
        </p:nvSpPr>
        <p:spPr>
          <a:xfrm>
            <a:off x="6507327" y="2121408"/>
            <a:ext cx="274320" cy="274320"/>
          </a:xfrm>
          <a:prstGeom prst="rect">
            <a:avLst/>
          </a:prstGeom>
          <a:noFill/>
        </p:spPr>
        <p:txBody>
          <a:bodyPr wrap="square" lIns="0" rIns="0" tIns="0" bIns="0" anchor="t">
            <a:spAutoFit/>
          </a:bodyPr>
          <a:lstStyle/>
          <a:p>
            <a:pPr algn="l">
              <a:lnSpc>
                <a:spcPct val="100000"/>
              </a:lnSpc>
            </a:pPr>
            <a:r>
              <a:rPr sz="1300" b="1" i="0">
                <a:solidFill>
                  <a:srgbClr val="0E6E6E"/>
                </a:solidFill>
                <a:latin typeface="Segoe UI"/>
              </a:rPr>
              <a:t>✓</a:t>
            </a:r>
          </a:p>
        </p:txBody>
      </p:sp>
      <p:sp>
        <p:nvSpPr>
          <p:cNvPr id="22" name="TextBox 21"/>
          <p:cNvSpPr txBox="1"/>
          <p:nvPr/>
        </p:nvSpPr>
        <p:spPr>
          <a:xfrm>
            <a:off x="6854799" y="2121408"/>
            <a:ext cx="4404207" cy="45720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Questions generated from specific SOP sections</a:t>
            </a:r>
          </a:p>
        </p:txBody>
      </p:sp>
      <p:sp>
        <p:nvSpPr>
          <p:cNvPr id="23" name="TextBox 22"/>
          <p:cNvSpPr txBox="1"/>
          <p:nvPr/>
        </p:nvSpPr>
        <p:spPr>
          <a:xfrm>
            <a:off x="6507327" y="2688336"/>
            <a:ext cx="274320" cy="274320"/>
          </a:xfrm>
          <a:prstGeom prst="rect">
            <a:avLst/>
          </a:prstGeom>
          <a:noFill/>
        </p:spPr>
        <p:txBody>
          <a:bodyPr wrap="square" lIns="0" rIns="0" tIns="0" bIns="0" anchor="t">
            <a:spAutoFit/>
          </a:bodyPr>
          <a:lstStyle/>
          <a:p>
            <a:pPr algn="l">
              <a:lnSpc>
                <a:spcPct val="100000"/>
              </a:lnSpc>
            </a:pPr>
            <a:r>
              <a:rPr sz="1300" b="1" i="0">
                <a:solidFill>
                  <a:srgbClr val="0E6E6E"/>
                </a:solidFill>
                <a:latin typeface="Segoe UI"/>
              </a:rPr>
              <a:t>✓</a:t>
            </a:r>
          </a:p>
        </p:txBody>
      </p:sp>
      <p:sp>
        <p:nvSpPr>
          <p:cNvPr id="24" name="TextBox 23"/>
          <p:cNvSpPr txBox="1"/>
          <p:nvPr/>
        </p:nvSpPr>
        <p:spPr>
          <a:xfrm>
            <a:off x="6854799" y="2688336"/>
            <a:ext cx="4404207" cy="45720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Mandatory SME approval + e-signature</a:t>
            </a:r>
          </a:p>
        </p:txBody>
      </p:sp>
      <p:sp>
        <p:nvSpPr>
          <p:cNvPr id="25" name="TextBox 24"/>
          <p:cNvSpPr txBox="1"/>
          <p:nvPr/>
        </p:nvSpPr>
        <p:spPr>
          <a:xfrm>
            <a:off x="6507327" y="3255263"/>
            <a:ext cx="274320" cy="274320"/>
          </a:xfrm>
          <a:prstGeom prst="rect">
            <a:avLst/>
          </a:prstGeom>
          <a:noFill/>
        </p:spPr>
        <p:txBody>
          <a:bodyPr wrap="square" lIns="0" rIns="0" tIns="0" bIns="0" anchor="t">
            <a:spAutoFit/>
          </a:bodyPr>
          <a:lstStyle/>
          <a:p>
            <a:pPr algn="l">
              <a:lnSpc>
                <a:spcPct val="100000"/>
              </a:lnSpc>
            </a:pPr>
            <a:r>
              <a:rPr sz="1300" b="1" i="0">
                <a:solidFill>
                  <a:srgbClr val="0E6E6E"/>
                </a:solidFill>
                <a:latin typeface="Segoe UI"/>
              </a:rPr>
              <a:t>✓</a:t>
            </a:r>
          </a:p>
        </p:txBody>
      </p:sp>
      <p:sp>
        <p:nvSpPr>
          <p:cNvPr id="26" name="TextBox 25"/>
          <p:cNvSpPr txBox="1"/>
          <p:nvPr/>
        </p:nvSpPr>
        <p:spPr>
          <a:xfrm>
            <a:off x="6854799" y="3255263"/>
            <a:ext cx="4404207" cy="45720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Per-learner, per-section performance tracking</a:t>
            </a:r>
          </a:p>
        </p:txBody>
      </p:sp>
      <p:sp>
        <p:nvSpPr>
          <p:cNvPr id="27" name="TextBox 26"/>
          <p:cNvSpPr txBox="1"/>
          <p:nvPr/>
        </p:nvSpPr>
        <p:spPr>
          <a:xfrm>
            <a:off x="6507327" y="3822191"/>
            <a:ext cx="274320" cy="274320"/>
          </a:xfrm>
          <a:prstGeom prst="rect">
            <a:avLst/>
          </a:prstGeom>
          <a:noFill/>
        </p:spPr>
        <p:txBody>
          <a:bodyPr wrap="square" lIns="0" rIns="0" tIns="0" bIns="0" anchor="t">
            <a:spAutoFit/>
          </a:bodyPr>
          <a:lstStyle/>
          <a:p>
            <a:pPr algn="l">
              <a:lnSpc>
                <a:spcPct val="100000"/>
              </a:lnSpc>
            </a:pPr>
            <a:r>
              <a:rPr sz="1300" b="1" i="0">
                <a:solidFill>
                  <a:srgbClr val="0E6E6E"/>
                </a:solidFill>
                <a:latin typeface="Segoe UI"/>
              </a:rPr>
              <a:t>✓</a:t>
            </a:r>
          </a:p>
        </p:txBody>
      </p:sp>
      <p:sp>
        <p:nvSpPr>
          <p:cNvPr id="28" name="TextBox 27"/>
          <p:cNvSpPr txBox="1"/>
          <p:nvPr/>
        </p:nvSpPr>
        <p:spPr>
          <a:xfrm>
            <a:off x="6854799" y="3822191"/>
            <a:ext cx="4404207" cy="45720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Adaptive selection of weak content only</a:t>
            </a:r>
          </a:p>
        </p:txBody>
      </p:sp>
      <p:sp>
        <p:nvSpPr>
          <p:cNvPr id="29" name="TextBox 28"/>
          <p:cNvSpPr txBox="1"/>
          <p:nvPr/>
        </p:nvSpPr>
        <p:spPr>
          <a:xfrm>
            <a:off x="6507327" y="4389120"/>
            <a:ext cx="274320" cy="274320"/>
          </a:xfrm>
          <a:prstGeom prst="rect">
            <a:avLst/>
          </a:prstGeom>
          <a:noFill/>
        </p:spPr>
        <p:txBody>
          <a:bodyPr wrap="square" lIns="0" rIns="0" tIns="0" bIns="0" anchor="t">
            <a:spAutoFit/>
          </a:bodyPr>
          <a:lstStyle/>
          <a:p>
            <a:pPr algn="l">
              <a:lnSpc>
                <a:spcPct val="100000"/>
              </a:lnSpc>
            </a:pPr>
            <a:r>
              <a:rPr sz="1300" b="1" i="0">
                <a:solidFill>
                  <a:srgbClr val="0E6E6E"/>
                </a:solidFill>
                <a:latin typeface="Segoe UI"/>
              </a:rPr>
              <a:t>✓</a:t>
            </a:r>
          </a:p>
        </p:txBody>
      </p:sp>
      <p:sp>
        <p:nvSpPr>
          <p:cNvPr id="30" name="TextBox 29"/>
          <p:cNvSpPr txBox="1"/>
          <p:nvPr/>
        </p:nvSpPr>
        <p:spPr>
          <a:xfrm>
            <a:off x="6854799" y="4389120"/>
            <a:ext cx="4404207" cy="45720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FSRS-scheduled review timing</a:t>
            </a:r>
          </a:p>
        </p:txBody>
      </p:sp>
      <p:sp>
        <p:nvSpPr>
          <p:cNvPr id="31" name="TextBox 30"/>
          <p:cNvSpPr txBox="1"/>
          <p:nvPr/>
        </p:nvSpPr>
        <p:spPr>
          <a:xfrm>
            <a:off x="6507327" y="4956048"/>
            <a:ext cx="274320" cy="274320"/>
          </a:xfrm>
          <a:prstGeom prst="rect">
            <a:avLst/>
          </a:prstGeom>
          <a:noFill/>
        </p:spPr>
        <p:txBody>
          <a:bodyPr wrap="square" lIns="0" rIns="0" tIns="0" bIns="0" anchor="t">
            <a:spAutoFit/>
          </a:bodyPr>
          <a:lstStyle/>
          <a:p>
            <a:pPr algn="l">
              <a:lnSpc>
                <a:spcPct val="100000"/>
              </a:lnSpc>
            </a:pPr>
            <a:r>
              <a:rPr sz="1300" b="1" i="0">
                <a:solidFill>
                  <a:srgbClr val="0E6E6E"/>
                </a:solidFill>
                <a:latin typeface="Segoe UI"/>
              </a:rPr>
              <a:t>✓</a:t>
            </a:r>
          </a:p>
        </p:txBody>
      </p:sp>
      <p:sp>
        <p:nvSpPr>
          <p:cNvPr id="32" name="TextBox 31"/>
          <p:cNvSpPr txBox="1"/>
          <p:nvPr/>
        </p:nvSpPr>
        <p:spPr>
          <a:xfrm>
            <a:off x="6854799" y="4956048"/>
            <a:ext cx="4404207" cy="45720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Every recommendation states its evidence</a:t>
            </a:r>
          </a:p>
        </p:txBody>
      </p:sp>
      <p:sp>
        <p:nvSpPr>
          <p:cNvPr id="33" name="Rounded Rectangle 32"/>
          <p:cNvSpPr/>
          <p:nvPr/>
        </p:nvSpPr>
        <p:spPr>
          <a:xfrm>
            <a:off x="640080" y="5943600"/>
            <a:ext cx="10911535" cy="566928"/>
          </a:xfrm>
          <a:prstGeom prst="roundRect">
            <a:avLst>
              <a:gd name="adj" fmla="val 3000"/>
            </a:avLst>
          </a:prstGeom>
          <a:solidFill>
            <a:srgbClr val="E8EFF3"/>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6062472"/>
            <a:ext cx="10362895" cy="365760"/>
          </a:xfrm>
          <a:prstGeom prst="rect">
            <a:avLst/>
          </a:prstGeom>
          <a:noFill/>
        </p:spPr>
        <p:txBody>
          <a:bodyPr wrap="square" lIns="0" rIns="0" tIns="0" bIns="0" anchor="t">
            <a:spAutoFit/>
          </a:bodyPr>
          <a:lstStyle/>
          <a:p>
            <a:pPr algn="l">
              <a:lnSpc>
                <a:spcPct val="100000"/>
              </a:lnSpc>
            </a:pPr>
            <a:r>
              <a:rPr sz="1250" b="1" i="0">
                <a:solidFill>
                  <a:srgbClr val="1F5673"/>
                </a:solidFill>
                <a:latin typeface="Segoe UI"/>
              </a:rPr>
              <a:t>Key shift:  the unit of adaptation is the SOP section, not the document — so an answer is evidence about a passage.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05 · DESIGN</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System Architecture</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993392" cy="713232"/>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0">
                <a:solidFill>
                  <a:srgbClr val="12263A"/>
                </a:solidFill>
                <a:latin typeface="Segoe UI"/>
              </a:rPr>
              <a:t>SOP Documents</a:t>
            </a:r>
          </a:p>
          <a:p>
            <a:pPr algn="ctr">
              <a:lnSpc>
                <a:spcPct val="92000"/>
              </a:lnSpc>
            </a:pPr>
            <a:r>
              <a:rPr sz="1050" b="0">
                <a:solidFill>
                  <a:srgbClr val="12263A"/>
                </a:solidFill>
                <a:latin typeface="Segoe UI"/>
              </a:rPr>
              <a:t>PDF / DOCX / TXT</a:t>
            </a:r>
          </a:p>
        </p:txBody>
      </p:sp>
      <p:cxnSp>
        <p:nvCxnSpPr>
          <p:cNvPr id="6" name="Connector 5"/>
          <p:cNvCxnSpPr/>
          <p:nvPr/>
        </p:nvCxnSpPr>
        <p:spPr>
          <a:xfrm>
            <a:off x="2660903" y="1773936"/>
            <a:ext cx="182881"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71216" y="1417320"/>
            <a:ext cx="1993392" cy="713232"/>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0">
                <a:solidFill>
                  <a:srgbClr val="12263A"/>
                </a:solidFill>
                <a:latin typeface="Segoe UI"/>
              </a:rPr>
              <a:t>Document Processing</a:t>
            </a:r>
          </a:p>
          <a:p>
            <a:pPr algn="ctr">
              <a:lnSpc>
                <a:spcPct val="92000"/>
              </a:lnSpc>
            </a:pPr>
            <a:r>
              <a:rPr sz="1050" b="0">
                <a:solidFill>
                  <a:srgbClr val="12263A"/>
                </a:solidFill>
                <a:latin typeface="Segoe UI"/>
              </a:rPr>
              <a:t>Extraction + Chunking</a:t>
            </a:r>
          </a:p>
        </p:txBody>
      </p:sp>
      <p:cxnSp>
        <p:nvCxnSpPr>
          <p:cNvPr id="8" name="Connector 7"/>
          <p:cNvCxnSpPr/>
          <p:nvPr/>
        </p:nvCxnSpPr>
        <p:spPr>
          <a:xfrm>
            <a:off x="4892040" y="1773936"/>
            <a:ext cx="182880"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102352" y="1417320"/>
            <a:ext cx="1993392" cy="713232"/>
          </a:xfrm>
          <a:prstGeom prst="roundRect">
            <a:avLst>
              <a:gd name="adj" fmla="val 8000"/>
            </a:avLst>
          </a:prstGeom>
          <a:solidFill>
            <a:srgbClr val="E8EFF3"/>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1">
                <a:solidFill>
                  <a:srgbClr val="12263A"/>
                </a:solidFill>
                <a:latin typeface="Segoe UI"/>
              </a:rPr>
              <a:t>AI Question Engine</a:t>
            </a:r>
          </a:p>
          <a:p>
            <a:pPr algn="ctr">
              <a:lnSpc>
                <a:spcPct val="92000"/>
              </a:lnSpc>
            </a:pPr>
            <a:r>
              <a:rPr sz="1050" b="1">
                <a:solidFill>
                  <a:srgbClr val="12263A"/>
                </a:solidFill>
                <a:latin typeface="Segoe UI"/>
              </a:rPr>
              <a:t>NVIDIA NIM (LLM)</a:t>
            </a:r>
          </a:p>
        </p:txBody>
      </p:sp>
      <p:cxnSp>
        <p:nvCxnSpPr>
          <p:cNvPr id="10" name="Connector 9"/>
          <p:cNvCxnSpPr/>
          <p:nvPr/>
        </p:nvCxnSpPr>
        <p:spPr>
          <a:xfrm>
            <a:off x="7123176" y="1773936"/>
            <a:ext cx="182880"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333488" y="1417320"/>
            <a:ext cx="1993392" cy="713232"/>
          </a:xfrm>
          <a:prstGeom prst="roundRect">
            <a:avLst>
              <a:gd name="adj" fmla="val 8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1">
                <a:solidFill>
                  <a:srgbClr val="12263A"/>
                </a:solidFill>
                <a:latin typeface="Segoe UI"/>
              </a:rPr>
              <a:t>SME Review</a:t>
            </a:r>
          </a:p>
          <a:p>
            <a:pPr algn="ctr">
              <a:lnSpc>
                <a:spcPct val="92000"/>
              </a:lnSpc>
            </a:pPr>
            <a:r>
              <a:rPr sz="1050" b="1">
                <a:solidFill>
                  <a:srgbClr val="12263A"/>
                </a:solidFill>
                <a:latin typeface="Segoe UI"/>
              </a:rPr>
              <a:t>+ E-Signature</a:t>
            </a:r>
          </a:p>
        </p:txBody>
      </p:sp>
      <p:cxnSp>
        <p:nvCxnSpPr>
          <p:cNvPr id="12" name="Connector 11"/>
          <p:cNvCxnSpPr/>
          <p:nvPr/>
        </p:nvCxnSpPr>
        <p:spPr>
          <a:xfrm>
            <a:off x="9354312" y="1773936"/>
            <a:ext cx="182880"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64624" y="1417320"/>
            <a:ext cx="1993392" cy="713232"/>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0">
                <a:solidFill>
                  <a:srgbClr val="12263A"/>
                </a:solidFill>
                <a:latin typeface="Segoe UI"/>
              </a:rPr>
              <a:t>Approved Question DB</a:t>
            </a:r>
          </a:p>
        </p:txBody>
      </p:sp>
      <p:sp>
        <p:nvSpPr>
          <p:cNvPr id="14" name="Rounded Rectangle 13"/>
          <p:cNvSpPr/>
          <p:nvPr/>
        </p:nvSpPr>
        <p:spPr>
          <a:xfrm>
            <a:off x="4800600" y="2670048"/>
            <a:ext cx="2560320" cy="640080"/>
          </a:xfrm>
          <a:prstGeom prst="roundRect">
            <a:avLst>
              <a:gd name="adj" fmla="val 8000"/>
            </a:avLst>
          </a:prstGeom>
          <a:solidFill>
            <a:srgbClr val="FFFFFF"/>
          </a:solidFill>
          <a:ln w="12700">
            <a:solidFill>
              <a:srgbClr val="1226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200" b="1">
                <a:solidFill>
                  <a:srgbClr val="12263A"/>
                </a:solidFill>
                <a:latin typeface="Segoe UI"/>
              </a:rPr>
              <a:t>Learner Assessment</a:t>
            </a:r>
          </a:p>
        </p:txBody>
      </p:sp>
      <p:cxnSp>
        <p:nvCxnSpPr>
          <p:cNvPr id="15" name="Connector 14"/>
          <p:cNvCxnSpPr/>
          <p:nvPr/>
        </p:nvCxnSpPr>
        <p:spPr>
          <a:xfrm>
            <a:off x="10561319" y="2148840"/>
            <a:ext cx="0" cy="246888"/>
          </a:xfrm>
          <a:prstGeom prst="line">
            <a:avLst/>
          </a:prstGeom>
          <a:ln w="19050">
            <a:solidFill>
              <a:srgbClr val="0E6E6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6080760" y="2395728"/>
            <a:ext cx="4480559" cy="0"/>
          </a:xfrm>
          <a:prstGeom prst="line">
            <a:avLst/>
          </a:prstGeom>
          <a:ln w="19050">
            <a:solidFill>
              <a:srgbClr val="0E6E6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080760" y="2395728"/>
            <a:ext cx="0" cy="256032"/>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057400" y="3767328"/>
            <a:ext cx="3200400" cy="841248"/>
          </a:xfrm>
          <a:prstGeom prst="roundRect">
            <a:avLst>
              <a:gd name="adj" fmla="val 8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50" b="1">
                <a:solidFill>
                  <a:srgbClr val="12263A"/>
                </a:solidFill>
                <a:latin typeface="Segoe UI"/>
              </a:rPr>
              <a:t>Adaptive Learning Engine</a:t>
            </a:r>
          </a:p>
          <a:p>
            <a:pPr algn="ctr">
              <a:lnSpc>
                <a:spcPct val="92000"/>
              </a:lnSpc>
            </a:pPr>
            <a:r>
              <a:rPr sz="1150" b="1">
                <a:solidFill>
                  <a:srgbClr val="12263A"/>
                </a:solidFill>
                <a:latin typeface="Segoe UI"/>
              </a:rPr>
              <a:t>WHAT to train  ·  adaptive.py</a:t>
            </a:r>
          </a:p>
        </p:txBody>
      </p:sp>
      <p:sp>
        <p:nvSpPr>
          <p:cNvPr id="19" name="Rounded Rectangle 18"/>
          <p:cNvSpPr/>
          <p:nvPr/>
        </p:nvSpPr>
        <p:spPr>
          <a:xfrm>
            <a:off x="6949440" y="3767328"/>
            <a:ext cx="3200400" cy="841248"/>
          </a:xfrm>
          <a:prstGeom prst="roundRect">
            <a:avLst>
              <a:gd name="adj" fmla="val 8000"/>
            </a:avLst>
          </a:prstGeom>
          <a:solidFill>
            <a:srgbClr val="E8EFF3"/>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50" b="1">
                <a:solidFill>
                  <a:srgbClr val="12263A"/>
                </a:solidFill>
                <a:latin typeface="Segoe UI"/>
              </a:rPr>
              <a:t>FSRS Scheduling</a:t>
            </a:r>
          </a:p>
          <a:p>
            <a:pPr algn="ctr">
              <a:lnSpc>
                <a:spcPct val="92000"/>
              </a:lnSpc>
            </a:pPr>
            <a:r>
              <a:rPr sz="1150" b="1">
                <a:solidFill>
                  <a:srgbClr val="12263A"/>
                </a:solidFill>
                <a:latin typeface="Segoe UI"/>
              </a:rPr>
              <a:t>WHEN to review  ·  fsrs.py</a:t>
            </a:r>
          </a:p>
        </p:txBody>
      </p:sp>
      <p:cxnSp>
        <p:nvCxnSpPr>
          <p:cNvPr id="20" name="Connector 19"/>
          <p:cNvCxnSpPr/>
          <p:nvPr/>
        </p:nvCxnSpPr>
        <p:spPr>
          <a:xfrm flipH="1">
            <a:off x="3657600" y="3310128"/>
            <a:ext cx="2103120" cy="429768"/>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00800" y="3310128"/>
            <a:ext cx="2148840" cy="429768"/>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886200" y="5166360"/>
            <a:ext cx="4389120" cy="658368"/>
          </a:xfrm>
          <a:prstGeom prst="roundRect">
            <a:avLst>
              <a:gd name="adj" fmla="val 8000"/>
            </a:avLst>
          </a:prstGeom>
          <a:solidFill>
            <a:srgbClr val="FFFFFF"/>
          </a:solidFill>
          <a:ln w="12700">
            <a:solidFill>
              <a:srgbClr val="1226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200" b="1">
                <a:solidFill>
                  <a:srgbClr val="12263A"/>
                </a:solidFill>
                <a:latin typeface="Segoe UI"/>
              </a:rPr>
              <a:t>Targeted Retraining</a:t>
            </a:r>
          </a:p>
        </p:txBody>
      </p:sp>
      <p:cxnSp>
        <p:nvCxnSpPr>
          <p:cNvPr id="23" name="Connector 22"/>
          <p:cNvCxnSpPr/>
          <p:nvPr/>
        </p:nvCxnSpPr>
        <p:spPr>
          <a:xfrm>
            <a:off x="3657600" y="4608576"/>
            <a:ext cx="1920240" cy="530352"/>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629400" y="4608576"/>
            <a:ext cx="1920240" cy="530352"/>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418319" y="5166360"/>
            <a:ext cx="2103120" cy="658368"/>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50" b="0">
                <a:solidFill>
                  <a:srgbClr val="12263A"/>
                </a:solidFill>
                <a:latin typeface="Segoe UI"/>
              </a:rPr>
              <a:t>Reassessment</a:t>
            </a:r>
          </a:p>
        </p:txBody>
      </p:sp>
      <p:cxnSp>
        <p:nvCxnSpPr>
          <p:cNvPr id="26" name="Connector 25"/>
          <p:cNvCxnSpPr/>
          <p:nvPr/>
        </p:nvCxnSpPr>
        <p:spPr>
          <a:xfrm>
            <a:off x="8321040" y="5495544"/>
            <a:ext cx="1051560"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469880" y="5824728"/>
            <a:ext cx="0" cy="466344"/>
          </a:xfrm>
          <a:prstGeom prst="line">
            <a:avLst/>
          </a:prstGeom>
          <a:ln w="15875">
            <a:solidFill>
              <a:srgbClr val="5A6B73"/>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1051560" y="6291072"/>
            <a:ext cx="9418320" cy="0"/>
          </a:xfrm>
          <a:prstGeom prst="line">
            <a:avLst/>
          </a:prstGeom>
          <a:ln w="15875">
            <a:solidFill>
              <a:srgbClr val="5A6B7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051560" y="2990088"/>
            <a:ext cx="0" cy="3300984"/>
          </a:xfrm>
          <a:prstGeom prst="line">
            <a:avLst/>
          </a:prstGeom>
          <a:ln w="15875">
            <a:solidFill>
              <a:srgbClr val="5A6B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51560" y="2990088"/>
            <a:ext cx="3703320" cy="0"/>
          </a:xfrm>
          <a:prstGeom prst="line">
            <a:avLst/>
          </a:prstGeom>
          <a:ln w="15875">
            <a:solidFill>
              <a:srgbClr val="5A6B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89120" y="6345936"/>
            <a:ext cx="3657600" cy="228600"/>
          </a:xfrm>
          <a:prstGeom prst="rect">
            <a:avLst/>
          </a:prstGeom>
          <a:noFill/>
        </p:spPr>
        <p:txBody>
          <a:bodyPr wrap="square" lIns="0" rIns="0" tIns="0" bIns="0" anchor="t">
            <a:spAutoFit/>
          </a:bodyPr>
          <a:lstStyle/>
          <a:p>
            <a:pPr algn="ctr">
              <a:lnSpc>
                <a:spcPct val="100000"/>
              </a:lnSpc>
            </a:pPr>
            <a:r>
              <a:rPr sz="950" b="0" i="1">
                <a:solidFill>
                  <a:srgbClr val="5A6B73"/>
                </a:solidFill>
                <a:latin typeface="Segoe UI"/>
              </a:rPr>
              <a:t>feedback loop — each cycle re-measures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06 · PROCESS</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Methodology</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517904"/>
            <a:ext cx="457200" cy="457200"/>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Semibold"/>
              </a:rPr>
              <a:t>1</a:t>
            </a:r>
          </a:p>
        </p:txBody>
      </p:sp>
      <p:sp>
        <p:nvSpPr>
          <p:cNvPr id="6" name="Rectangle 5"/>
          <p:cNvSpPr/>
          <p:nvPr/>
        </p:nvSpPr>
        <p:spPr>
          <a:xfrm>
            <a:off x="854964" y="1993392"/>
            <a:ext cx="27432" cy="292608"/>
          </a:xfrm>
          <a:prstGeom prst="rect">
            <a:avLst/>
          </a:prstGeom>
          <a:solidFill>
            <a:srgbClr val="D6E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53312" y="1536192"/>
            <a:ext cx="3108960" cy="274320"/>
          </a:xfrm>
          <a:prstGeom prst="rect">
            <a:avLst/>
          </a:prstGeom>
          <a:noFill/>
        </p:spPr>
        <p:txBody>
          <a:bodyPr wrap="square" lIns="0" rIns="0" tIns="0" bIns="0" anchor="t">
            <a:spAutoFit/>
          </a:bodyPr>
          <a:lstStyle/>
          <a:p>
            <a:pPr algn="l">
              <a:lnSpc>
                <a:spcPct val="100000"/>
              </a:lnSpc>
            </a:pPr>
            <a:r>
              <a:rPr sz="1400" b="1" i="0">
                <a:solidFill>
                  <a:srgbClr val="12263A"/>
                </a:solidFill>
                <a:latin typeface="Segoe UI"/>
              </a:rPr>
              <a:t>SOP Ingestion</a:t>
            </a:r>
          </a:p>
        </p:txBody>
      </p:sp>
      <p:sp>
        <p:nvSpPr>
          <p:cNvPr id="8" name="TextBox 7"/>
          <p:cNvSpPr txBox="1"/>
          <p:nvPr/>
        </p:nvSpPr>
        <p:spPr>
          <a:xfrm>
            <a:off x="4617720" y="1563624"/>
            <a:ext cx="6933895" cy="457200"/>
          </a:xfrm>
          <a:prstGeom prst="rect">
            <a:avLst/>
          </a:prstGeom>
          <a:noFill/>
        </p:spPr>
        <p:txBody>
          <a:bodyPr wrap="square" lIns="0" rIns="0" tIns="0" bIns="0" anchor="t">
            <a:spAutoFit/>
          </a:bodyPr>
          <a:lstStyle/>
          <a:p>
            <a:pPr algn="l">
              <a:lnSpc>
                <a:spcPct val="100000"/>
              </a:lnSpc>
            </a:pPr>
            <a:r>
              <a:rPr sz="1200" b="0" i="0">
                <a:solidFill>
                  <a:srgbClr val="5A6B73"/>
                </a:solidFill>
                <a:latin typeface="Segoe UI"/>
              </a:rPr>
              <a:t>Controlled document uploaded; type and size validated server-side</a:t>
            </a:r>
          </a:p>
        </p:txBody>
      </p:sp>
      <p:sp>
        <p:nvSpPr>
          <p:cNvPr id="9" name="Oval 8"/>
          <p:cNvSpPr/>
          <p:nvPr/>
        </p:nvSpPr>
        <p:spPr>
          <a:xfrm>
            <a:off x="640080" y="2304288"/>
            <a:ext cx="457200" cy="457200"/>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Semibold"/>
              </a:rPr>
              <a:t>2</a:t>
            </a:r>
          </a:p>
        </p:txBody>
      </p:sp>
      <p:sp>
        <p:nvSpPr>
          <p:cNvPr id="10" name="Rectangle 9"/>
          <p:cNvSpPr/>
          <p:nvPr/>
        </p:nvSpPr>
        <p:spPr>
          <a:xfrm>
            <a:off x="854964" y="2779776"/>
            <a:ext cx="27432" cy="292608"/>
          </a:xfrm>
          <a:prstGeom prst="rect">
            <a:avLst/>
          </a:prstGeom>
          <a:solidFill>
            <a:srgbClr val="D6E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322576"/>
            <a:ext cx="3108960" cy="274320"/>
          </a:xfrm>
          <a:prstGeom prst="rect">
            <a:avLst/>
          </a:prstGeom>
          <a:noFill/>
        </p:spPr>
        <p:txBody>
          <a:bodyPr wrap="square" lIns="0" rIns="0" tIns="0" bIns="0" anchor="t">
            <a:spAutoFit/>
          </a:bodyPr>
          <a:lstStyle/>
          <a:p>
            <a:pPr algn="l">
              <a:lnSpc>
                <a:spcPct val="100000"/>
              </a:lnSpc>
            </a:pPr>
            <a:r>
              <a:rPr sz="1400" b="1" i="0">
                <a:solidFill>
                  <a:srgbClr val="12263A"/>
                </a:solidFill>
                <a:latin typeface="Segoe UI"/>
              </a:rPr>
              <a:t>Extraction &amp; Chunking</a:t>
            </a:r>
          </a:p>
        </p:txBody>
      </p:sp>
      <p:sp>
        <p:nvSpPr>
          <p:cNvPr id="12" name="TextBox 11"/>
          <p:cNvSpPr txBox="1"/>
          <p:nvPr/>
        </p:nvSpPr>
        <p:spPr>
          <a:xfrm>
            <a:off x="4617720" y="2350008"/>
            <a:ext cx="6933895" cy="457200"/>
          </a:xfrm>
          <a:prstGeom prst="rect">
            <a:avLst/>
          </a:prstGeom>
          <a:noFill/>
        </p:spPr>
        <p:txBody>
          <a:bodyPr wrap="square" lIns="0" rIns="0" tIns="0" bIns="0" anchor="t">
            <a:spAutoFit/>
          </a:bodyPr>
          <a:lstStyle/>
          <a:p>
            <a:pPr algn="l">
              <a:lnSpc>
                <a:spcPct val="100000"/>
              </a:lnSpc>
            </a:pPr>
            <a:r>
              <a:rPr sz="1200" b="0" i="0">
                <a:solidFill>
                  <a:srgbClr val="5A6B73"/>
                </a:solidFill>
                <a:latin typeface="Segoe UI"/>
              </a:rPr>
              <a:t>PyMuPDF extraction, then heading → semantic → fixed-length cascade</a:t>
            </a:r>
          </a:p>
        </p:txBody>
      </p:sp>
      <p:sp>
        <p:nvSpPr>
          <p:cNvPr id="13" name="Oval 12"/>
          <p:cNvSpPr/>
          <p:nvPr/>
        </p:nvSpPr>
        <p:spPr>
          <a:xfrm>
            <a:off x="640080" y="3090672"/>
            <a:ext cx="457200" cy="457200"/>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Semibold"/>
              </a:rPr>
              <a:t>3</a:t>
            </a:r>
          </a:p>
        </p:txBody>
      </p:sp>
      <p:sp>
        <p:nvSpPr>
          <p:cNvPr id="14" name="Rectangle 13"/>
          <p:cNvSpPr/>
          <p:nvPr/>
        </p:nvSpPr>
        <p:spPr>
          <a:xfrm>
            <a:off x="854964" y="3566160"/>
            <a:ext cx="27432" cy="292608"/>
          </a:xfrm>
          <a:prstGeom prst="rect">
            <a:avLst/>
          </a:prstGeom>
          <a:solidFill>
            <a:srgbClr val="D6E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3108960"/>
            <a:ext cx="3108960" cy="274320"/>
          </a:xfrm>
          <a:prstGeom prst="rect">
            <a:avLst/>
          </a:prstGeom>
          <a:noFill/>
        </p:spPr>
        <p:txBody>
          <a:bodyPr wrap="square" lIns="0" rIns="0" tIns="0" bIns="0" anchor="t">
            <a:spAutoFit/>
          </a:bodyPr>
          <a:lstStyle/>
          <a:p>
            <a:pPr algn="l">
              <a:lnSpc>
                <a:spcPct val="100000"/>
              </a:lnSpc>
            </a:pPr>
            <a:r>
              <a:rPr sz="1400" b="1" i="0">
                <a:solidFill>
                  <a:srgbClr val="12263A"/>
                </a:solidFill>
                <a:latin typeface="Segoe UI"/>
              </a:rPr>
              <a:t>AI Question Generation</a:t>
            </a:r>
          </a:p>
        </p:txBody>
      </p:sp>
      <p:sp>
        <p:nvSpPr>
          <p:cNvPr id="16" name="TextBox 15"/>
          <p:cNvSpPr txBox="1"/>
          <p:nvPr/>
        </p:nvSpPr>
        <p:spPr>
          <a:xfrm>
            <a:off x="4617720" y="3136391"/>
            <a:ext cx="6933895" cy="457200"/>
          </a:xfrm>
          <a:prstGeom prst="rect">
            <a:avLst/>
          </a:prstGeom>
          <a:noFill/>
        </p:spPr>
        <p:txBody>
          <a:bodyPr wrap="square" lIns="0" rIns="0" tIns="0" bIns="0" anchor="t">
            <a:spAutoFit/>
          </a:bodyPr>
          <a:lstStyle/>
          <a:p>
            <a:pPr algn="l">
              <a:lnSpc>
                <a:spcPct val="100000"/>
              </a:lnSpc>
            </a:pPr>
            <a:r>
              <a:rPr sz="1200" b="0" i="0">
                <a:solidFill>
                  <a:srgbClr val="5A6B73"/>
                </a:solidFill>
                <a:latin typeface="Segoe UI"/>
              </a:rPr>
              <a:t>One chunk per prompt; structured JSON; retries then offline fallback</a:t>
            </a:r>
          </a:p>
        </p:txBody>
      </p:sp>
      <p:sp>
        <p:nvSpPr>
          <p:cNvPr id="17" name="Oval 16"/>
          <p:cNvSpPr/>
          <p:nvPr/>
        </p:nvSpPr>
        <p:spPr>
          <a:xfrm>
            <a:off x="640080" y="3877056"/>
            <a:ext cx="457200" cy="457200"/>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Semibold"/>
              </a:rPr>
              <a:t>4</a:t>
            </a:r>
          </a:p>
        </p:txBody>
      </p:sp>
      <p:sp>
        <p:nvSpPr>
          <p:cNvPr id="18" name="Rectangle 17"/>
          <p:cNvSpPr/>
          <p:nvPr/>
        </p:nvSpPr>
        <p:spPr>
          <a:xfrm>
            <a:off x="854964" y="4352544"/>
            <a:ext cx="27432" cy="292608"/>
          </a:xfrm>
          <a:prstGeom prst="rect">
            <a:avLst/>
          </a:prstGeom>
          <a:solidFill>
            <a:srgbClr val="D6E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53312" y="3895344"/>
            <a:ext cx="3108960" cy="274320"/>
          </a:xfrm>
          <a:prstGeom prst="rect">
            <a:avLst/>
          </a:prstGeom>
          <a:noFill/>
        </p:spPr>
        <p:txBody>
          <a:bodyPr wrap="square" lIns="0" rIns="0" tIns="0" bIns="0" anchor="t">
            <a:spAutoFit/>
          </a:bodyPr>
          <a:lstStyle/>
          <a:p>
            <a:pPr algn="l">
              <a:lnSpc>
                <a:spcPct val="100000"/>
              </a:lnSpc>
            </a:pPr>
            <a:r>
              <a:rPr sz="1400" b="1" i="0">
                <a:solidFill>
                  <a:srgbClr val="12263A"/>
                </a:solidFill>
                <a:latin typeface="Segoe UI"/>
              </a:rPr>
              <a:t>SME Review &amp; E-Signature</a:t>
            </a:r>
          </a:p>
        </p:txBody>
      </p:sp>
      <p:sp>
        <p:nvSpPr>
          <p:cNvPr id="20" name="TextBox 19"/>
          <p:cNvSpPr txBox="1"/>
          <p:nvPr/>
        </p:nvSpPr>
        <p:spPr>
          <a:xfrm>
            <a:off x="4617720" y="3922776"/>
            <a:ext cx="6933895" cy="457200"/>
          </a:xfrm>
          <a:prstGeom prst="rect">
            <a:avLst/>
          </a:prstGeom>
          <a:noFill/>
        </p:spPr>
        <p:txBody>
          <a:bodyPr wrap="square" lIns="0" rIns="0" tIns="0" bIns="0" anchor="t">
            <a:spAutoFit/>
          </a:bodyPr>
          <a:lstStyle/>
          <a:p>
            <a:pPr algn="l">
              <a:lnSpc>
                <a:spcPct val="100000"/>
              </a:lnSpc>
            </a:pPr>
            <a:r>
              <a:rPr sz="1200" b="0" i="0">
                <a:solidFill>
                  <a:srgbClr val="5A6B73"/>
                </a:solidFill>
                <a:latin typeface="Segoe UI"/>
              </a:rPr>
              <a:t>Approve or reject; password re-verified; content hash stored</a:t>
            </a:r>
          </a:p>
        </p:txBody>
      </p:sp>
      <p:sp>
        <p:nvSpPr>
          <p:cNvPr id="21" name="Oval 20"/>
          <p:cNvSpPr/>
          <p:nvPr/>
        </p:nvSpPr>
        <p:spPr>
          <a:xfrm>
            <a:off x="640080" y="4663440"/>
            <a:ext cx="457200" cy="457200"/>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Semibold"/>
              </a:rPr>
              <a:t>5</a:t>
            </a:r>
          </a:p>
        </p:txBody>
      </p:sp>
      <p:sp>
        <p:nvSpPr>
          <p:cNvPr id="22" name="Rectangle 21"/>
          <p:cNvSpPr/>
          <p:nvPr/>
        </p:nvSpPr>
        <p:spPr>
          <a:xfrm>
            <a:off x="854964" y="5138928"/>
            <a:ext cx="27432" cy="292608"/>
          </a:xfrm>
          <a:prstGeom prst="rect">
            <a:avLst/>
          </a:prstGeom>
          <a:solidFill>
            <a:srgbClr val="D6E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53312" y="4681728"/>
            <a:ext cx="3108960" cy="274320"/>
          </a:xfrm>
          <a:prstGeom prst="rect">
            <a:avLst/>
          </a:prstGeom>
          <a:noFill/>
        </p:spPr>
        <p:txBody>
          <a:bodyPr wrap="square" lIns="0" rIns="0" tIns="0" bIns="0" anchor="t">
            <a:spAutoFit/>
          </a:bodyPr>
          <a:lstStyle/>
          <a:p>
            <a:pPr algn="l">
              <a:lnSpc>
                <a:spcPct val="100000"/>
              </a:lnSpc>
            </a:pPr>
            <a:r>
              <a:rPr sz="1400" b="1" i="0">
                <a:solidFill>
                  <a:srgbClr val="12263A"/>
                </a:solidFill>
                <a:latin typeface="Segoe UI"/>
              </a:rPr>
              <a:t>Assessment &amp; Mastery</a:t>
            </a:r>
          </a:p>
        </p:txBody>
      </p:sp>
      <p:sp>
        <p:nvSpPr>
          <p:cNvPr id="24" name="TextBox 23"/>
          <p:cNvSpPr txBox="1"/>
          <p:nvPr/>
        </p:nvSpPr>
        <p:spPr>
          <a:xfrm>
            <a:off x="4617720" y="4709160"/>
            <a:ext cx="6933895" cy="457200"/>
          </a:xfrm>
          <a:prstGeom prst="rect">
            <a:avLst/>
          </a:prstGeom>
          <a:noFill/>
        </p:spPr>
        <p:txBody>
          <a:bodyPr wrap="square" lIns="0" rIns="0" tIns="0" bIns="0" anchor="t">
            <a:spAutoFit/>
          </a:bodyPr>
          <a:lstStyle/>
          <a:p>
            <a:pPr algn="l">
              <a:lnSpc>
                <a:spcPct val="100000"/>
              </a:lnSpc>
            </a:pPr>
            <a:r>
              <a:rPr sz="1200" b="0" i="0">
                <a:solidFill>
                  <a:srgbClr val="5A6B73"/>
                </a:solidFill>
                <a:latin typeface="Segoe UI"/>
              </a:rPr>
              <a:t>Server-side grading; Elo and FSRS state updated per section</a:t>
            </a:r>
          </a:p>
        </p:txBody>
      </p:sp>
      <p:sp>
        <p:nvSpPr>
          <p:cNvPr id="25" name="Oval 24"/>
          <p:cNvSpPr/>
          <p:nvPr/>
        </p:nvSpPr>
        <p:spPr>
          <a:xfrm>
            <a:off x="640080" y="5449824"/>
            <a:ext cx="457200" cy="457200"/>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Segoe UI Semibold"/>
              </a:rPr>
              <a:t>6</a:t>
            </a:r>
          </a:p>
        </p:txBody>
      </p:sp>
      <p:sp>
        <p:nvSpPr>
          <p:cNvPr id="26" name="TextBox 25"/>
          <p:cNvSpPr txBox="1"/>
          <p:nvPr/>
        </p:nvSpPr>
        <p:spPr>
          <a:xfrm>
            <a:off x="1353312" y="5468112"/>
            <a:ext cx="3108960" cy="274320"/>
          </a:xfrm>
          <a:prstGeom prst="rect">
            <a:avLst/>
          </a:prstGeom>
          <a:noFill/>
        </p:spPr>
        <p:txBody>
          <a:bodyPr wrap="square" lIns="0" rIns="0" tIns="0" bIns="0" anchor="t">
            <a:spAutoFit/>
          </a:bodyPr>
          <a:lstStyle/>
          <a:p>
            <a:pPr algn="l">
              <a:lnSpc>
                <a:spcPct val="100000"/>
              </a:lnSpc>
            </a:pPr>
            <a:r>
              <a:rPr sz="1400" b="1" i="0">
                <a:solidFill>
                  <a:srgbClr val="12263A"/>
                </a:solidFill>
                <a:latin typeface="Segoe UI"/>
              </a:rPr>
              <a:t>Adaptive Retraining</a:t>
            </a:r>
          </a:p>
        </p:txBody>
      </p:sp>
      <p:sp>
        <p:nvSpPr>
          <p:cNvPr id="27" name="TextBox 26"/>
          <p:cNvSpPr txBox="1"/>
          <p:nvPr/>
        </p:nvSpPr>
        <p:spPr>
          <a:xfrm>
            <a:off x="4617720" y="5495544"/>
            <a:ext cx="6933895" cy="457200"/>
          </a:xfrm>
          <a:prstGeom prst="rect">
            <a:avLst/>
          </a:prstGeom>
          <a:noFill/>
        </p:spPr>
        <p:txBody>
          <a:bodyPr wrap="square" lIns="0" rIns="0" tIns="0" bIns="0" anchor="t">
            <a:spAutoFit/>
          </a:bodyPr>
          <a:lstStyle/>
          <a:p>
            <a:pPr algn="l">
              <a:lnSpc>
                <a:spcPct val="100000"/>
              </a:lnSpc>
            </a:pPr>
            <a:r>
              <a:rPr sz="1200" b="0" i="0">
                <a:solidFill>
                  <a:srgbClr val="5A6B73"/>
                </a:solidFill>
                <a:latin typeface="Segoe UI"/>
              </a:rPr>
              <a:t>Weak sections selected; review timing scheduled; gain measured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07 · GENERATION PIPELINE</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AI Question Generation</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81328"/>
            <a:ext cx="969264" cy="786384"/>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950" b="0">
                <a:solidFill>
                  <a:srgbClr val="12263A"/>
                </a:solidFill>
                <a:latin typeface="Segoe UI"/>
              </a:rPr>
              <a:t>SOP</a:t>
            </a:r>
          </a:p>
        </p:txBody>
      </p:sp>
      <p:cxnSp>
        <p:nvCxnSpPr>
          <p:cNvPr id="6" name="Connector 5"/>
          <p:cNvCxnSpPr/>
          <p:nvPr/>
        </p:nvCxnSpPr>
        <p:spPr>
          <a:xfrm>
            <a:off x="1623060" y="1874519"/>
            <a:ext cx="105156" cy="0"/>
          </a:xfrm>
          <a:prstGeom prst="line">
            <a:avLst/>
          </a:prstGeom>
          <a:ln w="1397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741932" y="1481328"/>
            <a:ext cx="969264" cy="786384"/>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950" b="0">
                <a:solidFill>
                  <a:srgbClr val="12263A"/>
                </a:solidFill>
                <a:latin typeface="Segoe UI"/>
              </a:rPr>
              <a:t>Extraction</a:t>
            </a:r>
          </a:p>
        </p:txBody>
      </p:sp>
      <p:cxnSp>
        <p:nvCxnSpPr>
          <p:cNvPr id="8" name="Connector 7"/>
          <p:cNvCxnSpPr/>
          <p:nvPr/>
        </p:nvCxnSpPr>
        <p:spPr>
          <a:xfrm>
            <a:off x="2724912" y="1874519"/>
            <a:ext cx="105156" cy="0"/>
          </a:xfrm>
          <a:prstGeom prst="line">
            <a:avLst/>
          </a:prstGeom>
          <a:ln w="1397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43784" y="1481328"/>
            <a:ext cx="969264" cy="786384"/>
          </a:xfrm>
          <a:prstGeom prst="roundRect">
            <a:avLst>
              <a:gd name="adj" fmla="val 8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950" b="1">
                <a:solidFill>
                  <a:srgbClr val="12263A"/>
                </a:solidFill>
                <a:latin typeface="Segoe UI"/>
              </a:rPr>
              <a:t>3-tier</a:t>
            </a:r>
          </a:p>
          <a:p>
            <a:pPr algn="ctr">
              <a:lnSpc>
                <a:spcPct val="92000"/>
              </a:lnSpc>
            </a:pPr>
            <a:r>
              <a:rPr sz="950" b="1">
                <a:solidFill>
                  <a:srgbClr val="12263A"/>
                </a:solidFill>
                <a:latin typeface="Segoe UI"/>
              </a:rPr>
              <a:t>chunking</a:t>
            </a:r>
          </a:p>
        </p:txBody>
      </p:sp>
      <p:cxnSp>
        <p:nvCxnSpPr>
          <p:cNvPr id="10" name="Connector 9"/>
          <p:cNvCxnSpPr/>
          <p:nvPr/>
        </p:nvCxnSpPr>
        <p:spPr>
          <a:xfrm>
            <a:off x="3826763" y="1874519"/>
            <a:ext cx="105157" cy="0"/>
          </a:xfrm>
          <a:prstGeom prst="line">
            <a:avLst/>
          </a:prstGeom>
          <a:ln w="1397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945636" y="1481328"/>
            <a:ext cx="969264" cy="786384"/>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950" b="0">
                <a:solidFill>
                  <a:srgbClr val="12263A"/>
                </a:solidFill>
                <a:latin typeface="Segoe UI"/>
              </a:rPr>
              <a:t>Prompt</a:t>
            </a:r>
          </a:p>
          <a:p>
            <a:pPr algn="ctr">
              <a:lnSpc>
                <a:spcPct val="92000"/>
              </a:lnSpc>
            </a:pPr>
            <a:r>
              <a:rPr sz="950" b="0">
                <a:solidFill>
                  <a:srgbClr val="12263A"/>
                </a:solidFill>
                <a:latin typeface="Segoe UI"/>
              </a:rPr>
              <a:t>construction</a:t>
            </a:r>
          </a:p>
        </p:txBody>
      </p:sp>
      <p:cxnSp>
        <p:nvCxnSpPr>
          <p:cNvPr id="12" name="Connector 11"/>
          <p:cNvCxnSpPr/>
          <p:nvPr/>
        </p:nvCxnSpPr>
        <p:spPr>
          <a:xfrm>
            <a:off x="4928616" y="1874519"/>
            <a:ext cx="105156" cy="0"/>
          </a:xfrm>
          <a:prstGeom prst="line">
            <a:avLst/>
          </a:prstGeom>
          <a:ln w="1397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47488" y="1481328"/>
            <a:ext cx="969264" cy="786384"/>
          </a:xfrm>
          <a:prstGeom prst="roundRect">
            <a:avLst>
              <a:gd name="adj" fmla="val 8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950" b="1">
                <a:solidFill>
                  <a:srgbClr val="12263A"/>
                </a:solidFill>
                <a:latin typeface="Segoe UI"/>
              </a:rPr>
              <a:t>NVIDIA NIM</a:t>
            </a:r>
          </a:p>
        </p:txBody>
      </p:sp>
      <p:cxnSp>
        <p:nvCxnSpPr>
          <p:cNvPr id="14" name="Connector 13"/>
          <p:cNvCxnSpPr/>
          <p:nvPr/>
        </p:nvCxnSpPr>
        <p:spPr>
          <a:xfrm>
            <a:off x="6030468" y="1874519"/>
            <a:ext cx="105156" cy="0"/>
          </a:xfrm>
          <a:prstGeom prst="line">
            <a:avLst/>
          </a:prstGeom>
          <a:ln w="1397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49340" y="1481328"/>
            <a:ext cx="969264" cy="786384"/>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950" b="0">
                <a:solidFill>
                  <a:srgbClr val="12263A"/>
                </a:solidFill>
                <a:latin typeface="Segoe UI"/>
              </a:rPr>
              <a:t>Structured</a:t>
            </a:r>
          </a:p>
          <a:p>
            <a:pPr algn="ctr">
              <a:lnSpc>
                <a:spcPct val="92000"/>
              </a:lnSpc>
            </a:pPr>
            <a:r>
              <a:rPr sz="950" b="0">
                <a:solidFill>
                  <a:srgbClr val="12263A"/>
                </a:solidFill>
                <a:latin typeface="Segoe UI"/>
              </a:rPr>
              <a:t>JSON</a:t>
            </a:r>
          </a:p>
        </p:txBody>
      </p:sp>
      <p:cxnSp>
        <p:nvCxnSpPr>
          <p:cNvPr id="16" name="Connector 15"/>
          <p:cNvCxnSpPr/>
          <p:nvPr/>
        </p:nvCxnSpPr>
        <p:spPr>
          <a:xfrm>
            <a:off x="7132320" y="1874519"/>
            <a:ext cx="105156" cy="0"/>
          </a:xfrm>
          <a:prstGeom prst="line">
            <a:avLst/>
          </a:prstGeom>
          <a:ln w="1397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251192" y="1481328"/>
            <a:ext cx="969264" cy="786384"/>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950" b="0">
                <a:solidFill>
                  <a:srgbClr val="12263A"/>
                </a:solidFill>
                <a:latin typeface="Segoe UI"/>
              </a:rPr>
              <a:t>Validation</a:t>
            </a:r>
          </a:p>
        </p:txBody>
      </p:sp>
      <p:cxnSp>
        <p:nvCxnSpPr>
          <p:cNvPr id="18" name="Connector 17"/>
          <p:cNvCxnSpPr/>
          <p:nvPr/>
        </p:nvCxnSpPr>
        <p:spPr>
          <a:xfrm>
            <a:off x="8234172" y="1874519"/>
            <a:ext cx="105155" cy="0"/>
          </a:xfrm>
          <a:prstGeom prst="line">
            <a:avLst/>
          </a:prstGeom>
          <a:ln w="1397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53044" y="1481328"/>
            <a:ext cx="969264" cy="786384"/>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950" b="0">
                <a:solidFill>
                  <a:srgbClr val="12263A"/>
                </a:solidFill>
                <a:latin typeface="Segoe UI"/>
              </a:rPr>
              <a:t>Dedup</a:t>
            </a:r>
          </a:p>
        </p:txBody>
      </p:sp>
      <p:cxnSp>
        <p:nvCxnSpPr>
          <p:cNvPr id="20" name="Connector 19"/>
          <p:cNvCxnSpPr/>
          <p:nvPr/>
        </p:nvCxnSpPr>
        <p:spPr>
          <a:xfrm>
            <a:off x="9336024" y="1874519"/>
            <a:ext cx="105156" cy="0"/>
          </a:xfrm>
          <a:prstGeom prst="line">
            <a:avLst/>
          </a:prstGeom>
          <a:ln w="1397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454896" y="1481328"/>
            <a:ext cx="969264" cy="786384"/>
          </a:xfrm>
          <a:prstGeom prst="roundRect">
            <a:avLst>
              <a:gd name="adj" fmla="val 8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950" b="1">
                <a:solidFill>
                  <a:srgbClr val="12263A"/>
                </a:solidFill>
                <a:latin typeface="Segoe UI"/>
              </a:rPr>
              <a:t>Source-chunk</a:t>
            </a:r>
          </a:p>
          <a:p>
            <a:pPr algn="ctr">
              <a:lnSpc>
                <a:spcPct val="92000"/>
              </a:lnSpc>
            </a:pPr>
            <a:r>
              <a:rPr sz="950" b="1">
                <a:solidFill>
                  <a:srgbClr val="12263A"/>
                </a:solidFill>
                <a:latin typeface="Segoe UI"/>
              </a:rPr>
              <a:t>linkage</a:t>
            </a:r>
          </a:p>
        </p:txBody>
      </p:sp>
      <p:cxnSp>
        <p:nvCxnSpPr>
          <p:cNvPr id="22" name="Connector 21"/>
          <p:cNvCxnSpPr/>
          <p:nvPr/>
        </p:nvCxnSpPr>
        <p:spPr>
          <a:xfrm>
            <a:off x="10437876" y="1874519"/>
            <a:ext cx="105156" cy="0"/>
          </a:xfrm>
          <a:prstGeom prst="line">
            <a:avLst/>
          </a:prstGeom>
          <a:ln w="1397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556748" y="1481328"/>
            <a:ext cx="969264" cy="786384"/>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950" b="0">
                <a:solidFill>
                  <a:srgbClr val="12263A"/>
                </a:solidFill>
                <a:latin typeface="Segoe UI"/>
              </a:rPr>
              <a:t>Draft</a:t>
            </a:r>
          </a:p>
        </p:txBody>
      </p:sp>
      <p:sp>
        <p:nvSpPr>
          <p:cNvPr id="24" name="Rounded Rectangle 23"/>
          <p:cNvSpPr/>
          <p:nvPr/>
        </p:nvSpPr>
        <p:spPr>
          <a:xfrm>
            <a:off x="4846320" y="2578608"/>
            <a:ext cx="2514600" cy="548640"/>
          </a:xfrm>
          <a:prstGeom prst="roundRect">
            <a:avLst>
              <a:gd name="adj" fmla="val 8000"/>
            </a:avLst>
          </a:prstGeom>
          <a:solidFill>
            <a:srgbClr val="12263A"/>
          </a:solidFill>
          <a:ln w="12700">
            <a:solidFill>
              <a:srgbClr val="1226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200" b="1">
                <a:solidFill>
                  <a:srgbClr val="FFFFFF"/>
                </a:solidFill>
                <a:latin typeface="Segoe UI"/>
              </a:rPr>
              <a:t>SME approval</a:t>
            </a:r>
          </a:p>
        </p:txBody>
      </p:sp>
      <p:cxnSp>
        <p:nvCxnSpPr>
          <p:cNvPr id="25" name="Connector 24"/>
          <p:cNvCxnSpPr/>
          <p:nvPr/>
        </p:nvCxnSpPr>
        <p:spPr>
          <a:xfrm flipH="1">
            <a:off x="7360919" y="2286000"/>
            <a:ext cx="2286000" cy="292608"/>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40080" y="3429000"/>
            <a:ext cx="5349240" cy="2286000"/>
          </a:xfrm>
          <a:prstGeom prst="roundRect">
            <a:avLst>
              <a:gd name="adj" fmla="val 3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611880"/>
            <a:ext cx="4800600" cy="27432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WHY CHUNKING MATTERS</a:t>
            </a:r>
          </a:p>
        </p:txBody>
      </p:sp>
      <p:sp>
        <p:nvSpPr>
          <p:cNvPr id="28" name="TextBox 27"/>
          <p:cNvSpPr txBox="1"/>
          <p:nvPr/>
        </p:nvSpPr>
        <p:spPr>
          <a:xfrm>
            <a:off x="914400" y="3977639"/>
            <a:ext cx="4800600" cy="1554480"/>
          </a:xfrm>
          <a:prstGeom prst="rect">
            <a:avLst/>
          </a:prstGeom>
          <a:noFill/>
        </p:spPr>
        <p:txBody>
          <a:bodyPr wrap="square" lIns="0" rIns="0" tIns="0" bIns="0" anchor="t">
            <a:spAutoFit/>
          </a:bodyPr>
          <a:lstStyle/>
          <a:p>
            <a:pPr algn="l">
              <a:lnSpc>
                <a:spcPct val="120000"/>
              </a:lnSpc>
            </a:pPr>
            <a:r>
              <a:rPr sz="1200" b="0" i="0">
                <a:solidFill>
                  <a:srgbClr val="12263A"/>
                </a:solidFill>
                <a:latin typeface="Segoe UI"/>
              </a:rPr>
              <a:t>The question is generated from specific SOP content</a:t>
            </a:r>
          </a:p>
          <a:p>
            <a:pPr algn="l">
              <a:lnSpc>
                <a:spcPct val="120000"/>
              </a:lnSpc>
            </a:pPr>
            <a:r>
              <a:rPr sz="1200" b="0" i="0">
                <a:solidFill>
                  <a:srgbClr val="12263A"/>
                </a:solidFill>
                <a:latin typeface="Segoe UI"/>
              </a:rPr>
              <a:t>rather than unrestricted model knowledge.</a:t>
            </a:r>
          </a:p>
          <a:p>
            <a:pPr algn="l">
              <a:lnSpc>
                <a:spcPct val="120000"/>
              </a:lnSpc>
            </a:pPr>
            <a:r>
              <a:rPr sz="1200" b="0" i="0">
                <a:solidFill>
                  <a:srgbClr val="12263A"/>
                </a:solidFill>
                <a:latin typeface="Segoe UI"/>
              </a:rPr>
              <a:t/>
            </a:r>
          </a:p>
          <a:p>
            <a:pPr algn="l">
              <a:lnSpc>
                <a:spcPct val="120000"/>
              </a:lnSpc>
            </a:pPr>
            <a:r>
              <a:rPr sz="1200" b="0" i="0">
                <a:solidFill>
                  <a:srgbClr val="12263A"/>
                </a:solidFill>
                <a:latin typeface="Segoe UI"/>
              </a:rPr>
              <a:t>One chunk per prompt. The model is given that</a:t>
            </a:r>
          </a:p>
          <a:p>
            <a:pPr algn="l">
              <a:lnSpc>
                <a:spcPct val="120000"/>
              </a:lnSpc>
            </a:pPr>
            <a:r>
              <a:rPr sz="1200" b="0" i="0">
                <a:solidFill>
                  <a:srgbClr val="12263A"/>
                </a:solidFill>
                <a:latin typeface="Segoe UI"/>
              </a:rPr>
              <a:t>passage and instructed not to use outside</a:t>
            </a:r>
          </a:p>
          <a:p>
            <a:pPr algn="l">
              <a:lnSpc>
                <a:spcPct val="120000"/>
              </a:lnSpc>
            </a:pPr>
            <a:r>
              <a:rPr sz="1200" b="0" i="0">
                <a:solidFill>
                  <a:srgbClr val="12263A"/>
                </a:solidFill>
                <a:latin typeface="Segoe UI"/>
              </a:rPr>
              <a:t>knowledge. Every question stores a foreign key</a:t>
            </a:r>
          </a:p>
          <a:p>
            <a:pPr algn="l">
              <a:lnSpc>
                <a:spcPct val="120000"/>
              </a:lnSpc>
            </a:pPr>
            <a:r>
              <a:rPr sz="1200" b="0" i="0">
                <a:solidFill>
                  <a:srgbClr val="12263A"/>
                </a:solidFill>
                <a:latin typeface="Segoe UI"/>
              </a:rPr>
              <a:t>to its source chunk.</a:t>
            </a:r>
          </a:p>
        </p:txBody>
      </p:sp>
      <p:sp>
        <p:nvSpPr>
          <p:cNvPr id="29" name="Rounded Rectangle 28"/>
          <p:cNvSpPr/>
          <p:nvPr/>
        </p:nvSpPr>
        <p:spPr>
          <a:xfrm>
            <a:off x="6217920" y="3429000"/>
            <a:ext cx="5330952" cy="2286000"/>
          </a:xfrm>
          <a:prstGeom prst="roundRect">
            <a:avLst>
              <a:gd name="adj" fmla="val 3000"/>
            </a:avLst>
          </a:prstGeom>
          <a:solidFill>
            <a:srgbClr val="F9ECE7"/>
          </a:solidFill>
          <a:ln w="12700">
            <a:solidFill>
              <a:srgbClr val="A845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3611880"/>
            <a:ext cx="4800600" cy="274320"/>
          </a:xfrm>
          <a:prstGeom prst="rect">
            <a:avLst/>
          </a:prstGeom>
          <a:noFill/>
        </p:spPr>
        <p:txBody>
          <a:bodyPr wrap="square" lIns="0" rIns="0" tIns="0" bIns="0" anchor="t">
            <a:spAutoFit/>
          </a:bodyPr>
          <a:lstStyle/>
          <a:p>
            <a:pPr algn="l">
              <a:lnSpc>
                <a:spcPct val="100000"/>
              </a:lnSpc>
            </a:pPr>
            <a:r>
              <a:rPr sz="1050" b="1" i="0">
                <a:solidFill>
                  <a:srgbClr val="A8452C"/>
                </a:solidFill>
                <a:latin typeface="Segoe UI Semibold"/>
              </a:rPr>
              <a:t>WHAT THIS DOES NOT GUARANTEE</a:t>
            </a:r>
          </a:p>
        </p:txBody>
      </p:sp>
      <p:sp>
        <p:nvSpPr>
          <p:cNvPr id="31" name="TextBox 30"/>
          <p:cNvSpPr txBox="1"/>
          <p:nvPr/>
        </p:nvSpPr>
        <p:spPr>
          <a:xfrm>
            <a:off x="6492240" y="3977639"/>
            <a:ext cx="4800600" cy="1554480"/>
          </a:xfrm>
          <a:prstGeom prst="rect">
            <a:avLst/>
          </a:prstGeom>
          <a:noFill/>
        </p:spPr>
        <p:txBody>
          <a:bodyPr wrap="square" lIns="0" rIns="0" tIns="0" bIns="0" anchor="t">
            <a:spAutoFit/>
          </a:bodyPr>
          <a:lstStyle/>
          <a:p>
            <a:pPr algn="l">
              <a:lnSpc>
                <a:spcPct val="120000"/>
              </a:lnSpc>
            </a:pPr>
            <a:r>
              <a:rPr sz="1200" b="0" i="0">
                <a:solidFill>
                  <a:srgbClr val="12263A"/>
                </a:solidFill>
                <a:latin typeface="Segoe UI"/>
              </a:rPr>
              <a:t>Provenance does not guarantee factual correctness;</a:t>
            </a:r>
          </a:p>
          <a:p>
            <a:pPr algn="l">
              <a:lnSpc>
                <a:spcPct val="120000"/>
              </a:lnSpc>
            </a:pPr>
            <a:r>
              <a:rPr sz="1200" b="0" i="0">
                <a:solidFill>
                  <a:srgbClr val="12263A"/>
                </a:solidFill>
                <a:latin typeface="Segoe UI"/>
              </a:rPr>
              <a:t>SME review remains the quality gate.</a:t>
            </a:r>
          </a:p>
          <a:p>
            <a:pPr algn="l">
              <a:lnSpc>
                <a:spcPct val="120000"/>
              </a:lnSpc>
            </a:pPr>
            <a:r>
              <a:rPr sz="1200" b="0" i="0">
                <a:solidFill>
                  <a:srgbClr val="12263A"/>
                </a:solidFill>
                <a:latin typeface="Segoe UI"/>
              </a:rPr>
              <a:t/>
            </a:r>
          </a:p>
          <a:p>
            <a:pPr algn="l">
              <a:lnSpc>
                <a:spcPct val="120000"/>
              </a:lnSpc>
            </a:pPr>
            <a:r>
              <a:rPr sz="1200" b="0" i="0">
                <a:solidFill>
                  <a:srgbClr val="12263A"/>
                </a:solidFill>
                <a:latin typeface="Segoe UI"/>
              </a:rPr>
              <a:t>Nothing mechanically verifies that the stated correct</a:t>
            </a:r>
          </a:p>
          <a:p>
            <a:pPr algn="l">
              <a:lnSpc>
                <a:spcPct val="120000"/>
              </a:lnSpc>
            </a:pPr>
            <a:r>
              <a:rPr sz="1200" b="0" i="0">
                <a:solidFill>
                  <a:srgbClr val="12263A"/>
                </a:solidFill>
                <a:latin typeface="Segoe UI"/>
              </a:rPr>
              <a:t>answer is entailed by the passage. That is</a:t>
            </a:r>
          </a:p>
          <a:p>
            <a:pPr algn="l">
              <a:lnSpc>
                <a:spcPct val="120000"/>
              </a:lnSpc>
            </a:pPr>
            <a:r>
              <a:rPr sz="1200" b="0" i="0">
                <a:solidFill>
                  <a:srgbClr val="12263A"/>
                </a:solidFill>
                <a:latin typeface="Segoe UI"/>
              </a:rPr>
              <a:t>provenance plus prompt constraint — not verified</a:t>
            </a:r>
          </a:p>
          <a:p>
            <a:pPr algn="l">
              <a:lnSpc>
                <a:spcPct val="120000"/>
              </a:lnSpc>
            </a:pPr>
            <a:r>
              <a:rPr sz="1200" b="0" i="0">
                <a:solidFill>
                  <a:srgbClr val="12263A"/>
                </a:solidFill>
                <a:latin typeface="Segoe UI"/>
              </a:rPr>
              <a:t>entailment.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08 · HUMAN-IN-THE-LOOP</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SME Review and GxP-Oriented Control</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81328"/>
            <a:ext cx="1847088" cy="731520"/>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00" b="0">
                <a:solidFill>
                  <a:srgbClr val="12263A"/>
                </a:solidFill>
                <a:latin typeface="Segoe UI"/>
              </a:rPr>
              <a:t>AI-generated</a:t>
            </a:r>
          </a:p>
          <a:p>
            <a:pPr algn="ctr">
              <a:lnSpc>
                <a:spcPct val="92000"/>
              </a:lnSpc>
            </a:pPr>
            <a:r>
              <a:rPr sz="1100" b="0">
                <a:solidFill>
                  <a:srgbClr val="12263A"/>
                </a:solidFill>
                <a:latin typeface="Segoe UI"/>
              </a:rPr>
              <a:t>draft</a:t>
            </a:r>
          </a:p>
        </p:txBody>
      </p:sp>
      <p:cxnSp>
        <p:nvCxnSpPr>
          <p:cNvPr id="6" name="Connector 5"/>
          <p:cNvCxnSpPr/>
          <p:nvPr/>
        </p:nvCxnSpPr>
        <p:spPr>
          <a:xfrm>
            <a:off x="2523744" y="1847088"/>
            <a:ext cx="338328"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98648" y="1481328"/>
            <a:ext cx="1847088" cy="731520"/>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00" b="0">
                <a:solidFill>
                  <a:srgbClr val="12263A"/>
                </a:solidFill>
                <a:latin typeface="Segoe UI"/>
              </a:rPr>
              <a:t>SME review</a:t>
            </a:r>
          </a:p>
        </p:txBody>
      </p:sp>
      <p:cxnSp>
        <p:nvCxnSpPr>
          <p:cNvPr id="8" name="Connector 7"/>
          <p:cNvCxnSpPr/>
          <p:nvPr/>
        </p:nvCxnSpPr>
        <p:spPr>
          <a:xfrm>
            <a:off x="4782312" y="1847088"/>
            <a:ext cx="338328"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157216" y="1481328"/>
            <a:ext cx="1847088" cy="731520"/>
          </a:xfrm>
          <a:prstGeom prst="roundRect">
            <a:avLst>
              <a:gd name="adj" fmla="val 8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00" b="1">
                <a:solidFill>
                  <a:srgbClr val="12263A"/>
                </a:solidFill>
                <a:latin typeface="Segoe UI"/>
              </a:rPr>
              <a:t>Approve /</a:t>
            </a:r>
          </a:p>
          <a:p>
            <a:pPr algn="ctr">
              <a:lnSpc>
                <a:spcPct val="92000"/>
              </a:lnSpc>
            </a:pPr>
            <a:r>
              <a:rPr sz="1100" b="1">
                <a:solidFill>
                  <a:srgbClr val="12263A"/>
                </a:solidFill>
                <a:latin typeface="Segoe UI"/>
              </a:rPr>
              <a:t>Reject</a:t>
            </a:r>
          </a:p>
        </p:txBody>
      </p:sp>
      <p:cxnSp>
        <p:nvCxnSpPr>
          <p:cNvPr id="10" name="Connector 9"/>
          <p:cNvCxnSpPr/>
          <p:nvPr/>
        </p:nvCxnSpPr>
        <p:spPr>
          <a:xfrm>
            <a:off x="7040880" y="1847088"/>
            <a:ext cx="338328"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415783" y="1481328"/>
            <a:ext cx="1847088" cy="731520"/>
          </a:xfrm>
          <a:prstGeom prst="roundRect">
            <a:avLst>
              <a:gd name="adj" fmla="val 8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00" b="1">
                <a:solidFill>
                  <a:srgbClr val="12263A"/>
                </a:solidFill>
                <a:latin typeface="Segoe UI"/>
              </a:rPr>
              <a:t>Electronic</a:t>
            </a:r>
          </a:p>
          <a:p>
            <a:pPr algn="ctr">
              <a:lnSpc>
                <a:spcPct val="92000"/>
              </a:lnSpc>
            </a:pPr>
            <a:r>
              <a:rPr sz="1100" b="1">
                <a:solidFill>
                  <a:srgbClr val="12263A"/>
                </a:solidFill>
                <a:latin typeface="Segoe UI"/>
              </a:rPr>
              <a:t>signature</a:t>
            </a:r>
          </a:p>
        </p:txBody>
      </p:sp>
      <p:cxnSp>
        <p:nvCxnSpPr>
          <p:cNvPr id="12" name="Connector 11"/>
          <p:cNvCxnSpPr/>
          <p:nvPr/>
        </p:nvCxnSpPr>
        <p:spPr>
          <a:xfrm>
            <a:off x="9299447" y="1847088"/>
            <a:ext cx="338329"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674352" y="1481328"/>
            <a:ext cx="1847088" cy="731520"/>
          </a:xfrm>
          <a:prstGeom prst="roundRect">
            <a:avLst>
              <a:gd name="adj" fmla="val 8000"/>
            </a:avLst>
          </a:prstGeom>
          <a:solidFill>
            <a:srgbClr val="12263A"/>
          </a:solidFill>
          <a:ln w="12700">
            <a:solidFill>
              <a:srgbClr val="1226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00" b="1">
                <a:solidFill>
                  <a:srgbClr val="FFFFFF"/>
                </a:solidFill>
                <a:latin typeface="Segoe UI"/>
              </a:rPr>
              <a:t>Approved</a:t>
            </a:r>
          </a:p>
          <a:p>
            <a:pPr algn="ctr">
              <a:lnSpc>
                <a:spcPct val="92000"/>
              </a:lnSpc>
            </a:pPr>
            <a:r>
              <a:rPr sz="1100" b="1">
                <a:solidFill>
                  <a:srgbClr val="FFFFFF"/>
                </a:solidFill>
                <a:latin typeface="Segoe UI"/>
              </a:rPr>
              <a:t>immutable</a:t>
            </a:r>
          </a:p>
        </p:txBody>
      </p:sp>
      <p:sp>
        <p:nvSpPr>
          <p:cNvPr id="14" name="TextBox 13"/>
          <p:cNvSpPr txBox="1"/>
          <p:nvPr/>
        </p:nvSpPr>
        <p:spPr>
          <a:xfrm>
            <a:off x="640080" y="2633472"/>
            <a:ext cx="274320" cy="274320"/>
          </a:xfrm>
          <a:prstGeom prst="rect">
            <a:avLst/>
          </a:prstGeom>
          <a:noFill/>
        </p:spPr>
        <p:txBody>
          <a:bodyPr wrap="square" lIns="0" rIns="0" tIns="0" bIns="0" anchor="t">
            <a:spAutoFit/>
          </a:bodyPr>
          <a:lstStyle/>
          <a:p>
            <a:pPr algn="l">
              <a:lnSpc>
                <a:spcPct val="100000"/>
              </a:lnSpc>
            </a:pPr>
            <a:r>
              <a:rPr sz="1300" b="1" i="0">
                <a:solidFill>
                  <a:srgbClr val="0E6E6E"/>
                </a:solidFill>
                <a:latin typeface="Segoe UI"/>
              </a:rPr>
              <a:t>▪</a:t>
            </a:r>
          </a:p>
        </p:txBody>
      </p:sp>
      <p:sp>
        <p:nvSpPr>
          <p:cNvPr id="15" name="TextBox 14"/>
          <p:cNvSpPr txBox="1"/>
          <p:nvPr/>
        </p:nvSpPr>
        <p:spPr>
          <a:xfrm>
            <a:off x="932688" y="2633472"/>
            <a:ext cx="3063240" cy="365760"/>
          </a:xfrm>
          <a:prstGeom prst="rect">
            <a:avLst/>
          </a:prstGeom>
          <a:noFill/>
        </p:spPr>
        <p:txBody>
          <a:bodyPr wrap="square" lIns="0" rIns="0" tIns="0" bIns="0" anchor="t">
            <a:spAutoFit/>
          </a:bodyPr>
          <a:lstStyle/>
          <a:p>
            <a:pPr algn="l">
              <a:lnSpc>
                <a:spcPct val="100000"/>
              </a:lnSpc>
            </a:pPr>
            <a:r>
              <a:rPr sz="1250" b="1" i="0">
                <a:solidFill>
                  <a:srgbClr val="12263A"/>
                </a:solidFill>
                <a:latin typeface="Segoe UI"/>
              </a:rPr>
              <a:t>Password re-verification</a:t>
            </a:r>
          </a:p>
        </p:txBody>
      </p:sp>
      <p:sp>
        <p:nvSpPr>
          <p:cNvPr id="16" name="TextBox 15"/>
          <p:cNvSpPr txBox="1"/>
          <p:nvPr/>
        </p:nvSpPr>
        <p:spPr>
          <a:xfrm>
            <a:off x="4160520" y="2651760"/>
            <a:ext cx="7391095" cy="457200"/>
          </a:xfrm>
          <a:prstGeom prst="rect">
            <a:avLst/>
          </a:prstGeom>
          <a:noFill/>
        </p:spPr>
        <p:txBody>
          <a:bodyPr wrap="square" lIns="0" rIns="0" tIns="0" bIns="0" anchor="t">
            <a:spAutoFit/>
          </a:bodyPr>
          <a:lstStyle/>
          <a:p>
            <a:pPr algn="l">
              <a:lnSpc>
                <a:spcPct val="100000"/>
              </a:lnSpc>
            </a:pPr>
            <a:r>
              <a:rPr sz="1150" b="0" i="0">
                <a:solidFill>
                  <a:srgbClr val="5A6B73"/>
                </a:solidFill>
                <a:latin typeface="Segoe UI"/>
              </a:rPr>
              <a:t>Approval re-checks the reviewer's own password server-side — not just an active session</a:t>
            </a:r>
          </a:p>
        </p:txBody>
      </p:sp>
      <p:sp>
        <p:nvSpPr>
          <p:cNvPr id="17" name="TextBox 16"/>
          <p:cNvSpPr txBox="1"/>
          <p:nvPr/>
        </p:nvSpPr>
        <p:spPr>
          <a:xfrm>
            <a:off x="640080" y="3236976"/>
            <a:ext cx="274320" cy="274320"/>
          </a:xfrm>
          <a:prstGeom prst="rect">
            <a:avLst/>
          </a:prstGeom>
          <a:noFill/>
        </p:spPr>
        <p:txBody>
          <a:bodyPr wrap="square" lIns="0" rIns="0" tIns="0" bIns="0" anchor="t">
            <a:spAutoFit/>
          </a:bodyPr>
          <a:lstStyle/>
          <a:p>
            <a:pPr algn="l">
              <a:lnSpc>
                <a:spcPct val="100000"/>
              </a:lnSpc>
            </a:pPr>
            <a:r>
              <a:rPr sz="1300" b="1" i="0">
                <a:solidFill>
                  <a:srgbClr val="0E6E6E"/>
                </a:solidFill>
                <a:latin typeface="Segoe UI"/>
              </a:rPr>
              <a:t>▪</a:t>
            </a:r>
          </a:p>
        </p:txBody>
      </p:sp>
      <p:sp>
        <p:nvSpPr>
          <p:cNvPr id="18" name="TextBox 17"/>
          <p:cNvSpPr txBox="1"/>
          <p:nvPr/>
        </p:nvSpPr>
        <p:spPr>
          <a:xfrm>
            <a:off x="932688" y="3236976"/>
            <a:ext cx="3063240" cy="365760"/>
          </a:xfrm>
          <a:prstGeom prst="rect">
            <a:avLst/>
          </a:prstGeom>
          <a:noFill/>
        </p:spPr>
        <p:txBody>
          <a:bodyPr wrap="square" lIns="0" rIns="0" tIns="0" bIns="0" anchor="t">
            <a:spAutoFit/>
          </a:bodyPr>
          <a:lstStyle/>
          <a:p>
            <a:pPr algn="l">
              <a:lnSpc>
                <a:spcPct val="100000"/>
              </a:lnSpc>
            </a:pPr>
            <a:r>
              <a:rPr sz="1250" b="1" i="0">
                <a:solidFill>
                  <a:srgbClr val="12263A"/>
                </a:solidFill>
                <a:latin typeface="Segoe UI"/>
              </a:rPr>
              <a:t>Content hash binding</a:t>
            </a:r>
          </a:p>
        </p:txBody>
      </p:sp>
      <p:sp>
        <p:nvSpPr>
          <p:cNvPr id="19" name="TextBox 18"/>
          <p:cNvSpPr txBox="1"/>
          <p:nvPr/>
        </p:nvSpPr>
        <p:spPr>
          <a:xfrm>
            <a:off x="4160520" y="3255264"/>
            <a:ext cx="7391095" cy="457200"/>
          </a:xfrm>
          <a:prstGeom prst="rect">
            <a:avLst/>
          </a:prstGeom>
          <a:noFill/>
        </p:spPr>
        <p:txBody>
          <a:bodyPr wrap="square" lIns="0" rIns="0" tIns="0" bIns="0" anchor="t">
            <a:spAutoFit/>
          </a:bodyPr>
          <a:lstStyle/>
          <a:p>
            <a:pPr algn="l">
              <a:lnSpc>
                <a:spcPct val="100000"/>
              </a:lnSpc>
            </a:pPr>
            <a:r>
              <a:rPr sz="1150" b="0" i="0">
                <a:solidFill>
                  <a:srgbClr val="5A6B73"/>
                </a:solidFill>
                <a:latin typeface="Segoe UI"/>
              </a:rPr>
              <a:t>SHA-256 over question text, explanation, difficulty and every option including the correct one</a:t>
            </a:r>
          </a:p>
        </p:txBody>
      </p:sp>
      <p:sp>
        <p:nvSpPr>
          <p:cNvPr id="20" name="TextBox 19"/>
          <p:cNvSpPr txBox="1"/>
          <p:nvPr/>
        </p:nvSpPr>
        <p:spPr>
          <a:xfrm>
            <a:off x="640080" y="3840480"/>
            <a:ext cx="274320" cy="274320"/>
          </a:xfrm>
          <a:prstGeom prst="rect">
            <a:avLst/>
          </a:prstGeom>
          <a:noFill/>
        </p:spPr>
        <p:txBody>
          <a:bodyPr wrap="square" lIns="0" rIns="0" tIns="0" bIns="0" anchor="t">
            <a:spAutoFit/>
          </a:bodyPr>
          <a:lstStyle/>
          <a:p>
            <a:pPr algn="l">
              <a:lnSpc>
                <a:spcPct val="100000"/>
              </a:lnSpc>
            </a:pPr>
            <a:r>
              <a:rPr sz="1300" b="1" i="0">
                <a:solidFill>
                  <a:srgbClr val="0E6E6E"/>
                </a:solidFill>
                <a:latin typeface="Segoe UI"/>
              </a:rPr>
              <a:t>▪</a:t>
            </a:r>
          </a:p>
        </p:txBody>
      </p:sp>
      <p:sp>
        <p:nvSpPr>
          <p:cNvPr id="21" name="TextBox 20"/>
          <p:cNvSpPr txBox="1"/>
          <p:nvPr/>
        </p:nvSpPr>
        <p:spPr>
          <a:xfrm>
            <a:off x="932688" y="3840480"/>
            <a:ext cx="3063240" cy="365760"/>
          </a:xfrm>
          <a:prstGeom prst="rect">
            <a:avLst/>
          </a:prstGeom>
          <a:noFill/>
        </p:spPr>
        <p:txBody>
          <a:bodyPr wrap="square" lIns="0" rIns="0" tIns="0" bIns="0" anchor="t">
            <a:spAutoFit/>
          </a:bodyPr>
          <a:lstStyle/>
          <a:p>
            <a:pPr algn="l">
              <a:lnSpc>
                <a:spcPct val="100000"/>
              </a:lnSpc>
            </a:pPr>
            <a:r>
              <a:rPr sz="1250" b="1" i="0">
                <a:solidFill>
                  <a:srgbClr val="12263A"/>
                </a:solidFill>
                <a:latin typeface="Segoe UI"/>
              </a:rPr>
              <a:t>Immutability after approval</a:t>
            </a:r>
          </a:p>
        </p:txBody>
      </p:sp>
      <p:sp>
        <p:nvSpPr>
          <p:cNvPr id="22" name="TextBox 21"/>
          <p:cNvSpPr txBox="1"/>
          <p:nvPr/>
        </p:nvSpPr>
        <p:spPr>
          <a:xfrm>
            <a:off x="4160520" y="3858768"/>
            <a:ext cx="7391095" cy="457200"/>
          </a:xfrm>
          <a:prstGeom prst="rect">
            <a:avLst/>
          </a:prstGeom>
          <a:noFill/>
        </p:spPr>
        <p:txBody>
          <a:bodyPr wrap="square" lIns="0" rIns="0" tIns="0" bIns="0" anchor="t">
            <a:spAutoFit/>
          </a:bodyPr>
          <a:lstStyle/>
          <a:p>
            <a:pPr algn="l">
              <a:lnSpc>
                <a:spcPct val="100000"/>
              </a:lnSpc>
            </a:pPr>
            <a:r>
              <a:rPr sz="1150" b="0" i="0">
                <a:solidFill>
                  <a:srgbClr val="5A6B73"/>
                </a:solidFill>
                <a:latin typeface="Segoe UI"/>
              </a:rPr>
              <a:t>PATCH, PUT and DELETE on an approved question all return 403</a:t>
            </a:r>
          </a:p>
        </p:txBody>
      </p:sp>
      <p:sp>
        <p:nvSpPr>
          <p:cNvPr id="23" name="TextBox 22"/>
          <p:cNvSpPr txBox="1"/>
          <p:nvPr/>
        </p:nvSpPr>
        <p:spPr>
          <a:xfrm>
            <a:off x="640080" y="4443983"/>
            <a:ext cx="274320" cy="274320"/>
          </a:xfrm>
          <a:prstGeom prst="rect">
            <a:avLst/>
          </a:prstGeom>
          <a:noFill/>
        </p:spPr>
        <p:txBody>
          <a:bodyPr wrap="square" lIns="0" rIns="0" tIns="0" bIns="0" anchor="t">
            <a:spAutoFit/>
          </a:bodyPr>
          <a:lstStyle/>
          <a:p>
            <a:pPr algn="l">
              <a:lnSpc>
                <a:spcPct val="100000"/>
              </a:lnSpc>
            </a:pPr>
            <a:r>
              <a:rPr sz="1300" b="1" i="0">
                <a:solidFill>
                  <a:srgbClr val="0E6E6E"/>
                </a:solidFill>
                <a:latin typeface="Segoe UI"/>
              </a:rPr>
              <a:t>▪</a:t>
            </a:r>
          </a:p>
        </p:txBody>
      </p:sp>
      <p:sp>
        <p:nvSpPr>
          <p:cNvPr id="24" name="TextBox 23"/>
          <p:cNvSpPr txBox="1"/>
          <p:nvPr/>
        </p:nvSpPr>
        <p:spPr>
          <a:xfrm>
            <a:off x="932688" y="4443983"/>
            <a:ext cx="3063240" cy="365760"/>
          </a:xfrm>
          <a:prstGeom prst="rect">
            <a:avLst/>
          </a:prstGeom>
          <a:noFill/>
        </p:spPr>
        <p:txBody>
          <a:bodyPr wrap="square" lIns="0" rIns="0" tIns="0" bIns="0" anchor="t">
            <a:spAutoFit/>
          </a:bodyPr>
          <a:lstStyle/>
          <a:p>
            <a:pPr algn="l">
              <a:lnSpc>
                <a:spcPct val="100000"/>
              </a:lnSpc>
            </a:pPr>
            <a:r>
              <a:rPr sz="1250" b="1" i="0">
                <a:solidFill>
                  <a:srgbClr val="12263A"/>
                </a:solidFill>
                <a:latin typeface="Segoe UI"/>
              </a:rPr>
              <a:t>Tamper detection</a:t>
            </a:r>
          </a:p>
        </p:txBody>
      </p:sp>
      <p:sp>
        <p:nvSpPr>
          <p:cNvPr id="25" name="TextBox 24"/>
          <p:cNvSpPr txBox="1"/>
          <p:nvPr/>
        </p:nvSpPr>
        <p:spPr>
          <a:xfrm>
            <a:off x="4160520" y="4462271"/>
            <a:ext cx="7391095" cy="457200"/>
          </a:xfrm>
          <a:prstGeom prst="rect">
            <a:avLst/>
          </a:prstGeom>
          <a:noFill/>
        </p:spPr>
        <p:txBody>
          <a:bodyPr wrap="square" lIns="0" rIns="0" tIns="0" bIns="0" anchor="t">
            <a:spAutoFit/>
          </a:bodyPr>
          <a:lstStyle/>
          <a:p>
            <a:pPr algn="l">
              <a:lnSpc>
                <a:spcPct val="100000"/>
              </a:lnSpc>
            </a:pPr>
            <a:r>
              <a:rPr sz="1150" b="0" i="0">
                <a:solidFill>
                  <a:srgbClr val="5A6B73"/>
                </a:solidFill>
                <a:latin typeface="Segoe UI"/>
              </a:rPr>
              <a:t>signature_is_intact() recomputes the hash and detects out-of-band modification</a:t>
            </a:r>
          </a:p>
        </p:txBody>
      </p:sp>
      <p:sp>
        <p:nvSpPr>
          <p:cNvPr id="26" name="TextBox 25"/>
          <p:cNvSpPr txBox="1"/>
          <p:nvPr/>
        </p:nvSpPr>
        <p:spPr>
          <a:xfrm>
            <a:off x="640080" y="5047488"/>
            <a:ext cx="274320" cy="274320"/>
          </a:xfrm>
          <a:prstGeom prst="rect">
            <a:avLst/>
          </a:prstGeom>
          <a:noFill/>
        </p:spPr>
        <p:txBody>
          <a:bodyPr wrap="square" lIns="0" rIns="0" tIns="0" bIns="0" anchor="t">
            <a:spAutoFit/>
          </a:bodyPr>
          <a:lstStyle/>
          <a:p>
            <a:pPr algn="l">
              <a:lnSpc>
                <a:spcPct val="100000"/>
              </a:lnSpc>
            </a:pPr>
            <a:r>
              <a:rPr sz="1300" b="1" i="0">
                <a:solidFill>
                  <a:srgbClr val="0E6E6E"/>
                </a:solidFill>
                <a:latin typeface="Segoe UI"/>
              </a:rPr>
              <a:t>▪</a:t>
            </a:r>
          </a:p>
        </p:txBody>
      </p:sp>
      <p:sp>
        <p:nvSpPr>
          <p:cNvPr id="27" name="TextBox 26"/>
          <p:cNvSpPr txBox="1"/>
          <p:nvPr/>
        </p:nvSpPr>
        <p:spPr>
          <a:xfrm>
            <a:off x="932688" y="5047488"/>
            <a:ext cx="3063240" cy="365760"/>
          </a:xfrm>
          <a:prstGeom prst="rect">
            <a:avLst/>
          </a:prstGeom>
          <a:noFill/>
        </p:spPr>
        <p:txBody>
          <a:bodyPr wrap="square" lIns="0" rIns="0" tIns="0" bIns="0" anchor="t">
            <a:spAutoFit/>
          </a:bodyPr>
          <a:lstStyle/>
          <a:p>
            <a:pPr algn="l">
              <a:lnSpc>
                <a:spcPct val="100000"/>
              </a:lnSpc>
            </a:pPr>
            <a:r>
              <a:rPr sz="1250" b="1" i="0">
                <a:solidFill>
                  <a:srgbClr val="12263A"/>
                </a:solidFill>
                <a:latin typeface="Segoe UI"/>
              </a:rPr>
              <a:t>Attributed audit trail</a:t>
            </a:r>
          </a:p>
        </p:txBody>
      </p:sp>
      <p:sp>
        <p:nvSpPr>
          <p:cNvPr id="28" name="TextBox 27"/>
          <p:cNvSpPr txBox="1"/>
          <p:nvPr/>
        </p:nvSpPr>
        <p:spPr>
          <a:xfrm>
            <a:off x="4160520" y="5065775"/>
            <a:ext cx="7391095" cy="457200"/>
          </a:xfrm>
          <a:prstGeom prst="rect">
            <a:avLst/>
          </a:prstGeom>
          <a:noFill/>
        </p:spPr>
        <p:txBody>
          <a:bodyPr wrap="square" lIns="0" rIns="0" tIns="0" bIns="0" anchor="t">
            <a:spAutoFit/>
          </a:bodyPr>
          <a:lstStyle/>
          <a:p>
            <a:pPr algn="l">
              <a:lnSpc>
                <a:spcPct val="100000"/>
              </a:lnSpc>
            </a:pPr>
            <a:r>
              <a:rPr sz="1150" b="0" i="0">
                <a:solidFill>
                  <a:srgbClr val="5A6B73"/>
                </a:solidFill>
                <a:latin typeface="Segoe UI"/>
              </a:rPr>
              <a:t>17 action types recording who did what, and when</a:t>
            </a:r>
          </a:p>
        </p:txBody>
      </p:sp>
      <p:sp>
        <p:nvSpPr>
          <p:cNvPr id="29" name="Rounded Rectangle 28"/>
          <p:cNvSpPr/>
          <p:nvPr/>
        </p:nvSpPr>
        <p:spPr>
          <a:xfrm>
            <a:off x="640080" y="5715000"/>
            <a:ext cx="10911535" cy="786384"/>
          </a:xfrm>
          <a:prstGeom prst="roundRect">
            <a:avLst>
              <a:gd name="adj" fmla="val 3000"/>
            </a:avLst>
          </a:prstGeom>
          <a:solidFill>
            <a:srgbClr val="F9ECE7"/>
          </a:solidFill>
          <a:ln w="12700">
            <a:solidFill>
              <a:srgbClr val="A845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852160"/>
            <a:ext cx="10362895" cy="548640"/>
          </a:xfrm>
          <a:prstGeom prst="rect">
            <a:avLst/>
          </a:prstGeom>
          <a:noFill/>
        </p:spPr>
        <p:txBody>
          <a:bodyPr wrap="square" lIns="0" rIns="0" tIns="0" bIns="0" anchor="t">
            <a:spAutoFit/>
          </a:bodyPr>
          <a:lstStyle/>
          <a:p>
            <a:pPr algn="l">
              <a:lnSpc>
                <a:spcPct val="115000"/>
              </a:lnSpc>
            </a:pPr>
            <a:r>
              <a:rPr sz="1150" b="0" i="0">
                <a:solidFill>
                  <a:srgbClr val="12263A"/>
                </a:solidFill>
                <a:latin typeface="Segoe UI"/>
              </a:rPr>
              <a:t>GxP-oriented design — not a compliance claim.  These are Part 11-style technical controls.</a:t>
            </a:r>
          </a:p>
          <a:p>
            <a:pPr algn="l">
              <a:lnSpc>
                <a:spcPct val="115000"/>
              </a:lnSpc>
            </a:pPr>
            <a:r>
              <a:rPr sz="1150" b="0" i="0">
                <a:solidFill>
                  <a:srgbClr val="12263A"/>
                </a:solidFill>
                <a:latin typeface="Segoe UI"/>
              </a:rPr>
              <a:t>Not implemented: tamper-evident audit storage, separation of duties, qualification records, formal validation.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09 · CORE</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Adaptive Learning — Main Contribution</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911535" cy="320040"/>
          </a:xfrm>
          <a:prstGeom prst="rect">
            <a:avLst/>
          </a:prstGeom>
          <a:noFill/>
        </p:spPr>
        <p:txBody>
          <a:bodyPr wrap="square" lIns="0" rIns="0" tIns="0" bIns="0" anchor="t">
            <a:spAutoFit/>
          </a:bodyPr>
          <a:lstStyle/>
          <a:p>
            <a:pPr algn="l">
              <a:lnSpc>
                <a:spcPct val="100000"/>
              </a:lnSpc>
            </a:pPr>
            <a:r>
              <a:rPr sz="1400" b="1" i="0">
                <a:solidFill>
                  <a:srgbClr val="1F5673"/>
                </a:solidFill>
                <a:latin typeface="Segoe UI"/>
              </a:rPr>
              <a:t>The system does not generate another random quiz. It measures, then decides — and states why.</a:t>
            </a:r>
          </a:p>
        </p:txBody>
      </p:sp>
      <p:sp>
        <p:nvSpPr>
          <p:cNvPr id="6" name="Rounded Rectangle 5"/>
          <p:cNvSpPr/>
          <p:nvPr/>
        </p:nvSpPr>
        <p:spPr>
          <a:xfrm>
            <a:off x="640080" y="1901952"/>
            <a:ext cx="1664208" cy="841248"/>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0">
                <a:solidFill>
                  <a:srgbClr val="12263A"/>
                </a:solidFill>
                <a:latin typeface="Segoe UI"/>
              </a:rPr>
              <a:t>Learner</a:t>
            </a:r>
          </a:p>
          <a:p>
            <a:pPr algn="ctr">
              <a:lnSpc>
                <a:spcPct val="92000"/>
              </a:lnSpc>
            </a:pPr>
            <a:r>
              <a:rPr sz="1050" b="0">
                <a:solidFill>
                  <a:srgbClr val="12263A"/>
                </a:solidFill>
                <a:latin typeface="Segoe UI"/>
              </a:rPr>
              <a:t>answers</a:t>
            </a:r>
          </a:p>
        </p:txBody>
      </p:sp>
      <p:cxnSp>
        <p:nvCxnSpPr>
          <p:cNvPr id="7" name="Connector 6"/>
          <p:cNvCxnSpPr/>
          <p:nvPr/>
        </p:nvCxnSpPr>
        <p:spPr>
          <a:xfrm>
            <a:off x="2322576" y="2322576"/>
            <a:ext cx="137160" cy="0"/>
          </a:xfrm>
          <a:prstGeom prst="line">
            <a:avLst/>
          </a:prstGeom>
          <a:ln w="1524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78024" y="1901952"/>
            <a:ext cx="1664208" cy="841248"/>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0">
                <a:solidFill>
                  <a:srgbClr val="12263A"/>
                </a:solidFill>
                <a:latin typeface="Segoe UI"/>
              </a:rPr>
              <a:t>Recency-weighted</a:t>
            </a:r>
          </a:p>
          <a:p>
            <a:pPr algn="ctr">
              <a:lnSpc>
                <a:spcPct val="92000"/>
              </a:lnSpc>
            </a:pPr>
            <a:r>
              <a:rPr sz="1050" b="0">
                <a:solidFill>
                  <a:srgbClr val="12263A"/>
                </a:solidFill>
                <a:latin typeface="Segoe UI"/>
              </a:rPr>
              <a:t>performance</a:t>
            </a:r>
          </a:p>
        </p:txBody>
      </p:sp>
      <p:cxnSp>
        <p:nvCxnSpPr>
          <p:cNvPr id="9" name="Connector 8"/>
          <p:cNvCxnSpPr/>
          <p:nvPr/>
        </p:nvCxnSpPr>
        <p:spPr>
          <a:xfrm>
            <a:off x="4160520" y="2322576"/>
            <a:ext cx="137160" cy="0"/>
          </a:xfrm>
          <a:prstGeom prst="line">
            <a:avLst/>
          </a:prstGeom>
          <a:ln w="1524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15968" y="1901952"/>
            <a:ext cx="1664208" cy="841248"/>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0">
                <a:solidFill>
                  <a:srgbClr val="12263A"/>
                </a:solidFill>
                <a:latin typeface="Segoe UI"/>
              </a:rPr>
              <a:t>Evidence</a:t>
            </a:r>
          </a:p>
          <a:p>
            <a:pPr algn="ctr">
              <a:lnSpc>
                <a:spcPct val="92000"/>
              </a:lnSpc>
            </a:pPr>
            <a:r>
              <a:rPr sz="1050" b="0">
                <a:solidFill>
                  <a:srgbClr val="12263A"/>
                </a:solidFill>
                <a:latin typeface="Segoe UI"/>
              </a:rPr>
              <a:t>threshold</a:t>
            </a:r>
          </a:p>
        </p:txBody>
      </p:sp>
      <p:cxnSp>
        <p:nvCxnSpPr>
          <p:cNvPr id="11" name="Connector 10"/>
          <p:cNvCxnSpPr/>
          <p:nvPr/>
        </p:nvCxnSpPr>
        <p:spPr>
          <a:xfrm>
            <a:off x="5998464" y="2322576"/>
            <a:ext cx="137160" cy="0"/>
          </a:xfrm>
          <a:prstGeom prst="line">
            <a:avLst/>
          </a:prstGeom>
          <a:ln w="1524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153912" y="1901952"/>
            <a:ext cx="1664208" cy="841248"/>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0">
                <a:solidFill>
                  <a:srgbClr val="12263A"/>
                </a:solidFill>
                <a:latin typeface="Segoe UI"/>
              </a:rPr>
              <a:t>Mastery</a:t>
            </a:r>
          </a:p>
          <a:p>
            <a:pPr algn="ctr">
              <a:lnSpc>
                <a:spcPct val="92000"/>
              </a:lnSpc>
            </a:pPr>
            <a:r>
              <a:rPr sz="1050" b="0">
                <a:solidFill>
                  <a:srgbClr val="12263A"/>
                </a:solidFill>
                <a:latin typeface="Segoe UI"/>
              </a:rPr>
              <a:t>state</a:t>
            </a:r>
          </a:p>
        </p:txBody>
      </p:sp>
      <p:cxnSp>
        <p:nvCxnSpPr>
          <p:cNvPr id="13" name="Connector 12"/>
          <p:cNvCxnSpPr/>
          <p:nvPr/>
        </p:nvCxnSpPr>
        <p:spPr>
          <a:xfrm>
            <a:off x="7836408" y="2322576"/>
            <a:ext cx="137160" cy="0"/>
          </a:xfrm>
          <a:prstGeom prst="line">
            <a:avLst/>
          </a:prstGeom>
          <a:ln w="1524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991856" y="1901952"/>
            <a:ext cx="1664208" cy="841248"/>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0">
                <a:solidFill>
                  <a:srgbClr val="12263A"/>
                </a:solidFill>
                <a:latin typeface="Segoe UI"/>
              </a:rPr>
              <a:t>Priority</a:t>
            </a:r>
          </a:p>
        </p:txBody>
      </p:sp>
      <p:cxnSp>
        <p:nvCxnSpPr>
          <p:cNvPr id="15" name="Connector 14"/>
          <p:cNvCxnSpPr/>
          <p:nvPr/>
        </p:nvCxnSpPr>
        <p:spPr>
          <a:xfrm>
            <a:off x="9674352" y="2322576"/>
            <a:ext cx="137160" cy="0"/>
          </a:xfrm>
          <a:prstGeom prst="line">
            <a:avLst/>
          </a:prstGeom>
          <a:ln w="1524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829800" y="1901952"/>
            <a:ext cx="1664208" cy="841248"/>
          </a:xfrm>
          <a:prstGeom prst="roundRect">
            <a:avLst>
              <a:gd name="adj" fmla="val 8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1">
                <a:solidFill>
                  <a:srgbClr val="12263A"/>
                </a:solidFill>
                <a:latin typeface="Segoe UI"/>
              </a:rPr>
              <a:t>Targeted question</a:t>
            </a:r>
          </a:p>
          <a:p>
            <a:pPr algn="ctr">
              <a:lnSpc>
                <a:spcPct val="92000"/>
              </a:lnSpc>
            </a:pPr>
            <a:r>
              <a:rPr sz="1050" b="1">
                <a:solidFill>
                  <a:srgbClr val="12263A"/>
                </a:solidFill>
                <a:latin typeface="Segoe UI"/>
              </a:rPr>
              <a:t>selection</a:t>
            </a:r>
          </a:p>
        </p:txBody>
      </p:sp>
      <p:sp>
        <p:nvSpPr>
          <p:cNvPr id="17" name="Rounded Rectangle 16"/>
          <p:cNvSpPr/>
          <p:nvPr/>
        </p:nvSpPr>
        <p:spPr>
          <a:xfrm>
            <a:off x="640080" y="3072384"/>
            <a:ext cx="5318607" cy="2606040"/>
          </a:xfrm>
          <a:prstGeom prst="roundRect">
            <a:avLst>
              <a:gd name="adj" fmla="val 3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255264"/>
            <a:ext cx="4769967" cy="27432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PRIORITY BANDS</a:t>
            </a:r>
          </a:p>
        </p:txBody>
      </p:sp>
      <p:sp>
        <p:nvSpPr>
          <p:cNvPr id="19" name="Rounded Rectangle 18"/>
          <p:cNvSpPr/>
          <p:nvPr/>
        </p:nvSpPr>
        <p:spPr>
          <a:xfrm>
            <a:off x="914400" y="3657600"/>
            <a:ext cx="1143000" cy="329184"/>
          </a:xfrm>
          <a:prstGeom prst="roundRect">
            <a:avLst/>
          </a:prstGeom>
          <a:solidFill>
            <a:srgbClr val="A8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Segoe UI Semibold"/>
              </a:rPr>
              <a:t>HIGH</a:t>
            </a:r>
          </a:p>
        </p:txBody>
      </p:sp>
      <p:sp>
        <p:nvSpPr>
          <p:cNvPr id="20" name="TextBox 19"/>
          <p:cNvSpPr txBox="1"/>
          <p:nvPr/>
        </p:nvSpPr>
        <p:spPr>
          <a:xfrm>
            <a:off x="2240280" y="3703320"/>
            <a:ext cx="3200400" cy="27432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&lt; 60 %</a:t>
            </a:r>
          </a:p>
        </p:txBody>
      </p:sp>
      <p:sp>
        <p:nvSpPr>
          <p:cNvPr id="21" name="Rounded Rectangle 20"/>
          <p:cNvSpPr/>
          <p:nvPr/>
        </p:nvSpPr>
        <p:spPr>
          <a:xfrm>
            <a:off x="914400" y="4133087"/>
            <a:ext cx="1143000" cy="329184"/>
          </a:xfrm>
          <a:prstGeom prst="roundRect">
            <a:avLst/>
          </a:prstGeom>
          <a:solidFill>
            <a:srgbClr val="C0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Segoe UI Semibold"/>
              </a:rPr>
              <a:t>MEDIUM</a:t>
            </a:r>
          </a:p>
        </p:txBody>
      </p:sp>
      <p:sp>
        <p:nvSpPr>
          <p:cNvPr id="22" name="TextBox 21"/>
          <p:cNvSpPr txBox="1"/>
          <p:nvPr/>
        </p:nvSpPr>
        <p:spPr>
          <a:xfrm>
            <a:off x="2240280" y="4178807"/>
            <a:ext cx="3200400" cy="27432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60 – &lt; 80 %</a:t>
            </a:r>
          </a:p>
        </p:txBody>
      </p:sp>
      <p:sp>
        <p:nvSpPr>
          <p:cNvPr id="23" name="Rounded Rectangle 22"/>
          <p:cNvSpPr/>
          <p:nvPr/>
        </p:nvSpPr>
        <p:spPr>
          <a:xfrm>
            <a:off x="914400" y="4608576"/>
            <a:ext cx="1143000" cy="329184"/>
          </a:xfrm>
          <a:prstGeom prst="roundRect">
            <a:avLst/>
          </a:prstGeom>
          <a:solidFill>
            <a:srgbClr val="1B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Segoe UI Semibold"/>
              </a:rPr>
              <a:t>LOW</a:t>
            </a:r>
          </a:p>
        </p:txBody>
      </p:sp>
      <p:sp>
        <p:nvSpPr>
          <p:cNvPr id="24" name="TextBox 23"/>
          <p:cNvSpPr txBox="1"/>
          <p:nvPr/>
        </p:nvSpPr>
        <p:spPr>
          <a:xfrm>
            <a:off x="2240280" y="4654296"/>
            <a:ext cx="3200400" cy="27432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 80 %</a:t>
            </a:r>
          </a:p>
        </p:txBody>
      </p:sp>
      <p:sp>
        <p:nvSpPr>
          <p:cNvPr id="25" name="Rounded Rectangle 24"/>
          <p:cNvSpPr/>
          <p:nvPr/>
        </p:nvSpPr>
        <p:spPr>
          <a:xfrm>
            <a:off x="914400" y="5084064"/>
            <a:ext cx="1143000" cy="329184"/>
          </a:xfrm>
          <a:prstGeom prst="roundRect">
            <a:avLst/>
          </a:prstGeom>
          <a:solidFill>
            <a:srgbClr val="5A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Segoe UI Semibold"/>
              </a:rPr>
              <a:t>NONE</a:t>
            </a:r>
          </a:p>
        </p:txBody>
      </p:sp>
      <p:sp>
        <p:nvSpPr>
          <p:cNvPr id="26" name="TextBox 25"/>
          <p:cNvSpPr txBox="1"/>
          <p:nvPr/>
        </p:nvSpPr>
        <p:spPr>
          <a:xfrm>
            <a:off x="2240280" y="5129784"/>
            <a:ext cx="3200400" cy="274320"/>
          </a:xfrm>
          <a:prstGeom prst="rect">
            <a:avLst/>
          </a:prstGeom>
          <a:noFill/>
        </p:spPr>
        <p:txBody>
          <a:bodyPr wrap="square" lIns="0" rIns="0" tIns="0" bIns="0" anchor="t">
            <a:spAutoFit/>
          </a:bodyPr>
          <a:lstStyle/>
          <a:p>
            <a:pPr algn="l">
              <a:lnSpc>
                <a:spcPct val="100000"/>
              </a:lnSpc>
            </a:pPr>
            <a:r>
              <a:rPr sz="1250" b="0" i="0">
                <a:solidFill>
                  <a:srgbClr val="12263A"/>
                </a:solidFill>
                <a:latin typeface="Segoe UI"/>
              </a:rPr>
              <a:t>mastered — retired</a:t>
            </a:r>
          </a:p>
        </p:txBody>
      </p:sp>
      <p:sp>
        <p:nvSpPr>
          <p:cNvPr id="27" name="Rounded Rectangle 26"/>
          <p:cNvSpPr/>
          <p:nvPr/>
        </p:nvSpPr>
        <p:spPr>
          <a:xfrm>
            <a:off x="6233007" y="3072384"/>
            <a:ext cx="5318607" cy="2606040"/>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07327" y="3255264"/>
            <a:ext cx="4769967" cy="27432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GOVERNING PARAMETERS</a:t>
            </a:r>
          </a:p>
        </p:txBody>
      </p:sp>
      <p:sp>
        <p:nvSpPr>
          <p:cNvPr id="29" name="TextBox 28"/>
          <p:cNvSpPr txBox="1"/>
          <p:nvPr/>
        </p:nvSpPr>
        <p:spPr>
          <a:xfrm>
            <a:off x="6507327" y="3657600"/>
            <a:ext cx="3017520" cy="256032"/>
          </a:xfrm>
          <a:prstGeom prst="rect">
            <a:avLst/>
          </a:prstGeom>
          <a:noFill/>
        </p:spPr>
        <p:txBody>
          <a:bodyPr wrap="square" lIns="0" rIns="0" tIns="0" bIns="0" anchor="t">
            <a:spAutoFit/>
          </a:bodyPr>
          <a:lstStyle/>
          <a:p>
            <a:pPr algn="l">
              <a:lnSpc>
                <a:spcPct val="100000"/>
              </a:lnSpc>
            </a:pPr>
            <a:r>
              <a:rPr sz="1100" b="1" i="0">
                <a:solidFill>
                  <a:srgbClr val="12263A"/>
                </a:solidFill>
                <a:latin typeface="Segoe UI"/>
              </a:rPr>
              <a:t>RECENCY_HALF_LIFE</a:t>
            </a:r>
          </a:p>
        </p:txBody>
      </p:sp>
      <p:sp>
        <p:nvSpPr>
          <p:cNvPr id="30" name="TextBox 29"/>
          <p:cNvSpPr txBox="1"/>
          <p:nvPr/>
        </p:nvSpPr>
        <p:spPr>
          <a:xfrm>
            <a:off x="9570567" y="3657600"/>
            <a:ext cx="1737360" cy="256032"/>
          </a:xfrm>
          <a:prstGeom prst="rect">
            <a:avLst/>
          </a:prstGeom>
          <a:noFill/>
        </p:spPr>
        <p:txBody>
          <a:bodyPr wrap="square" lIns="0" rIns="0" tIns="0" bIns="0" anchor="t">
            <a:spAutoFit/>
          </a:bodyPr>
          <a:lstStyle/>
          <a:p>
            <a:pPr algn="l">
              <a:lnSpc>
                <a:spcPct val="100000"/>
              </a:lnSpc>
            </a:pPr>
            <a:r>
              <a:rPr sz="1100" b="1" i="0">
                <a:solidFill>
                  <a:srgbClr val="0E6E6E"/>
                </a:solidFill>
                <a:latin typeface="Segoe UI"/>
              </a:rPr>
              <a:t>5 answers</a:t>
            </a:r>
          </a:p>
        </p:txBody>
      </p:sp>
      <p:sp>
        <p:nvSpPr>
          <p:cNvPr id="31" name="TextBox 30"/>
          <p:cNvSpPr txBox="1"/>
          <p:nvPr/>
        </p:nvSpPr>
        <p:spPr>
          <a:xfrm>
            <a:off x="6507327" y="3913632"/>
            <a:ext cx="4495647" cy="274320"/>
          </a:xfrm>
          <a:prstGeom prst="rect">
            <a:avLst/>
          </a:prstGeom>
          <a:noFill/>
        </p:spPr>
        <p:txBody>
          <a:bodyPr wrap="square" lIns="0" rIns="0" tIns="0" bIns="0" anchor="t">
            <a:spAutoFit/>
          </a:bodyPr>
          <a:lstStyle/>
          <a:p>
            <a:pPr algn="l">
              <a:lnSpc>
                <a:spcPct val="100000"/>
              </a:lnSpc>
            </a:pPr>
            <a:r>
              <a:rPr sz="1000" b="0" i="0">
                <a:solidFill>
                  <a:srgbClr val="5A6B73"/>
                </a:solidFill>
                <a:latin typeface="Segoe UI"/>
              </a:rPr>
              <a:t>w = 0.5 ^ (i / 5)</a:t>
            </a:r>
          </a:p>
        </p:txBody>
      </p:sp>
      <p:sp>
        <p:nvSpPr>
          <p:cNvPr id="32" name="TextBox 31"/>
          <p:cNvSpPr txBox="1"/>
          <p:nvPr/>
        </p:nvSpPr>
        <p:spPr>
          <a:xfrm>
            <a:off x="6507327" y="4315968"/>
            <a:ext cx="3017520" cy="256032"/>
          </a:xfrm>
          <a:prstGeom prst="rect">
            <a:avLst/>
          </a:prstGeom>
          <a:noFill/>
        </p:spPr>
        <p:txBody>
          <a:bodyPr wrap="square" lIns="0" rIns="0" tIns="0" bIns="0" anchor="t">
            <a:spAutoFit/>
          </a:bodyPr>
          <a:lstStyle/>
          <a:p>
            <a:pPr algn="l">
              <a:lnSpc>
                <a:spcPct val="100000"/>
              </a:lnSpc>
            </a:pPr>
            <a:r>
              <a:rPr sz="1100" b="1" i="0">
                <a:solidFill>
                  <a:srgbClr val="12263A"/>
                </a:solidFill>
                <a:latin typeface="Segoe UI"/>
              </a:rPr>
              <a:t>MIN_EVIDENCE</a:t>
            </a:r>
          </a:p>
        </p:txBody>
      </p:sp>
      <p:sp>
        <p:nvSpPr>
          <p:cNvPr id="33" name="TextBox 32"/>
          <p:cNvSpPr txBox="1"/>
          <p:nvPr/>
        </p:nvSpPr>
        <p:spPr>
          <a:xfrm>
            <a:off x="9570567" y="4315968"/>
            <a:ext cx="1737360" cy="256032"/>
          </a:xfrm>
          <a:prstGeom prst="rect">
            <a:avLst/>
          </a:prstGeom>
          <a:noFill/>
        </p:spPr>
        <p:txBody>
          <a:bodyPr wrap="square" lIns="0" rIns="0" tIns="0" bIns="0" anchor="t">
            <a:spAutoFit/>
          </a:bodyPr>
          <a:lstStyle/>
          <a:p>
            <a:pPr algn="l">
              <a:lnSpc>
                <a:spcPct val="100000"/>
              </a:lnSpc>
            </a:pPr>
            <a:r>
              <a:rPr sz="1100" b="1" i="0">
                <a:solidFill>
                  <a:srgbClr val="0E6E6E"/>
                </a:solidFill>
                <a:latin typeface="Segoe UI"/>
              </a:rPr>
              <a:t>3 answers</a:t>
            </a:r>
          </a:p>
        </p:txBody>
      </p:sp>
      <p:sp>
        <p:nvSpPr>
          <p:cNvPr id="34" name="TextBox 33"/>
          <p:cNvSpPr txBox="1"/>
          <p:nvPr/>
        </p:nvSpPr>
        <p:spPr>
          <a:xfrm>
            <a:off x="6507327" y="4572000"/>
            <a:ext cx="4495647" cy="274320"/>
          </a:xfrm>
          <a:prstGeom prst="rect">
            <a:avLst/>
          </a:prstGeom>
          <a:noFill/>
        </p:spPr>
        <p:txBody>
          <a:bodyPr wrap="square" lIns="0" rIns="0" tIns="0" bIns="0" anchor="t">
            <a:spAutoFit/>
          </a:bodyPr>
          <a:lstStyle/>
          <a:p>
            <a:pPr algn="l">
              <a:lnSpc>
                <a:spcPct val="100000"/>
              </a:lnSpc>
            </a:pPr>
            <a:r>
              <a:rPr sz="1000" b="0" i="0">
                <a:solidFill>
                  <a:srgbClr val="5A6B73"/>
                </a:solidFill>
                <a:latin typeface="Segoe UI"/>
              </a:rPr>
              <a:t>below this a section cannot be excluded</a:t>
            </a:r>
          </a:p>
        </p:txBody>
      </p:sp>
      <p:sp>
        <p:nvSpPr>
          <p:cNvPr id="35" name="TextBox 34"/>
          <p:cNvSpPr txBox="1"/>
          <p:nvPr/>
        </p:nvSpPr>
        <p:spPr>
          <a:xfrm>
            <a:off x="6507327" y="4974336"/>
            <a:ext cx="3017520" cy="256032"/>
          </a:xfrm>
          <a:prstGeom prst="rect">
            <a:avLst/>
          </a:prstGeom>
          <a:noFill/>
        </p:spPr>
        <p:txBody>
          <a:bodyPr wrap="square" lIns="0" rIns="0" tIns="0" bIns="0" anchor="t">
            <a:spAutoFit/>
          </a:bodyPr>
          <a:lstStyle/>
          <a:p>
            <a:pPr algn="l">
              <a:lnSpc>
                <a:spcPct val="100000"/>
              </a:lnSpc>
            </a:pPr>
            <a:r>
              <a:rPr sz="1100" b="1" i="0">
                <a:solidFill>
                  <a:srgbClr val="12263A"/>
                </a:solidFill>
                <a:latin typeface="Segoe UI"/>
              </a:rPr>
              <a:t>MASTERY_STREAK</a:t>
            </a:r>
          </a:p>
        </p:txBody>
      </p:sp>
      <p:sp>
        <p:nvSpPr>
          <p:cNvPr id="36" name="TextBox 35"/>
          <p:cNvSpPr txBox="1"/>
          <p:nvPr/>
        </p:nvSpPr>
        <p:spPr>
          <a:xfrm>
            <a:off x="9570567" y="4974336"/>
            <a:ext cx="1737360" cy="256032"/>
          </a:xfrm>
          <a:prstGeom prst="rect">
            <a:avLst/>
          </a:prstGeom>
          <a:noFill/>
        </p:spPr>
        <p:txBody>
          <a:bodyPr wrap="square" lIns="0" rIns="0" tIns="0" bIns="0" anchor="t">
            <a:spAutoFit/>
          </a:bodyPr>
          <a:lstStyle/>
          <a:p>
            <a:pPr algn="l">
              <a:lnSpc>
                <a:spcPct val="100000"/>
              </a:lnSpc>
            </a:pPr>
            <a:r>
              <a:rPr sz="1100" b="1" i="0">
                <a:solidFill>
                  <a:srgbClr val="0E6E6E"/>
                </a:solidFill>
                <a:latin typeface="Segoe UI"/>
              </a:rPr>
              <a:t>3 passes</a:t>
            </a:r>
          </a:p>
        </p:txBody>
      </p:sp>
      <p:sp>
        <p:nvSpPr>
          <p:cNvPr id="37" name="TextBox 36"/>
          <p:cNvSpPr txBox="1"/>
          <p:nvPr/>
        </p:nvSpPr>
        <p:spPr>
          <a:xfrm>
            <a:off x="6507327" y="5230368"/>
            <a:ext cx="4495647" cy="274320"/>
          </a:xfrm>
          <a:prstGeom prst="rect">
            <a:avLst/>
          </a:prstGeom>
          <a:noFill/>
        </p:spPr>
        <p:txBody>
          <a:bodyPr wrap="square" lIns="0" rIns="0" tIns="0" bIns="0" anchor="t">
            <a:spAutoFit/>
          </a:bodyPr>
          <a:lstStyle/>
          <a:p>
            <a:pPr algn="l">
              <a:lnSpc>
                <a:spcPct val="100000"/>
              </a:lnSpc>
            </a:pPr>
            <a:r>
              <a:rPr sz="1000" b="0" i="0">
                <a:solidFill>
                  <a:srgbClr val="5A6B73"/>
                </a:solidFill>
                <a:latin typeface="Segoe UI"/>
              </a:rPr>
              <a:t>consecutive passing assessments → NONE</a:t>
            </a:r>
          </a:p>
        </p:txBody>
      </p:sp>
      <p:sp>
        <p:nvSpPr>
          <p:cNvPr id="38" name="Rounded Rectangle 37"/>
          <p:cNvSpPr/>
          <p:nvPr/>
        </p:nvSpPr>
        <p:spPr>
          <a:xfrm>
            <a:off x="640080" y="5870448"/>
            <a:ext cx="10911535" cy="603504"/>
          </a:xfrm>
          <a:prstGeom prst="roundRect">
            <a:avLst>
              <a:gd name="adj" fmla="val 3000"/>
            </a:avLst>
          </a:prstGeom>
          <a:solidFill>
            <a:srgbClr val="E8EFF3"/>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989320"/>
            <a:ext cx="10362895" cy="365760"/>
          </a:xfrm>
          <a:prstGeom prst="rect">
            <a:avLst/>
          </a:prstGeom>
          <a:noFill/>
        </p:spPr>
        <p:txBody>
          <a:bodyPr wrap="square" lIns="0" rIns="0" tIns="0" bIns="0" anchor="t">
            <a:spAutoFit/>
          </a:bodyPr>
          <a:lstStyle/>
          <a:p>
            <a:pPr algn="l">
              <a:lnSpc>
                <a:spcPct val="100000"/>
              </a:lnSpc>
            </a:pPr>
            <a:r>
              <a:rPr sz="1250" b="1" i="0">
                <a:solidFill>
                  <a:srgbClr val="1F5673"/>
                </a:solidFill>
                <a:latin typeface="Segoe UI"/>
              </a:rPr>
              <a:t>Never assessed → HIGH.  Absence of evidence must never read as competence.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10 · CLASSIFICATION</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What Kind of Adaptive System Is This?</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911535" cy="320040"/>
          </a:xfrm>
          <a:prstGeom prst="rect">
            <a:avLst/>
          </a:prstGeom>
          <a:noFill/>
        </p:spPr>
        <p:txBody>
          <a:bodyPr wrap="square" lIns="0" rIns="0" tIns="0" bIns="0" anchor="t">
            <a:spAutoFit/>
          </a:bodyPr>
          <a:lstStyle/>
          <a:p>
            <a:pPr algn="l">
              <a:lnSpc>
                <a:spcPct val="100000"/>
              </a:lnSpc>
            </a:pPr>
            <a:r>
              <a:rPr sz="1700" b="1" i="0">
                <a:solidFill>
                  <a:srgbClr val="0E6E6E"/>
                </a:solidFill>
                <a:latin typeface="Segoe UI Semibold"/>
              </a:rPr>
              <a:t>Overall:  HYBRID ADAPTIVE SYSTEM</a:t>
            </a:r>
          </a:p>
        </p:txBody>
      </p:sp>
      <p:sp>
        <p:nvSpPr>
          <p:cNvPr id="6" name="Rounded Rectangle 5"/>
          <p:cNvSpPr/>
          <p:nvPr/>
        </p:nvSpPr>
        <p:spPr>
          <a:xfrm>
            <a:off x="640080" y="1874519"/>
            <a:ext cx="10911535" cy="731520"/>
          </a:xfrm>
          <a:prstGeom prst="roundRect">
            <a:avLst>
              <a:gd name="adj" fmla="val 3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130552"/>
            <a:ext cx="868680" cy="274320"/>
          </a:xfrm>
          <a:prstGeom prst="rect">
            <a:avLst/>
          </a:prstGeom>
          <a:noFill/>
        </p:spPr>
        <p:txBody>
          <a:bodyPr wrap="square" lIns="0" rIns="0" tIns="0" bIns="0" anchor="t">
            <a:spAutoFit/>
          </a:bodyPr>
          <a:lstStyle/>
          <a:p>
            <a:pPr algn="l">
              <a:lnSpc>
                <a:spcPct val="100000"/>
              </a:lnSpc>
            </a:pPr>
            <a:r>
              <a:rPr sz="1000" b="1" i="0">
                <a:solidFill>
                  <a:srgbClr val="0E6E6E"/>
                </a:solidFill>
                <a:latin typeface="Segoe UI Semibold"/>
              </a:rPr>
              <a:t>LAYER 1</a:t>
            </a:r>
          </a:p>
        </p:txBody>
      </p:sp>
      <p:sp>
        <p:nvSpPr>
          <p:cNvPr id="8" name="TextBox 7"/>
          <p:cNvSpPr txBox="1"/>
          <p:nvPr/>
        </p:nvSpPr>
        <p:spPr>
          <a:xfrm>
            <a:off x="1874519" y="2093976"/>
            <a:ext cx="2651760" cy="274320"/>
          </a:xfrm>
          <a:prstGeom prst="rect">
            <a:avLst/>
          </a:prstGeom>
          <a:noFill/>
        </p:spPr>
        <p:txBody>
          <a:bodyPr wrap="square" lIns="0" rIns="0" tIns="0" bIns="0" anchor="t">
            <a:spAutoFit/>
          </a:bodyPr>
          <a:lstStyle/>
          <a:p>
            <a:pPr algn="l">
              <a:lnSpc>
                <a:spcPct val="100000"/>
              </a:lnSpc>
            </a:pPr>
            <a:r>
              <a:rPr sz="1350" b="1" i="0">
                <a:solidFill>
                  <a:srgbClr val="12263A"/>
                </a:solidFill>
                <a:latin typeface="Segoe UI"/>
              </a:rPr>
              <a:t>Rule-based adaptive priority</a:t>
            </a:r>
          </a:p>
        </p:txBody>
      </p:sp>
      <p:sp>
        <p:nvSpPr>
          <p:cNvPr id="9" name="TextBox 8"/>
          <p:cNvSpPr txBox="1"/>
          <p:nvPr/>
        </p:nvSpPr>
        <p:spPr>
          <a:xfrm>
            <a:off x="4709160" y="2121408"/>
            <a:ext cx="4206240" cy="274320"/>
          </a:xfrm>
          <a:prstGeom prst="rect">
            <a:avLst/>
          </a:prstGeom>
          <a:noFill/>
        </p:spPr>
        <p:txBody>
          <a:bodyPr wrap="square" lIns="0" rIns="0" tIns="0" bIns="0" anchor="t">
            <a:spAutoFit/>
          </a:bodyPr>
          <a:lstStyle/>
          <a:p>
            <a:pPr algn="l">
              <a:lnSpc>
                <a:spcPct val="100000"/>
              </a:lnSpc>
            </a:pPr>
            <a:r>
              <a:rPr sz="1150" b="0" i="0">
                <a:solidFill>
                  <a:srgbClr val="5A6B73"/>
                </a:solidFill>
                <a:latin typeface="Segoe UI"/>
              </a:rPr>
              <a:t>Fixed thresholds · evidence gate · mastery state</a:t>
            </a:r>
          </a:p>
        </p:txBody>
      </p:sp>
      <p:sp>
        <p:nvSpPr>
          <p:cNvPr id="10" name="TextBox 9"/>
          <p:cNvSpPr txBox="1"/>
          <p:nvPr/>
        </p:nvSpPr>
        <p:spPr>
          <a:xfrm>
            <a:off x="9098280" y="2121408"/>
            <a:ext cx="2377440" cy="274320"/>
          </a:xfrm>
          <a:prstGeom prst="rect">
            <a:avLst/>
          </a:prstGeom>
          <a:noFill/>
        </p:spPr>
        <p:txBody>
          <a:bodyPr wrap="square" lIns="0" rIns="0" tIns="0" bIns="0" anchor="t">
            <a:spAutoFit/>
          </a:bodyPr>
          <a:lstStyle/>
          <a:p>
            <a:pPr algn="r">
              <a:lnSpc>
                <a:spcPct val="100000"/>
              </a:lnSpc>
            </a:pPr>
            <a:r>
              <a:rPr sz="1100" b="1" i="0">
                <a:solidFill>
                  <a:srgbClr val="5A6B73"/>
                </a:solidFill>
                <a:latin typeface="Segoe UI"/>
              </a:rPr>
              <a:t>Chosen, not fitted</a:t>
            </a:r>
          </a:p>
        </p:txBody>
      </p:sp>
      <p:sp>
        <p:nvSpPr>
          <p:cNvPr id="11" name="Rounded Rectangle 10"/>
          <p:cNvSpPr/>
          <p:nvPr/>
        </p:nvSpPr>
        <p:spPr>
          <a:xfrm>
            <a:off x="640080" y="2715768"/>
            <a:ext cx="10911535" cy="731520"/>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971800"/>
            <a:ext cx="868680" cy="274320"/>
          </a:xfrm>
          <a:prstGeom prst="rect">
            <a:avLst/>
          </a:prstGeom>
          <a:noFill/>
        </p:spPr>
        <p:txBody>
          <a:bodyPr wrap="square" lIns="0" rIns="0" tIns="0" bIns="0" anchor="t">
            <a:spAutoFit/>
          </a:bodyPr>
          <a:lstStyle/>
          <a:p>
            <a:pPr algn="l">
              <a:lnSpc>
                <a:spcPct val="100000"/>
              </a:lnSpc>
            </a:pPr>
            <a:r>
              <a:rPr sz="1000" b="1" i="0">
                <a:solidFill>
                  <a:srgbClr val="0E6E6E"/>
                </a:solidFill>
                <a:latin typeface="Segoe UI Semibold"/>
              </a:rPr>
              <a:t>LAYER 2</a:t>
            </a:r>
          </a:p>
        </p:txBody>
      </p:sp>
      <p:sp>
        <p:nvSpPr>
          <p:cNvPr id="13" name="TextBox 12"/>
          <p:cNvSpPr txBox="1"/>
          <p:nvPr/>
        </p:nvSpPr>
        <p:spPr>
          <a:xfrm>
            <a:off x="1874519" y="2935224"/>
            <a:ext cx="2651760" cy="274320"/>
          </a:xfrm>
          <a:prstGeom prst="rect">
            <a:avLst/>
          </a:prstGeom>
          <a:noFill/>
        </p:spPr>
        <p:txBody>
          <a:bodyPr wrap="square" lIns="0" rIns="0" tIns="0" bIns="0" anchor="t">
            <a:spAutoFit/>
          </a:bodyPr>
          <a:lstStyle/>
          <a:p>
            <a:pPr algn="l">
              <a:lnSpc>
                <a:spcPct val="100000"/>
              </a:lnSpc>
            </a:pPr>
            <a:r>
              <a:rPr sz="1350" b="1" i="0">
                <a:solidFill>
                  <a:srgbClr val="12263A"/>
                </a:solidFill>
                <a:latin typeface="Segoe UI"/>
              </a:rPr>
              <a:t>Statistical signal</a:t>
            </a:r>
          </a:p>
        </p:txBody>
      </p:sp>
      <p:sp>
        <p:nvSpPr>
          <p:cNvPr id="14" name="TextBox 13"/>
          <p:cNvSpPr txBox="1"/>
          <p:nvPr/>
        </p:nvSpPr>
        <p:spPr>
          <a:xfrm>
            <a:off x="4709160" y="2962656"/>
            <a:ext cx="4206240" cy="274320"/>
          </a:xfrm>
          <a:prstGeom prst="rect">
            <a:avLst/>
          </a:prstGeom>
          <a:noFill/>
        </p:spPr>
        <p:txBody>
          <a:bodyPr wrap="square" lIns="0" rIns="0" tIns="0" bIns="0" anchor="t">
            <a:spAutoFit/>
          </a:bodyPr>
          <a:lstStyle/>
          <a:p>
            <a:pPr algn="l">
              <a:lnSpc>
                <a:spcPct val="100000"/>
              </a:lnSpc>
            </a:pPr>
            <a:r>
              <a:rPr sz="1150" b="0" i="0">
                <a:solidFill>
                  <a:srgbClr val="5A6B73"/>
                </a:solidFill>
                <a:latin typeface="Segoe UI"/>
              </a:rPr>
              <a:t>Exponentially recency-weighted learner performance</a:t>
            </a:r>
          </a:p>
        </p:txBody>
      </p:sp>
      <p:sp>
        <p:nvSpPr>
          <p:cNvPr id="15" name="TextBox 14"/>
          <p:cNvSpPr txBox="1"/>
          <p:nvPr/>
        </p:nvSpPr>
        <p:spPr>
          <a:xfrm>
            <a:off x="9098280" y="2962656"/>
            <a:ext cx="2377440" cy="274320"/>
          </a:xfrm>
          <a:prstGeom prst="rect">
            <a:avLst/>
          </a:prstGeom>
          <a:noFill/>
        </p:spPr>
        <p:txBody>
          <a:bodyPr wrap="square" lIns="0" rIns="0" tIns="0" bIns="0" anchor="t">
            <a:spAutoFit/>
          </a:bodyPr>
          <a:lstStyle/>
          <a:p>
            <a:pPr algn="r">
              <a:lnSpc>
                <a:spcPct val="100000"/>
              </a:lnSpc>
            </a:pPr>
            <a:r>
              <a:rPr sz="1100" b="1" i="0">
                <a:solidFill>
                  <a:srgbClr val="5A6B73"/>
                </a:solidFill>
                <a:latin typeface="Segoe UI"/>
              </a:rPr>
              <a:t>Estimated from data</a:t>
            </a:r>
          </a:p>
        </p:txBody>
      </p:sp>
      <p:sp>
        <p:nvSpPr>
          <p:cNvPr id="16" name="Rounded Rectangle 15"/>
          <p:cNvSpPr/>
          <p:nvPr/>
        </p:nvSpPr>
        <p:spPr>
          <a:xfrm>
            <a:off x="640080" y="3557015"/>
            <a:ext cx="10911535" cy="731520"/>
          </a:xfrm>
          <a:prstGeom prst="roundRect">
            <a:avLst>
              <a:gd name="adj" fmla="val 3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813048"/>
            <a:ext cx="868680" cy="274320"/>
          </a:xfrm>
          <a:prstGeom prst="rect">
            <a:avLst/>
          </a:prstGeom>
          <a:noFill/>
        </p:spPr>
        <p:txBody>
          <a:bodyPr wrap="square" lIns="0" rIns="0" tIns="0" bIns="0" anchor="t">
            <a:spAutoFit/>
          </a:bodyPr>
          <a:lstStyle/>
          <a:p>
            <a:pPr algn="l">
              <a:lnSpc>
                <a:spcPct val="100000"/>
              </a:lnSpc>
            </a:pPr>
            <a:r>
              <a:rPr sz="1000" b="1" i="0">
                <a:solidFill>
                  <a:srgbClr val="0E6E6E"/>
                </a:solidFill>
                <a:latin typeface="Segoe UI Semibold"/>
              </a:rPr>
              <a:t>LAYER 3</a:t>
            </a:r>
          </a:p>
        </p:txBody>
      </p:sp>
      <p:sp>
        <p:nvSpPr>
          <p:cNvPr id="18" name="TextBox 17"/>
          <p:cNvSpPr txBox="1"/>
          <p:nvPr/>
        </p:nvSpPr>
        <p:spPr>
          <a:xfrm>
            <a:off x="1874519" y="3776472"/>
            <a:ext cx="2651760" cy="274320"/>
          </a:xfrm>
          <a:prstGeom prst="rect">
            <a:avLst/>
          </a:prstGeom>
          <a:noFill/>
        </p:spPr>
        <p:txBody>
          <a:bodyPr wrap="square" lIns="0" rIns="0" tIns="0" bIns="0" anchor="t">
            <a:spAutoFit/>
          </a:bodyPr>
          <a:lstStyle/>
          <a:p>
            <a:pPr algn="l">
              <a:lnSpc>
                <a:spcPct val="100000"/>
              </a:lnSpc>
            </a:pPr>
            <a:r>
              <a:rPr sz="1350" b="1" i="0">
                <a:solidFill>
                  <a:srgbClr val="12263A"/>
                </a:solidFill>
                <a:latin typeface="Segoe UI"/>
              </a:rPr>
              <a:t>Elo</a:t>
            </a:r>
          </a:p>
        </p:txBody>
      </p:sp>
      <p:sp>
        <p:nvSpPr>
          <p:cNvPr id="19" name="TextBox 18"/>
          <p:cNvSpPr txBox="1"/>
          <p:nvPr/>
        </p:nvSpPr>
        <p:spPr>
          <a:xfrm>
            <a:off x="4709160" y="3803904"/>
            <a:ext cx="4206240" cy="274320"/>
          </a:xfrm>
          <a:prstGeom prst="rect">
            <a:avLst/>
          </a:prstGeom>
          <a:noFill/>
        </p:spPr>
        <p:txBody>
          <a:bodyPr wrap="square" lIns="0" rIns="0" tIns="0" bIns="0" anchor="t">
            <a:spAutoFit/>
          </a:bodyPr>
          <a:lstStyle/>
          <a:p>
            <a:pPr algn="l">
              <a:lnSpc>
                <a:spcPct val="100000"/>
              </a:lnSpc>
            </a:pPr>
            <a:r>
              <a:rPr sz="1150" b="0" i="0">
                <a:solidFill>
                  <a:srgbClr val="5A6B73"/>
                </a:solidFill>
                <a:latin typeface="Segoe UI"/>
              </a:rPr>
              <a:t>Online estimation of learner ability and question difficulty</a:t>
            </a:r>
          </a:p>
        </p:txBody>
      </p:sp>
      <p:sp>
        <p:nvSpPr>
          <p:cNvPr id="20" name="TextBox 19"/>
          <p:cNvSpPr txBox="1"/>
          <p:nvPr/>
        </p:nvSpPr>
        <p:spPr>
          <a:xfrm>
            <a:off x="9098280" y="3803904"/>
            <a:ext cx="2377440" cy="274320"/>
          </a:xfrm>
          <a:prstGeom prst="rect">
            <a:avLst/>
          </a:prstGeom>
          <a:noFill/>
        </p:spPr>
        <p:txBody>
          <a:bodyPr wrap="square" lIns="0" rIns="0" tIns="0" bIns="0" anchor="t">
            <a:spAutoFit/>
          </a:bodyPr>
          <a:lstStyle/>
          <a:p>
            <a:pPr algn="r">
              <a:lnSpc>
                <a:spcPct val="100000"/>
              </a:lnSpc>
            </a:pPr>
            <a:r>
              <a:rPr sz="1100" b="1" i="0">
                <a:solidFill>
                  <a:srgbClr val="0E6E6E"/>
                </a:solidFill>
                <a:latin typeface="Segoe UI"/>
              </a:rPr>
              <a:t>Learns online</a:t>
            </a:r>
          </a:p>
        </p:txBody>
      </p:sp>
      <p:sp>
        <p:nvSpPr>
          <p:cNvPr id="21" name="Rounded Rectangle 20"/>
          <p:cNvSpPr/>
          <p:nvPr/>
        </p:nvSpPr>
        <p:spPr>
          <a:xfrm>
            <a:off x="640080" y="4398264"/>
            <a:ext cx="10911535" cy="731520"/>
          </a:xfrm>
          <a:prstGeom prst="roundRect">
            <a:avLst>
              <a:gd name="adj" fmla="val 3000"/>
            </a:avLst>
          </a:prstGeom>
          <a:solidFill>
            <a:srgbClr val="E8EFF3"/>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4654296"/>
            <a:ext cx="868680" cy="274320"/>
          </a:xfrm>
          <a:prstGeom prst="rect">
            <a:avLst/>
          </a:prstGeom>
          <a:noFill/>
        </p:spPr>
        <p:txBody>
          <a:bodyPr wrap="square" lIns="0" rIns="0" tIns="0" bIns="0" anchor="t">
            <a:spAutoFit/>
          </a:bodyPr>
          <a:lstStyle/>
          <a:p>
            <a:pPr algn="l">
              <a:lnSpc>
                <a:spcPct val="100000"/>
              </a:lnSpc>
            </a:pPr>
            <a:r>
              <a:rPr sz="1000" b="1" i="0">
                <a:solidFill>
                  <a:srgbClr val="0E6E6E"/>
                </a:solidFill>
                <a:latin typeface="Segoe UI Semibold"/>
              </a:rPr>
              <a:t>LAYER 4</a:t>
            </a:r>
          </a:p>
        </p:txBody>
      </p:sp>
      <p:sp>
        <p:nvSpPr>
          <p:cNvPr id="23" name="TextBox 22"/>
          <p:cNvSpPr txBox="1"/>
          <p:nvPr/>
        </p:nvSpPr>
        <p:spPr>
          <a:xfrm>
            <a:off x="1874519" y="4617720"/>
            <a:ext cx="2651760" cy="274320"/>
          </a:xfrm>
          <a:prstGeom prst="rect">
            <a:avLst/>
          </a:prstGeom>
          <a:noFill/>
        </p:spPr>
        <p:txBody>
          <a:bodyPr wrap="square" lIns="0" rIns="0" tIns="0" bIns="0" anchor="t">
            <a:spAutoFit/>
          </a:bodyPr>
          <a:lstStyle/>
          <a:p>
            <a:pPr algn="l">
              <a:lnSpc>
                <a:spcPct val="100000"/>
              </a:lnSpc>
            </a:pPr>
            <a:r>
              <a:rPr sz="1350" b="1" i="0">
                <a:solidFill>
                  <a:srgbClr val="12263A"/>
                </a:solidFill>
                <a:latin typeface="Segoe UI"/>
              </a:rPr>
              <a:t>FSRS</a:t>
            </a:r>
          </a:p>
        </p:txBody>
      </p:sp>
      <p:sp>
        <p:nvSpPr>
          <p:cNvPr id="24" name="TextBox 23"/>
          <p:cNvSpPr txBox="1"/>
          <p:nvPr/>
        </p:nvSpPr>
        <p:spPr>
          <a:xfrm>
            <a:off x="4709160" y="4645152"/>
            <a:ext cx="4206240" cy="274320"/>
          </a:xfrm>
          <a:prstGeom prst="rect">
            <a:avLst/>
          </a:prstGeom>
          <a:noFill/>
        </p:spPr>
        <p:txBody>
          <a:bodyPr wrap="square" lIns="0" rIns="0" tIns="0" bIns="0" anchor="t">
            <a:spAutoFit/>
          </a:bodyPr>
          <a:lstStyle/>
          <a:p>
            <a:pPr algn="l">
              <a:lnSpc>
                <a:spcPct val="100000"/>
              </a:lnSpc>
            </a:pPr>
            <a:r>
              <a:rPr sz="1150" b="0" i="0">
                <a:solidFill>
                  <a:srgbClr val="5A6B73"/>
                </a:solidFill>
                <a:latin typeface="Segoe UI"/>
              </a:rPr>
              <a:t>Memory-state model driving review scheduling</a:t>
            </a:r>
          </a:p>
        </p:txBody>
      </p:sp>
      <p:sp>
        <p:nvSpPr>
          <p:cNvPr id="25" name="TextBox 24"/>
          <p:cNvSpPr txBox="1"/>
          <p:nvPr/>
        </p:nvSpPr>
        <p:spPr>
          <a:xfrm>
            <a:off x="9098280" y="4645152"/>
            <a:ext cx="2377440" cy="274320"/>
          </a:xfrm>
          <a:prstGeom prst="rect">
            <a:avLst/>
          </a:prstGeom>
          <a:noFill/>
        </p:spPr>
        <p:txBody>
          <a:bodyPr wrap="square" lIns="0" rIns="0" tIns="0" bIns="0" anchor="t">
            <a:spAutoFit/>
          </a:bodyPr>
          <a:lstStyle/>
          <a:p>
            <a:pPr algn="r">
              <a:lnSpc>
                <a:spcPct val="100000"/>
              </a:lnSpc>
            </a:pPr>
            <a:r>
              <a:rPr sz="1100" b="1" i="0">
                <a:solidFill>
                  <a:srgbClr val="0E6E6E"/>
                </a:solidFill>
                <a:latin typeface="Segoe UI"/>
              </a:rPr>
              <a:t>Learns online (fixed weights)</a:t>
            </a:r>
          </a:p>
        </p:txBody>
      </p:sp>
      <p:sp>
        <p:nvSpPr>
          <p:cNvPr id="26" name="Rounded Rectangle 25"/>
          <p:cNvSpPr/>
          <p:nvPr/>
        </p:nvSpPr>
        <p:spPr>
          <a:xfrm>
            <a:off x="640080" y="5349240"/>
            <a:ext cx="10911535" cy="1170432"/>
          </a:xfrm>
          <a:prstGeom prst="roundRect">
            <a:avLst>
              <a:gd name="adj" fmla="val 3000"/>
            </a:avLst>
          </a:prstGeom>
          <a:solidFill>
            <a:srgbClr val="12263A"/>
          </a:solidFill>
          <a:ln w="12700">
            <a:solidFill>
              <a:srgbClr val="12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19" y="5504688"/>
            <a:ext cx="10271455" cy="274320"/>
          </a:xfrm>
          <a:prstGeom prst="rect">
            <a:avLst/>
          </a:prstGeom>
          <a:noFill/>
        </p:spPr>
        <p:txBody>
          <a:bodyPr wrap="square" lIns="0" rIns="0" tIns="0" bIns="0" anchor="t">
            <a:spAutoFit/>
          </a:bodyPr>
          <a:lstStyle/>
          <a:p>
            <a:pPr algn="l">
              <a:lnSpc>
                <a:spcPct val="100000"/>
              </a:lnSpc>
            </a:pPr>
            <a:r>
              <a:rPr sz="1300" b="0" i="0">
                <a:solidFill>
                  <a:srgbClr val="FFFFFF"/>
                </a:solidFill>
                <a:latin typeface="Segoe UI"/>
              </a:rPr>
              <a:t>The LLM does NOT determine adaptive priority.</a:t>
            </a:r>
          </a:p>
        </p:txBody>
      </p:sp>
      <p:sp>
        <p:nvSpPr>
          <p:cNvPr id="28" name="TextBox 27"/>
          <p:cNvSpPr txBox="1"/>
          <p:nvPr/>
        </p:nvSpPr>
        <p:spPr>
          <a:xfrm>
            <a:off x="960119" y="5833872"/>
            <a:ext cx="10271455" cy="274320"/>
          </a:xfrm>
          <a:prstGeom prst="rect">
            <a:avLst/>
          </a:prstGeom>
          <a:noFill/>
        </p:spPr>
        <p:txBody>
          <a:bodyPr wrap="square" lIns="0" rIns="0" tIns="0" bIns="0" anchor="t">
            <a:spAutoFit/>
          </a:bodyPr>
          <a:lstStyle/>
          <a:p>
            <a:pPr algn="l">
              <a:lnSpc>
                <a:spcPct val="100000"/>
              </a:lnSpc>
            </a:pPr>
            <a:r>
              <a:rPr sz="1300" b="0" i="0">
                <a:solidFill>
                  <a:srgbClr val="FFFFFF"/>
                </a:solidFill>
                <a:latin typeface="Segoe UI"/>
              </a:rPr>
              <a:t>The adaptive engine is NOT a trained neural network.</a:t>
            </a:r>
          </a:p>
        </p:txBody>
      </p:sp>
      <p:sp>
        <p:nvSpPr>
          <p:cNvPr id="29" name="TextBox 28"/>
          <p:cNvSpPr txBox="1"/>
          <p:nvPr/>
        </p:nvSpPr>
        <p:spPr>
          <a:xfrm>
            <a:off x="960119" y="6163055"/>
            <a:ext cx="10271455" cy="274320"/>
          </a:xfrm>
          <a:prstGeom prst="rect">
            <a:avLst/>
          </a:prstGeom>
          <a:noFill/>
        </p:spPr>
        <p:txBody>
          <a:bodyPr wrap="square" lIns="0" rIns="0" tIns="0" bIns="0" anchor="t">
            <a:spAutoFit/>
          </a:bodyPr>
          <a:lstStyle/>
          <a:p>
            <a:pPr algn="l">
              <a:lnSpc>
                <a:spcPct val="100000"/>
              </a:lnSpc>
            </a:pPr>
            <a:r>
              <a:rPr sz="1300" b="1" i="0">
                <a:solidFill>
                  <a:srgbClr val="FFFFFF"/>
                </a:solidFill>
                <a:latin typeface="Segoe UI"/>
              </a:rPr>
              <a:t>It is adaptive because learner performance changes future content selection.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11 · METHODOLOGY DIAGRAM</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The Complete Adaptive Loop</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72768"/>
            <a:ext cx="1389888" cy="914400"/>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0">
                <a:solidFill>
                  <a:srgbClr val="12263A"/>
                </a:solidFill>
                <a:latin typeface="Segoe UI"/>
              </a:rPr>
              <a:t>Learner</a:t>
            </a:r>
          </a:p>
          <a:p>
            <a:pPr algn="ctr">
              <a:lnSpc>
                <a:spcPct val="92000"/>
              </a:lnSpc>
            </a:pPr>
            <a:r>
              <a:rPr sz="1050" b="0">
                <a:solidFill>
                  <a:srgbClr val="12263A"/>
                </a:solidFill>
                <a:latin typeface="Segoe UI"/>
              </a:rPr>
              <a:t>answers</a:t>
            </a:r>
          </a:p>
        </p:txBody>
      </p:sp>
      <p:cxnSp>
        <p:nvCxnSpPr>
          <p:cNvPr id="6" name="Connector 5"/>
          <p:cNvCxnSpPr/>
          <p:nvPr/>
        </p:nvCxnSpPr>
        <p:spPr>
          <a:xfrm>
            <a:off x="2048255" y="2029968"/>
            <a:ext cx="155448" cy="0"/>
          </a:xfrm>
          <a:prstGeom prst="line">
            <a:avLst/>
          </a:prstGeom>
          <a:ln w="1651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221991" y="1572768"/>
            <a:ext cx="1389888" cy="914400"/>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0">
                <a:solidFill>
                  <a:srgbClr val="12263A"/>
                </a:solidFill>
                <a:latin typeface="Segoe UI"/>
              </a:rPr>
              <a:t>Performance</a:t>
            </a:r>
          </a:p>
          <a:p>
            <a:pPr algn="ctr">
              <a:lnSpc>
                <a:spcPct val="92000"/>
              </a:lnSpc>
            </a:pPr>
            <a:r>
              <a:rPr sz="1050" b="0">
                <a:solidFill>
                  <a:srgbClr val="12263A"/>
                </a:solidFill>
                <a:latin typeface="Segoe UI"/>
              </a:rPr>
              <a:t>measurement</a:t>
            </a:r>
          </a:p>
        </p:txBody>
      </p:sp>
      <p:cxnSp>
        <p:nvCxnSpPr>
          <p:cNvPr id="8" name="Connector 7"/>
          <p:cNvCxnSpPr/>
          <p:nvPr/>
        </p:nvCxnSpPr>
        <p:spPr>
          <a:xfrm>
            <a:off x="3630168" y="2029968"/>
            <a:ext cx="155447" cy="0"/>
          </a:xfrm>
          <a:prstGeom prst="line">
            <a:avLst/>
          </a:prstGeom>
          <a:ln w="1651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803904" y="1572768"/>
            <a:ext cx="1389888" cy="914400"/>
          </a:xfrm>
          <a:prstGeom prst="roundRect">
            <a:avLst>
              <a:gd name="adj" fmla="val 8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1">
                <a:solidFill>
                  <a:srgbClr val="12263A"/>
                </a:solidFill>
                <a:latin typeface="Segoe UI"/>
              </a:rPr>
              <a:t>Section</a:t>
            </a:r>
          </a:p>
          <a:p>
            <a:pPr algn="ctr">
              <a:lnSpc>
                <a:spcPct val="92000"/>
              </a:lnSpc>
            </a:pPr>
            <a:r>
              <a:rPr sz="1050" b="1">
                <a:solidFill>
                  <a:srgbClr val="12263A"/>
                </a:solidFill>
                <a:latin typeface="Segoe UI"/>
              </a:rPr>
              <a:t>mastery</a:t>
            </a:r>
          </a:p>
        </p:txBody>
      </p:sp>
      <p:cxnSp>
        <p:nvCxnSpPr>
          <p:cNvPr id="10" name="Connector 9"/>
          <p:cNvCxnSpPr/>
          <p:nvPr/>
        </p:nvCxnSpPr>
        <p:spPr>
          <a:xfrm>
            <a:off x="5212079" y="2029968"/>
            <a:ext cx="155449" cy="0"/>
          </a:xfrm>
          <a:prstGeom prst="line">
            <a:avLst/>
          </a:prstGeom>
          <a:ln w="1651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385816" y="1572768"/>
            <a:ext cx="1389888" cy="914400"/>
          </a:xfrm>
          <a:prstGeom prst="roundRect">
            <a:avLst>
              <a:gd name="adj" fmla="val 8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1">
                <a:solidFill>
                  <a:srgbClr val="12263A"/>
                </a:solidFill>
                <a:latin typeface="Segoe UI"/>
              </a:rPr>
              <a:t>Adaptive</a:t>
            </a:r>
          </a:p>
          <a:p>
            <a:pPr algn="ctr">
              <a:lnSpc>
                <a:spcPct val="92000"/>
              </a:lnSpc>
            </a:pPr>
            <a:r>
              <a:rPr sz="1050" b="1">
                <a:solidFill>
                  <a:srgbClr val="12263A"/>
                </a:solidFill>
                <a:latin typeface="Segoe UI"/>
              </a:rPr>
              <a:t>priority</a:t>
            </a:r>
          </a:p>
        </p:txBody>
      </p:sp>
      <p:cxnSp>
        <p:nvCxnSpPr>
          <p:cNvPr id="12" name="Connector 11"/>
          <p:cNvCxnSpPr/>
          <p:nvPr/>
        </p:nvCxnSpPr>
        <p:spPr>
          <a:xfrm>
            <a:off x="6793992" y="2029968"/>
            <a:ext cx="155448" cy="0"/>
          </a:xfrm>
          <a:prstGeom prst="line">
            <a:avLst/>
          </a:prstGeom>
          <a:ln w="1651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967728" y="1572768"/>
            <a:ext cx="1389888" cy="914400"/>
          </a:xfrm>
          <a:prstGeom prst="roundRect">
            <a:avLst>
              <a:gd name="adj" fmla="val 8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1">
                <a:solidFill>
                  <a:srgbClr val="12263A"/>
                </a:solidFill>
                <a:latin typeface="Segoe UI"/>
              </a:rPr>
              <a:t>Select weak</a:t>
            </a:r>
          </a:p>
          <a:p>
            <a:pPr algn="ctr">
              <a:lnSpc>
                <a:spcPct val="92000"/>
              </a:lnSpc>
            </a:pPr>
            <a:r>
              <a:rPr sz="1050" b="1">
                <a:solidFill>
                  <a:srgbClr val="12263A"/>
                </a:solidFill>
                <a:latin typeface="Segoe UI"/>
              </a:rPr>
              <a:t>content</a:t>
            </a:r>
          </a:p>
        </p:txBody>
      </p:sp>
      <p:cxnSp>
        <p:nvCxnSpPr>
          <p:cNvPr id="14" name="Connector 13"/>
          <p:cNvCxnSpPr/>
          <p:nvPr/>
        </p:nvCxnSpPr>
        <p:spPr>
          <a:xfrm>
            <a:off x="8375904" y="2029968"/>
            <a:ext cx="155448" cy="0"/>
          </a:xfrm>
          <a:prstGeom prst="line">
            <a:avLst/>
          </a:prstGeom>
          <a:ln w="1651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549640" y="1572768"/>
            <a:ext cx="1389888" cy="914400"/>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0">
                <a:solidFill>
                  <a:srgbClr val="12263A"/>
                </a:solidFill>
                <a:latin typeface="Segoe UI"/>
              </a:rPr>
              <a:t>Targeted</a:t>
            </a:r>
          </a:p>
          <a:p>
            <a:pPr algn="ctr">
              <a:lnSpc>
                <a:spcPct val="92000"/>
              </a:lnSpc>
            </a:pPr>
            <a:r>
              <a:rPr sz="1050" b="0">
                <a:solidFill>
                  <a:srgbClr val="12263A"/>
                </a:solidFill>
                <a:latin typeface="Segoe UI"/>
              </a:rPr>
              <a:t>retraining</a:t>
            </a:r>
          </a:p>
        </p:txBody>
      </p:sp>
      <p:cxnSp>
        <p:nvCxnSpPr>
          <p:cNvPr id="16" name="Connector 15"/>
          <p:cNvCxnSpPr/>
          <p:nvPr/>
        </p:nvCxnSpPr>
        <p:spPr>
          <a:xfrm>
            <a:off x="9957815" y="2029968"/>
            <a:ext cx="155448" cy="0"/>
          </a:xfrm>
          <a:prstGeom prst="line">
            <a:avLst/>
          </a:prstGeom>
          <a:ln w="1651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131551" y="1572768"/>
            <a:ext cx="1389888" cy="914400"/>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0">
                <a:solidFill>
                  <a:srgbClr val="12263A"/>
                </a:solidFill>
                <a:latin typeface="Segoe UI"/>
              </a:rPr>
              <a:t>Reassessment</a:t>
            </a:r>
          </a:p>
        </p:txBody>
      </p:sp>
      <p:cxnSp>
        <p:nvCxnSpPr>
          <p:cNvPr id="18" name="Connector 17"/>
          <p:cNvCxnSpPr/>
          <p:nvPr/>
        </p:nvCxnSpPr>
        <p:spPr>
          <a:xfrm>
            <a:off x="10826495" y="2542032"/>
            <a:ext cx="0" cy="457200"/>
          </a:xfrm>
          <a:prstGeom prst="line">
            <a:avLst/>
          </a:prstGeom>
          <a:ln w="17780">
            <a:solidFill>
              <a:srgbClr val="5A6B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335024" y="2999232"/>
            <a:ext cx="9491471" cy="0"/>
          </a:xfrm>
          <a:prstGeom prst="line">
            <a:avLst/>
          </a:prstGeom>
          <a:ln w="17780">
            <a:solidFill>
              <a:srgbClr val="5A6B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335024" y="2542032"/>
            <a:ext cx="0" cy="457200"/>
          </a:xfrm>
          <a:prstGeom prst="line">
            <a:avLst/>
          </a:prstGeom>
          <a:ln w="17780">
            <a:solidFill>
              <a:srgbClr val="5A6B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663440" y="3044952"/>
            <a:ext cx="3108960" cy="274320"/>
          </a:xfrm>
          <a:prstGeom prst="rect">
            <a:avLst/>
          </a:prstGeom>
          <a:noFill/>
        </p:spPr>
        <p:txBody>
          <a:bodyPr wrap="square" lIns="0" rIns="0" tIns="0" bIns="0" anchor="t">
            <a:spAutoFit/>
          </a:bodyPr>
          <a:lstStyle/>
          <a:p>
            <a:pPr algn="ctr">
              <a:lnSpc>
                <a:spcPct val="100000"/>
              </a:lnSpc>
            </a:pPr>
            <a:r>
              <a:rPr sz="1050" b="0" i="1">
                <a:solidFill>
                  <a:srgbClr val="5A6B73"/>
                </a:solidFill>
                <a:latin typeface="Segoe UI"/>
              </a:rPr>
              <a:t>loop repeats each cycle</a:t>
            </a:r>
          </a:p>
        </p:txBody>
      </p:sp>
      <p:sp>
        <p:nvSpPr>
          <p:cNvPr id="22" name="Rounded Rectangle 21"/>
          <p:cNvSpPr/>
          <p:nvPr/>
        </p:nvSpPr>
        <p:spPr>
          <a:xfrm>
            <a:off x="640080" y="3611880"/>
            <a:ext cx="5318607" cy="1371600"/>
          </a:xfrm>
          <a:prstGeom prst="roundRect">
            <a:avLst>
              <a:gd name="adj" fmla="val 3000"/>
            </a:avLst>
          </a:prstGeom>
          <a:solidFill>
            <a:srgbClr val="FFFFFF"/>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776472"/>
            <a:ext cx="4769967" cy="256032"/>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ELO  ·  runs per answer</a:t>
            </a:r>
          </a:p>
        </p:txBody>
      </p:sp>
      <p:sp>
        <p:nvSpPr>
          <p:cNvPr id="24" name="Rounded Rectangle 23"/>
          <p:cNvSpPr/>
          <p:nvPr/>
        </p:nvSpPr>
        <p:spPr>
          <a:xfrm>
            <a:off x="914400" y="4133087"/>
            <a:ext cx="1417320" cy="548640"/>
          </a:xfrm>
          <a:prstGeom prst="roundRect">
            <a:avLst>
              <a:gd name="adj" fmla="val 8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50" b="0">
                <a:solidFill>
                  <a:srgbClr val="12263A"/>
                </a:solidFill>
                <a:latin typeface="Segoe UI"/>
              </a:rPr>
              <a:t>response</a:t>
            </a:r>
          </a:p>
        </p:txBody>
      </p:sp>
      <p:cxnSp>
        <p:nvCxnSpPr>
          <p:cNvPr id="25" name="Connector 24"/>
          <p:cNvCxnSpPr/>
          <p:nvPr/>
        </p:nvCxnSpPr>
        <p:spPr>
          <a:xfrm>
            <a:off x="2377439" y="4407408"/>
            <a:ext cx="365761"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788920" y="4133087"/>
            <a:ext cx="1188720" cy="548640"/>
          </a:xfrm>
          <a:prstGeom prst="roundRect">
            <a:avLst>
              <a:gd name="adj" fmla="val 8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00" b="1">
                <a:solidFill>
                  <a:srgbClr val="12263A"/>
                </a:solidFill>
                <a:latin typeface="Segoe UI"/>
              </a:rPr>
              <a:t>Elo</a:t>
            </a:r>
          </a:p>
        </p:txBody>
      </p:sp>
      <p:cxnSp>
        <p:nvCxnSpPr>
          <p:cNvPr id="27" name="Connector 26"/>
          <p:cNvCxnSpPr/>
          <p:nvPr/>
        </p:nvCxnSpPr>
        <p:spPr>
          <a:xfrm>
            <a:off x="4023360" y="4407408"/>
            <a:ext cx="365760" cy="0"/>
          </a:xfrm>
          <a:prstGeom prst="line">
            <a:avLst/>
          </a:prstGeom>
          <a:ln w="19050">
            <a:solidFill>
              <a:srgbClr val="0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434840" y="4133087"/>
            <a:ext cx="1508760" cy="548640"/>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00" b="0">
                <a:solidFill>
                  <a:srgbClr val="12263A"/>
                </a:solidFill>
                <a:latin typeface="Segoe UI"/>
              </a:rPr>
              <a:t>ability +</a:t>
            </a:r>
          </a:p>
          <a:p>
            <a:pPr algn="ctr">
              <a:lnSpc>
                <a:spcPct val="92000"/>
              </a:lnSpc>
            </a:pPr>
            <a:r>
              <a:rPr sz="1000" b="0">
                <a:solidFill>
                  <a:srgbClr val="12263A"/>
                </a:solidFill>
                <a:latin typeface="Segoe UI"/>
              </a:rPr>
              <a:t>difficulty</a:t>
            </a:r>
          </a:p>
        </p:txBody>
      </p:sp>
      <p:sp>
        <p:nvSpPr>
          <p:cNvPr id="29" name="Rounded Rectangle 28"/>
          <p:cNvSpPr/>
          <p:nvPr/>
        </p:nvSpPr>
        <p:spPr>
          <a:xfrm>
            <a:off x="6233007" y="3611880"/>
            <a:ext cx="5318607" cy="1371600"/>
          </a:xfrm>
          <a:prstGeom prst="roundRect">
            <a:avLst>
              <a:gd name="adj" fmla="val 3000"/>
            </a:avLst>
          </a:prstGeom>
          <a:solidFill>
            <a:srgbClr val="FFFFFF"/>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7327" y="3776472"/>
            <a:ext cx="4769967" cy="256032"/>
          </a:xfrm>
          <a:prstGeom prst="rect">
            <a:avLst/>
          </a:prstGeom>
          <a:noFill/>
        </p:spPr>
        <p:txBody>
          <a:bodyPr wrap="square" lIns="0" rIns="0" tIns="0" bIns="0" anchor="t">
            <a:spAutoFit/>
          </a:bodyPr>
          <a:lstStyle/>
          <a:p>
            <a:pPr algn="l">
              <a:lnSpc>
                <a:spcPct val="100000"/>
              </a:lnSpc>
            </a:pPr>
            <a:r>
              <a:rPr sz="1050" b="1" i="0">
                <a:solidFill>
                  <a:srgbClr val="1F5673"/>
                </a:solidFill>
                <a:latin typeface="Segoe UI Semibold"/>
              </a:rPr>
              <a:t>FSRS  ·  runs per section</a:t>
            </a:r>
          </a:p>
        </p:txBody>
      </p:sp>
      <p:sp>
        <p:nvSpPr>
          <p:cNvPr id="31" name="Rounded Rectangle 30"/>
          <p:cNvSpPr/>
          <p:nvPr/>
        </p:nvSpPr>
        <p:spPr>
          <a:xfrm>
            <a:off x="6507327" y="4133087"/>
            <a:ext cx="1691640" cy="548640"/>
          </a:xfrm>
          <a:prstGeom prst="roundRect">
            <a:avLst>
              <a:gd name="adj" fmla="val 8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950" b="0">
                <a:solidFill>
                  <a:srgbClr val="12263A"/>
                </a:solidFill>
                <a:latin typeface="Segoe UI"/>
              </a:rPr>
              <a:t>response +</a:t>
            </a:r>
          </a:p>
          <a:p>
            <a:pPr algn="ctr">
              <a:lnSpc>
                <a:spcPct val="92000"/>
              </a:lnSpc>
            </a:pPr>
            <a:r>
              <a:rPr sz="950" b="0">
                <a:solidFill>
                  <a:srgbClr val="12263A"/>
                </a:solidFill>
                <a:latin typeface="Segoe UI"/>
              </a:rPr>
              <a:t>elapsed time</a:t>
            </a:r>
          </a:p>
        </p:txBody>
      </p:sp>
      <p:cxnSp>
        <p:nvCxnSpPr>
          <p:cNvPr id="32" name="Connector 31"/>
          <p:cNvCxnSpPr/>
          <p:nvPr/>
        </p:nvCxnSpPr>
        <p:spPr>
          <a:xfrm>
            <a:off x="8244687" y="4407408"/>
            <a:ext cx="365760" cy="0"/>
          </a:xfrm>
          <a:prstGeom prst="line">
            <a:avLst/>
          </a:prstGeom>
          <a:ln w="19050">
            <a:solidFill>
              <a:srgbClr val="1F5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656167" y="4133087"/>
            <a:ext cx="1188720" cy="548640"/>
          </a:xfrm>
          <a:prstGeom prst="roundRect">
            <a:avLst>
              <a:gd name="adj" fmla="val 8000"/>
            </a:avLst>
          </a:prstGeom>
          <a:solidFill>
            <a:srgbClr val="E8EFF3"/>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100" b="1">
                <a:solidFill>
                  <a:srgbClr val="12263A"/>
                </a:solidFill>
                <a:latin typeface="Segoe UI"/>
              </a:rPr>
              <a:t>FSRS</a:t>
            </a:r>
          </a:p>
        </p:txBody>
      </p:sp>
      <p:cxnSp>
        <p:nvCxnSpPr>
          <p:cNvPr id="34" name="Connector 33"/>
          <p:cNvCxnSpPr/>
          <p:nvPr/>
        </p:nvCxnSpPr>
        <p:spPr>
          <a:xfrm>
            <a:off x="9890607" y="4407408"/>
            <a:ext cx="365760" cy="0"/>
          </a:xfrm>
          <a:prstGeom prst="line">
            <a:avLst/>
          </a:prstGeom>
          <a:ln w="19050">
            <a:solidFill>
              <a:srgbClr val="1F56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0302087" y="4133087"/>
            <a:ext cx="1508760" cy="548640"/>
          </a:xfrm>
          <a:prstGeom prst="roundRect">
            <a:avLst>
              <a:gd name="adj" fmla="val 8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lnSpc>
                <a:spcPct val="92000"/>
              </a:lnSpc>
            </a:pPr>
            <a:r>
              <a:rPr sz="1000" b="0">
                <a:solidFill>
                  <a:srgbClr val="12263A"/>
                </a:solidFill>
                <a:latin typeface="Segoe UI"/>
              </a:rPr>
              <a:t>next review</a:t>
            </a:r>
          </a:p>
          <a:p>
            <a:pPr algn="ctr">
              <a:lnSpc>
                <a:spcPct val="92000"/>
              </a:lnSpc>
            </a:pPr>
            <a:r>
              <a:rPr sz="1000" b="0">
                <a:solidFill>
                  <a:srgbClr val="12263A"/>
                </a:solidFill>
                <a:latin typeface="Segoe UI"/>
              </a:rPr>
              <a:t>time</a:t>
            </a:r>
          </a:p>
        </p:txBody>
      </p:sp>
      <p:sp>
        <p:nvSpPr>
          <p:cNvPr id="36" name="Rounded Rectangle 35"/>
          <p:cNvSpPr/>
          <p:nvPr/>
        </p:nvSpPr>
        <p:spPr>
          <a:xfrm>
            <a:off x="640080" y="5193792"/>
            <a:ext cx="10911535" cy="1234440"/>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19" y="5358384"/>
            <a:ext cx="4937760" cy="27432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WHY TWO ENGINES AND NOT ONE</a:t>
            </a:r>
          </a:p>
        </p:txBody>
      </p:sp>
      <p:sp>
        <p:nvSpPr>
          <p:cNvPr id="38" name="TextBox 37"/>
          <p:cNvSpPr txBox="1"/>
          <p:nvPr/>
        </p:nvSpPr>
        <p:spPr>
          <a:xfrm>
            <a:off x="960119" y="5687568"/>
            <a:ext cx="10271455" cy="640080"/>
          </a:xfrm>
          <a:prstGeom prst="rect">
            <a:avLst/>
          </a:prstGeom>
          <a:noFill/>
        </p:spPr>
        <p:txBody>
          <a:bodyPr wrap="square" lIns="0" rIns="0" tIns="0" bIns="0" anchor="t">
            <a:spAutoFit/>
          </a:bodyPr>
          <a:lstStyle/>
          <a:p>
            <a:pPr algn="l">
              <a:lnSpc>
                <a:spcPct val="120000"/>
              </a:lnSpc>
            </a:pPr>
            <a:r>
              <a:rPr sz="1250" b="0" i="0">
                <a:solidFill>
                  <a:srgbClr val="12263A"/>
                </a:solidFill>
                <a:latin typeface="Segoe UI"/>
              </a:rPr>
              <a:t>FSRS retrievability R(0, S) = 1.0 for every stability value. Immediately after an assessment, a section just failed</a:t>
            </a:r>
          </a:p>
          <a:p>
            <a:pPr algn="l">
              <a:lnSpc>
                <a:spcPct val="120000"/>
              </a:lnSpc>
            </a:pPr>
            <a:r>
              <a:rPr sz="1250" b="0" i="0">
                <a:solidFill>
                  <a:srgbClr val="12263A"/>
                </a:solidFill>
                <a:latin typeface="Segoe UI"/>
              </a:rPr>
              <a:t>and a section just passed both score 1.0 — so FSRS cannot select content. Accuracy selects; FSRS schedules.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12 · VERIFIED OUTCOMES</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Results</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911535" cy="274320"/>
          </a:xfrm>
          <a:prstGeom prst="rect">
            <a:avLst/>
          </a:prstGeom>
          <a:noFill/>
        </p:spPr>
        <p:txBody>
          <a:bodyPr wrap="square" lIns="0" rIns="0" tIns="0" bIns="0" anchor="t">
            <a:spAutoFit/>
          </a:bodyPr>
          <a:lstStyle/>
          <a:p>
            <a:pPr algn="l">
              <a:lnSpc>
                <a:spcPct val="100000"/>
              </a:lnSpc>
            </a:pPr>
            <a:r>
              <a:rPr sz="1100" b="1" i="0">
                <a:solidFill>
                  <a:srgbClr val="A8452C"/>
                </a:solidFill>
                <a:latin typeface="Segoe UI Semibold"/>
              </a:rPr>
              <a:t>VERIFIED DEMONSTRATION RESULT — a controlled scenario, not a statistical study</a:t>
            </a:r>
          </a:p>
        </p:txBody>
      </p:sp>
      <p:graphicFrame>
        <p:nvGraphicFramePr>
          <p:cNvPr id="6" name="Chart 5"/>
          <p:cNvGraphicFramePr>
            <a:graphicFrameLocks noGrp="1"/>
          </p:cNvGraphicFramePr>
          <p:nvPr/>
        </p:nvGraphicFramePr>
        <p:xfrm>
          <a:off x="640080" y="1783080"/>
          <a:ext cx="4892040" cy="3246120"/>
        </p:xfrm>
        <a:graphic>
          <a:graphicData uri="http://schemas.openxmlformats.org/drawingml/2006/chart">
            <c:chart xmlns:c="http://schemas.openxmlformats.org/drawingml/2006/chart" r:id="rId2"/>
          </a:graphicData>
        </a:graphic>
      </p:graphicFrame>
      <p:sp>
        <p:nvSpPr>
          <p:cNvPr id="7" name="Rounded Rectangle 6"/>
          <p:cNvSpPr/>
          <p:nvPr/>
        </p:nvSpPr>
        <p:spPr>
          <a:xfrm>
            <a:off x="5806440" y="1783080"/>
            <a:ext cx="5745175" cy="3246120"/>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80760" y="1965960"/>
            <a:ext cx="5212080" cy="27432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MEASURED IN THE VERIFIED DEMO</a:t>
            </a:r>
          </a:p>
        </p:txBody>
      </p:sp>
      <p:sp>
        <p:nvSpPr>
          <p:cNvPr id="9" name="TextBox 8"/>
          <p:cNvSpPr txBox="1"/>
          <p:nvPr/>
        </p:nvSpPr>
        <p:spPr>
          <a:xfrm>
            <a:off x="6080760" y="2359152"/>
            <a:ext cx="1417320" cy="320040"/>
          </a:xfrm>
          <a:prstGeom prst="rect">
            <a:avLst/>
          </a:prstGeom>
          <a:noFill/>
        </p:spPr>
        <p:txBody>
          <a:bodyPr wrap="square" lIns="0" rIns="0" tIns="0" bIns="0" anchor="t">
            <a:spAutoFit/>
          </a:bodyPr>
          <a:lstStyle/>
          <a:p>
            <a:pPr algn="l">
              <a:lnSpc>
                <a:spcPct val="100000"/>
              </a:lnSpc>
            </a:pPr>
            <a:r>
              <a:rPr sz="1600" b="1" i="0">
                <a:solidFill>
                  <a:srgbClr val="0E6E6E"/>
                </a:solidFill>
                <a:latin typeface="Segoe UI Semibold"/>
              </a:rPr>
              <a:t>+50.0</a:t>
            </a:r>
          </a:p>
        </p:txBody>
      </p:sp>
      <p:sp>
        <p:nvSpPr>
          <p:cNvPr id="10" name="TextBox 9"/>
          <p:cNvSpPr txBox="1"/>
          <p:nvPr/>
        </p:nvSpPr>
        <p:spPr>
          <a:xfrm>
            <a:off x="7589519" y="2423160"/>
            <a:ext cx="3749039" cy="365760"/>
          </a:xfrm>
          <a:prstGeom prst="rect">
            <a:avLst/>
          </a:prstGeom>
          <a:noFill/>
        </p:spPr>
        <p:txBody>
          <a:bodyPr wrap="square" lIns="0" rIns="0" tIns="0" bIns="0" anchor="t">
            <a:spAutoFit/>
          </a:bodyPr>
          <a:lstStyle/>
          <a:p>
            <a:pPr algn="l">
              <a:lnSpc>
                <a:spcPct val="100000"/>
              </a:lnSpc>
            </a:pPr>
            <a:r>
              <a:rPr sz="1100" b="0" i="0">
                <a:solidFill>
                  <a:srgbClr val="12263A"/>
                </a:solidFill>
                <a:latin typeface="Segoe UI"/>
              </a:rPr>
              <a:t>percentage points gained, both weak sections</a:t>
            </a:r>
          </a:p>
        </p:txBody>
      </p:sp>
      <p:sp>
        <p:nvSpPr>
          <p:cNvPr id="11" name="TextBox 10"/>
          <p:cNvSpPr txBox="1"/>
          <p:nvPr/>
        </p:nvSpPr>
        <p:spPr>
          <a:xfrm>
            <a:off x="6080760" y="2871216"/>
            <a:ext cx="1417320" cy="320040"/>
          </a:xfrm>
          <a:prstGeom prst="rect">
            <a:avLst/>
          </a:prstGeom>
          <a:noFill/>
        </p:spPr>
        <p:txBody>
          <a:bodyPr wrap="square" lIns="0" rIns="0" tIns="0" bIns="0" anchor="t">
            <a:spAutoFit/>
          </a:bodyPr>
          <a:lstStyle/>
          <a:p>
            <a:pPr algn="l">
              <a:lnSpc>
                <a:spcPct val="100000"/>
              </a:lnSpc>
            </a:pPr>
            <a:r>
              <a:rPr sz="1600" b="1" i="0">
                <a:solidFill>
                  <a:srgbClr val="0E6E6E"/>
                </a:solidFill>
                <a:latin typeface="Segoe UI Semibold"/>
              </a:rPr>
              <a:t>6 of 9</a:t>
            </a:r>
          </a:p>
        </p:txBody>
      </p:sp>
      <p:sp>
        <p:nvSpPr>
          <p:cNvPr id="12" name="TextBox 11"/>
          <p:cNvSpPr txBox="1"/>
          <p:nvPr/>
        </p:nvSpPr>
        <p:spPr>
          <a:xfrm>
            <a:off x="7589519" y="2935224"/>
            <a:ext cx="3749039" cy="365760"/>
          </a:xfrm>
          <a:prstGeom prst="rect">
            <a:avLst/>
          </a:prstGeom>
          <a:noFill/>
        </p:spPr>
        <p:txBody>
          <a:bodyPr wrap="square" lIns="0" rIns="0" tIns="0" bIns="0" anchor="t">
            <a:spAutoFit/>
          </a:bodyPr>
          <a:lstStyle/>
          <a:p>
            <a:pPr algn="l">
              <a:lnSpc>
                <a:spcPct val="100000"/>
              </a:lnSpc>
            </a:pPr>
            <a:r>
              <a:rPr sz="1100" b="0" i="0">
                <a:solidFill>
                  <a:srgbClr val="12263A"/>
                </a:solidFill>
                <a:latin typeface="Segoe UI"/>
              </a:rPr>
              <a:t>questions selected for retraining</a:t>
            </a:r>
          </a:p>
        </p:txBody>
      </p:sp>
      <p:sp>
        <p:nvSpPr>
          <p:cNvPr id="13" name="TextBox 12"/>
          <p:cNvSpPr txBox="1"/>
          <p:nvPr/>
        </p:nvSpPr>
        <p:spPr>
          <a:xfrm>
            <a:off x="6080760" y="3383280"/>
            <a:ext cx="1417320" cy="320040"/>
          </a:xfrm>
          <a:prstGeom prst="rect">
            <a:avLst/>
          </a:prstGeom>
          <a:noFill/>
        </p:spPr>
        <p:txBody>
          <a:bodyPr wrap="square" lIns="0" rIns="0" tIns="0" bIns="0" anchor="t">
            <a:spAutoFit/>
          </a:bodyPr>
          <a:lstStyle/>
          <a:p>
            <a:pPr algn="l">
              <a:lnSpc>
                <a:spcPct val="100000"/>
              </a:lnSpc>
            </a:pPr>
            <a:r>
              <a:rPr sz="1600" b="1" i="0">
                <a:solidFill>
                  <a:srgbClr val="0E6E6E"/>
                </a:solidFill>
                <a:latin typeface="Segoe UI Semibold"/>
              </a:rPr>
              <a:t>1 section</a:t>
            </a:r>
          </a:p>
        </p:txBody>
      </p:sp>
      <p:sp>
        <p:nvSpPr>
          <p:cNvPr id="14" name="TextBox 13"/>
          <p:cNvSpPr txBox="1"/>
          <p:nvPr/>
        </p:nvSpPr>
        <p:spPr>
          <a:xfrm>
            <a:off x="7589519" y="3447288"/>
            <a:ext cx="3749039" cy="365760"/>
          </a:xfrm>
          <a:prstGeom prst="rect">
            <a:avLst/>
          </a:prstGeom>
          <a:noFill/>
        </p:spPr>
        <p:txBody>
          <a:bodyPr wrap="square" lIns="0" rIns="0" tIns="0" bIns="0" anchor="t">
            <a:spAutoFit/>
          </a:bodyPr>
          <a:lstStyle/>
          <a:p>
            <a:pPr algn="l">
              <a:lnSpc>
                <a:spcPct val="100000"/>
              </a:lnSpc>
            </a:pPr>
            <a:r>
              <a:rPr sz="1100" b="0" i="0">
                <a:solidFill>
                  <a:srgbClr val="12263A"/>
                </a:solidFill>
                <a:latin typeface="Segoe UI"/>
              </a:rPr>
              <a:t>excluded — learner already strong</a:t>
            </a:r>
          </a:p>
        </p:txBody>
      </p:sp>
      <p:sp>
        <p:nvSpPr>
          <p:cNvPr id="15" name="TextBox 14"/>
          <p:cNvSpPr txBox="1"/>
          <p:nvPr/>
        </p:nvSpPr>
        <p:spPr>
          <a:xfrm>
            <a:off x="6080760" y="3895344"/>
            <a:ext cx="1417320" cy="320040"/>
          </a:xfrm>
          <a:prstGeom prst="rect">
            <a:avLst/>
          </a:prstGeom>
          <a:noFill/>
        </p:spPr>
        <p:txBody>
          <a:bodyPr wrap="square" lIns="0" rIns="0" tIns="0" bIns="0" anchor="t">
            <a:spAutoFit/>
          </a:bodyPr>
          <a:lstStyle/>
          <a:p>
            <a:pPr algn="l">
              <a:lnSpc>
                <a:spcPct val="100000"/>
              </a:lnSpc>
            </a:pPr>
            <a:r>
              <a:rPr sz="1600" b="1" i="0">
                <a:solidFill>
                  <a:srgbClr val="0E6E6E"/>
                </a:solidFill>
                <a:latin typeface="Segoe UI Semibold"/>
              </a:rPr>
              <a:t>87.9 %</a:t>
            </a:r>
          </a:p>
        </p:txBody>
      </p:sp>
      <p:sp>
        <p:nvSpPr>
          <p:cNvPr id="16" name="TextBox 15"/>
          <p:cNvSpPr txBox="1"/>
          <p:nvPr/>
        </p:nvSpPr>
        <p:spPr>
          <a:xfrm>
            <a:off x="7589519" y="3959352"/>
            <a:ext cx="3749039" cy="365760"/>
          </a:xfrm>
          <a:prstGeom prst="rect">
            <a:avLst/>
          </a:prstGeom>
          <a:noFill/>
        </p:spPr>
        <p:txBody>
          <a:bodyPr wrap="square" lIns="0" rIns="0" tIns="0" bIns="0" anchor="t">
            <a:spAutoFit/>
          </a:bodyPr>
          <a:lstStyle/>
          <a:p>
            <a:pPr algn="l">
              <a:lnSpc>
                <a:spcPct val="100000"/>
              </a:lnSpc>
            </a:pPr>
            <a:r>
              <a:rPr sz="1100" b="0" i="0">
                <a:solidFill>
                  <a:srgbClr val="12263A"/>
                </a:solidFill>
                <a:latin typeface="Segoe UI"/>
              </a:rPr>
              <a:t>adaptive score vs 75.0 % lifetime</a:t>
            </a:r>
          </a:p>
        </p:txBody>
      </p:sp>
      <p:sp>
        <p:nvSpPr>
          <p:cNvPr id="17" name="TextBox 16"/>
          <p:cNvSpPr txBox="1"/>
          <p:nvPr/>
        </p:nvSpPr>
        <p:spPr>
          <a:xfrm>
            <a:off x="6080760" y="4407408"/>
            <a:ext cx="1417320" cy="320040"/>
          </a:xfrm>
          <a:prstGeom prst="rect">
            <a:avLst/>
          </a:prstGeom>
          <a:noFill/>
        </p:spPr>
        <p:txBody>
          <a:bodyPr wrap="square" lIns="0" rIns="0" tIns="0" bIns="0" anchor="t">
            <a:spAutoFit/>
          </a:bodyPr>
          <a:lstStyle/>
          <a:p>
            <a:pPr algn="l">
              <a:lnSpc>
                <a:spcPct val="100000"/>
              </a:lnSpc>
            </a:pPr>
            <a:r>
              <a:rPr sz="1600" b="1" i="0">
                <a:solidFill>
                  <a:srgbClr val="0E6E6E"/>
                </a:solidFill>
                <a:latin typeface="Segoe UI Semibold"/>
              </a:rPr>
              <a:t>33.33 %</a:t>
            </a:r>
          </a:p>
        </p:txBody>
      </p:sp>
      <p:sp>
        <p:nvSpPr>
          <p:cNvPr id="18" name="TextBox 17"/>
          <p:cNvSpPr txBox="1"/>
          <p:nvPr/>
        </p:nvSpPr>
        <p:spPr>
          <a:xfrm>
            <a:off x="7589519" y="4471416"/>
            <a:ext cx="3749039" cy="365760"/>
          </a:xfrm>
          <a:prstGeom prst="rect">
            <a:avLst/>
          </a:prstGeom>
          <a:noFill/>
        </p:spPr>
        <p:txBody>
          <a:bodyPr wrap="square" lIns="0" rIns="0" tIns="0" bIns="0" anchor="t">
            <a:spAutoFit/>
          </a:bodyPr>
          <a:lstStyle/>
          <a:p>
            <a:pPr algn="l">
              <a:lnSpc>
                <a:spcPct val="100000"/>
              </a:lnSpc>
            </a:pPr>
            <a:r>
              <a:rPr sz="1100" b="0" i="0">
                <a:solidFill>
                  <a:srgbClr val="12263A"/>
                </a:solidFill>
                <a:latin typeface="Segoe UI"/>
              </a:rPr>
              <a:t>first-attempt score (3 of 9)</a:t>
            </a:r>
          </a:p>
        </p:txBody>
      </p:sp>
      <p:sp>
        <p:nvSpPr>
          <p:cNvPr id="19" name="Rounded Rectangle 18"/>
          <p:cNvSpPr/>
          <p:nvPr/>
        </p:nvSpPr>
        <p:spPr>
          <a:xfrm>
            <a:off x="640080" y="5230368"/>
            <a:ext cx="10911535" cy="1188720"/>
          </a:xfrm>
          <a:prstGeom prst="roundRect">
            <a:avLst>
              <a:gd name="adj" fmla="val 3000"/>
            </a:avLst>
          </a:prstGeom>
          <a:solidFill>
            <a:srgbClr val="FFFFFF"/>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376672"/>
            <a:ext cx="5029200" cy="27432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SYSTEM VERIFICATION</a:t>
            </a:r>
          </a:p>
        </p:txBody>
      </p:sp>
      <p:sp>
        <p:nvSpPr>
          <p:cNvPr id="21" name="TextBox 20"/>
          <p:cNvSpPr txBox="1"/>
          <p:nvPr/>
        </p:nvSpPr>
        <p:spPr>
          <a:xfrm>
            <a:off x="914400" y="5724144"/>
            <a:ext cx="1097280" cy="320040"/>
          </a:xfrm>
          <a:prstGeom prst="rect">
            <a:avLst/>
          </a:prstGeom>
          <a:noFill/>
        </p:spPr>
        <p:txBody>
          <a:bodyPr wrap="square" lIns="0" rIns="0" tIns="0" bIns="0" anchor="t">
            <a:spAutoFit/>
          </a:bodyPr>
          <a:lstStyle/>
          <a:p>
            <a:pPr algn="l">
              <a:lnSpc>
                <a:spcPct val="100000"/>
              </a:lnSpc>
            </a:pPr>
            <a:r>
              <a:rPr sz="1700" b="1" i="0">
                <a:solidFill>
                  <a:srgbClr val="12263A"/>
                </a:solidFill>
                <a:latin typeface="Segoe UI Semibold"/>
              </a:rPr>
              <a:t>221</a:t>
            </a:r>
          </a:p>
        </p:txBody>
      </p:sp>
      <p:sp>
        <p:nvSpPr>
          <p:cNvPr id="22" name="TextBox 21"/>
          <p:cNvSpPr txBox="1"/>
          <p:nvPr/>
        </p:nvSpPr>
        <p:spPr>
          <a:xfrm>
            <a:off x="914400" y="6062472"/>
            <a:ext cx="2468880" cy="27432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backend tests passing</a:t>
            </a:r>
          </a:p>
        </p:txBody>
      </p:sp>
      <p:sp>
        <p:nvSpPr>
          <p:cNvPr id="23" name="TextBox 22"/>
          <p:cNvSpPr txBox="1"/>
          <p:nvPr/>
        </p:nvSpPr>
        <p:spPr>
          <a:xfrm>
            <a:off x="3611880" y="5724144"/>
            <a:ext cx="1097280" cy="320040"/>
          </a:xfrm>
          <a:prstGeom prst="rect">
            <a:avLst/>
          </a:prstGeom>
          <a:noFill/>
        </p:spPr>
        <p:txBody>
          <a:bodyPr wrap="square" lIns="0" rIns="0" tIns="0" bIns="0" anchor="t">
            <a:spAutoFit/>
          </a:bodyPr>
          <a:lstStyle/>
          <a:p>
            <a:pPr algn="l">
              <a:lnSpc>
                <a:spcPct val="100000"/>
              </a:lnSpc>
            </a:pPr>
            <a:r>
              <a:rPr sz="1700" b="1" i="0">
                <a:solidFill>
                  <a:srgbClr val="12263A"/>
                </a:solidFill>
                <a:latin typeface="Segoe UI Semibold"/>
              </a:rPr>
              <a:t>0</a:t>
            </a:r>
          </a:p>
        </p:txBody>
      </p:sp>
      <p:sp>
        <p:nvSpPr>
          <p:cNvPr id="24" name="TextBox 23"/>
          <p:cNvSpPr txBox="1"/>
          <p:nvPr/>
        </p:nvSpPr>
        <p:spPr>
          <a:xfrm>
            <a:off x="3611880" y="6062472"/>
            <a:ext cx="2468880" cy="27432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failures / 0 skipped</a:t>
            </a:r>
          </a:p>
        </p:txBody>
      </p:sp>
      <p:sp>
        <p:nvSpPr>
          <p:cNvPr id="25" name="TextBox 24"/>
          <p:cNvSpPr txBox="1"/>
          <p:nvPr/>
        </p:nvSpPr>
        <p:spPr>
          <a:xfrm>
            <a:off x="6309360" y="5724144"/>
            <a:ext cx="1097280" cy="320040"/>
          </a:xfrm>
          <a:prstGeom prst="rect">
            <a:avLst/>
          </a:prstGeom>
          <a:noFill/>
        </p:spPr>
        <p:txBody>
          <a:bodyPr wrap="square" lIns="0" rIns="0" tIns="0" bIns="0" anchor="t">
            <a:spAutoFit/>
          </a:bodyPr>
          <a:lstStyle/>
          <a:p>
            <a:pPr algn="l">
              <a:lnSpc>
                <a:spcPct val="100000"/>
              </a:lnSpc>
            </a:pPr>
            <a:r>
              <a:rPr sz="1700" b="1" i="0">
                <a:solidFill>
                  <a:srgbClr val="12263A"/>
                </a:solidFill>
                <a:latin typeface="Segoe UI Semibold"/>
              </a:rPr>
              <a:t>0 / 0</a:t>
            </a:r>
          </a:p>
        </p:txBody>
      </p:sp>
      <p:sp>
        <p:nvSpPr>
          <p:cNvPr id="26" name="TextBox 25"/>
          <p:cNvSpPr txBox="1"/>
          <p:nvPr/>
        </p:nvSpPr>
        <p:spPr>
          <a:xfrm>
            <a:off x="6309360" y="6062472"/>
            <a:ext cx="2468880" cy="27432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ESLint errors / warnings</a:t>
            </a:r>
          </a:p>
        </p:txBody>
      </p:sp>
      <p:sp>
        <p:nvSpPr>
          <p:cNvPr id="27" name="TextBox 26"/>
          <p:cNvSpPr txBox="1"/>
          <p:nvPr/>
        </p:nvSpPr>
        <p:spPr>
          <a:xfrm>
            <a:off x="9006840" y="5724144"/>
            <a:ext cx="1097280" cy="320040"/>
          </a:xfrm>
          <a:prstGeom prst="rect">
            <a:avLst/>
          </a:prstGeom>
          <a:noFill/>
        </p:spPr>
        <p:txBody>
          <a:bodyPr wrap="square" lIns="0" rIns="0" tIns="0" bIns="0" anchor="t">
            <a:spAutoFit/>
          </a:bodyPr>
          <a:lstStyle/>
          <a:p>
            <a:pPr algn="l">
              <a:lnSpc>
                <a:spcPct val="100000"/>
              </a:lnSpc>
            </a:pPr>
            <a:r>
              <a:rPr sz="1700" b="1" i="0">
                <a:solidFill>
                  <a:srgbClr val="12263A"/>
                </a:solidFill>
                <a:latin typeface="Segoe UI Semibold"/>
              </a:rPr>
              <a:t>clean</a:t>
            </a:r>
          </a:p>
        </p:txBody>
      </p:sp>
      <p:sp>
        <p:nvSpPr>
          <p:cNvPr id="28" name="TextBox 27"/>
          <p:cNvSpPr txBox="1"/>
          <p:nvPr/>
        </p:nvSpPr>
        <p:spPr>
          <a:xfrm>
            <a:off x="9006840" y="6062472"/>
            <a:ext cx="2468880" cy="27432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migration + deploy checks</a:t>
            </a:r>
          </a:p>
        </p:txBody>
      </p:sp>
      <p:sp>
        <p:nvSpPr>
          <p:cNvPr id="29" name="TextBox 28"/>
          <p:cNvSpPr txBox="1"/>
          <p:nvPr/>
        </p:nvSpPr>
        <p:spPr>
          <a:xfrm>
            <a:off x="6675120" y="5376672"/>
            <a:ext cx="4846320" cy="274320"/>
          </a:xfrm>
          <a:prstGeom prst="rect">
            <a:avLst/>
          </a:prstGeom>
          <a:noFill/>
        </p:spPr>
        <p:txBody>
          <a:bodyPr wrap="square" lIns="0" rIns="0" tIns="0" bIns="0" anchor="t">
            <a:spAutoFit/>
          </a:bodyPr>
          <a:lstStyle/>
          <a:p>
            <a:pPr algn="r">
              <a:lnSpc>
                <a:spcPct val="100000"/>
              </a:lnSpc>
            </a:pPr>
            <a:r>
              <a:rPr sz="1100" b="0" i="1">
                <a:solidFill>
                  <a:srgbClr val="5A6B73"/>
                </a:solidFill>
                <a:latin typeface="Segoe UI"/>
              </a:rPr>
              <a:t>Complete workflow verified end-to-end with live NVIDIA NIM.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13 · ENGINEERING QUALITY</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Security, Validation and Testing</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256032" cy="274320"/>
          </a:xfrm>
          <a:prstGeom prst="rect">
            <a:avLst/>
          </a:prstGeom>
          <a:noFill/>
        </p:spPr>
        <p:txBody>
          <a:bodyPr wrap="square" lIns="0" rIns="0" tIns="0" bIns="0" anchor="t">
            <a:spAutoFit/>
          </a:bodyPr>
          <a:lstStyle/>
          <a:p>
            <a:pPr algn="l">
              <a:lnSpc>
                <a:spcPct val="100000"/>
              </a:lnSpc>
            </a:pPr>
            <a:r>
              <a:rPr sz="1200" b="1" i="0">
                <a:solidFill>
                  <a:srgbClr val="0E6E6E"/>
                </a:solidFill>
                <a:latin typeface="Segoe UI"/>
              </a:rPr>
              <a:t>▪</a:t>
            </a:r>
          </a:p>
        </p:txBody>
      </p:sp>
      <p:sp>
        <p:nvSpPr>
          <p:cNvPr id="6" name="TextBox 5"/>
          <p:cNvSpPr txBox="1"/>
          <p:nvPr/>
        </p:nvSpPr>
        <p:spPr>
          <a:xfrm>
            <a:off x="914400" y="1490472"/>
            <a:ext cx="2606040" cy="274320"/>
          </a:xfrm>
          <a:prstGeom prst="rect">
            <a:avLst/>
          </a:prstGeom>
          <a:noFill/>
        </p:spPr>
        <p:txBody>
          <a:bodyPr wrap="square" lIns="0" rIns="0" tIns="0" bIns="0" anchor="t">
            <a:spAutoFit/>
          </a:bodyPr>
          <a:lstStyle/>
          <a:p>
            <a:pPr algn="l">
              <a:lnSpc>
                <a:spcPct val="100000"/>
              </a:lnSpc>
            </a:pPr>
            <a:r>
              <a:rPr sz="1150" b="1" i="0">
                <a:solidFill>
                  <a:srgbClr val="12263A"/>
                </a:solidFill>
                <a:latin typeface="Segoe UI"/>
              </a:rPr>
              <a:t>Server-side scoring</a:t>
            </a:r>
          </a:p>
        </p:txBody>
      </p:sp>
      <p:sp>
        <p:nvSpPr>
          <p:cNvPr id="7" name="TextBox 6"/>
          <p:cNvSpPr txBox="1"/>
          <p:nvPr/>
        </p:nvSpPr>
        <p:spPr>
          <a:xfrm>
            <a:off x="3566160" y="1508760"/>
            <a:ext cx="2392527" cy="36576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Grading never happens on the client</a:t>
            </a:r>
          </a:p>
        </p:txBody>
      </p:sp>
      <p:sp>
        <p:nvSpPr>
          <p:cNvPr id="8" name="TextBox 7"/>
          <p:cNvSpPr txBox="1"/>
          <p:nvPr/>
        </p:nvSpPr>
        <p:spPr>
          <a:xfrm>
            <a:off x="640080" y="2075688"/>
            <a:ext cx="256032" cy="274320"/>
          </a:xfrm>
          <a:prstGeom prst="rect">
            <a:avLst/>
          </a:prstGeom>
          <a:noFill/>
        </p:spPr>
        <p:txBody>
          <a:bodyPr wrap="square" lIns="0" rIns="0" tIns="0" bIns="0" anchor="t">
            <a:spAutoFit/>
          </a:bodyPr>
          <a:lstStyle/>
          <a:p>
            <a:pPr algn="l">
              <a:lnSpc>
                <a:spcPct val="100000"/>
              </a:lnSpc>
            </a:pPr>
            <a:r>
              <a:rPr sz="1200" b="1" i="0">
                <a:solidFill>
                  <a:srgbClr val="0E6E6E"/>
                </a:solidFill>
                <a:latin typeface="Segoe UI"/>
              </a:rPr>
              <a:t>▪</a:t>
            </a:r>
          </a:p>
        </p:txBody>
      </p:sp>
      <p:sp>
        <p:nvSpPr>
          <p:cNvPr id="9" name="TextBox 8"/>
          <p:cNvSpPr txBox="1"/>
          <p:nvPr/>
        </p:nvSpPr>
        <p:spPr>
          <a:xfrm>
            <a:off x="914400" y="2057400"/>
            <a:ext cx="2606040" cy="274320"/>
          </a:xfrm>
          <a:prstGeom prst="rect">
            <a:avLst/>
          </a:prstGeom>
          <a:noFill/>
        </p:spPr>
        <p:txBody>
          <a:bodyPr wrap="square" lIns="0" rIns="0" tIns="0" bIns="0" anchor="t">
            <a:spAutoFit/>
          </a:bodyPr>
          <a:lstStyle/>
          <a:p>
            <a:pPr algn="l">
              <a:lnSpc>
                <a:spcPct val="100000"/>
              </a:lnSpc>
            </a:pPr>
            <a:r>
              <a:rPr sz="1150" b="1" i="0">
                <a:solidFill>
                  <a:srgbClr val="12263A"/>
                </a:solidFill>
                <a:latin typeface="Segoe UI"/>
              </a:rPr>
              <a:t>Answer-key protection</a:t>
            </a:r>
          </a:p>
        </p:txBody>
      </p:sp>
      <p:sp>
        <p:nvSpPr>
          <p:cNvPr id="10" name="TextBox 9"/>
          <p:cNvSpPr txBox="1"/>
          <p:nvPr/>
        </p:nvSpPr>
        <p:spPr>
          <a:xfrm>
            <a:off x="3566160" y="2075688"/>
            <a:ext cx="2392527" cy="36576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Learner serializer omits is_correct and explanation</a:t>
            </a:r>
          </a:p>
        </p:txBody>
      </p:sp>
      <p:sp>
        <p:nvSpPr>
          <p:cNvPr id="11" name="TextBox 10"/>
          <p:cNvSpPr txBox="1"/>
          <p:nvPr/>
        </p:nvSpPr>
        <p:spPr>
          <a:xfrm>
            <a:off x="640080" y="2642615"/>
            <a:ext cx="256032" cy="274320"/>
          </a:xfrm>
          <a:prstGeom prst="rect">
            <a:avLst/>
          </a:prstGeom>
          <a:noFill/>
        </p:spPr>
        <p:txBody>
          <a:bodyPr wrap="square" lIns="0" rIns="0" tIns="0" bIns="0" anchor="t">
            <a:spAutoFit/>
          </a:bodyPr>
          <a:lstStyle/>
          <a:p>
            <a:pPr algn="l">
              <a:lnSpc>
                <a:spcPct val="100000"/>
              </a:lnSpc>
            </a:pPr>
            <a:r>
              <a:rPr sz="1200" b="1" i="0">
                <a:solidFill>
                  <a:srgbClr val="0E6E6E"/>
                </a:solidFill>
                <a:latin typeface="Segoe UI"/>
              </a:rPr>
              <a:t>▪</a:t>
            </a:r>
          </a:p>
        </p:txBody>
      </p:sp>
      <p:sp>
        <p:nvSpPr>
          <p:cNvPr id="12" name="TextBox 11"/>
          <p:cNvSpPr txBox="1"/>
          <p:nvPr/>
        </p:nvSpPr>
        <p:spPr>
          <a:xfrm>
            <a:off x="914400" y="2624327"/>
            <a:ext cx="2606040" cy="274320"/>
          </a:xfrm>
          <a:prstGeom prst="rect">
            <a:avLst/>
          </a:prstGeom>
          <a:noFill/>
        </p:spPr>
        <p:txBody>
          <a:bodyPr wrap="square" lIns="0" rIns="0" tIns="0" bIns="0" anchor="t">
            <a:spAutoFit/>
          </a:bodyPr>
          <a:lstStyle/>
          <a:p>
            <a:pPr algn="l">
              <a:lnSpc>
                <a:spcPct val="100000"/>
              </a:lnSpc>
            </a:pPr>
            <a:r>
              <a:rPr sz="1150" b="1" i="0">
                <a:solidFill>
                  <a:srgbClr val="12263A"/>
                </a:solidFill>
                <a:latin typeface="Segoe UI"/>
              </a:rPr>
              <a:t>Duplicate-question protection</a:t>
            </a:r>
          </a:p>
        </p:txBody>
      </p:sp>
      <p:sp>
        <p:nvSpPr>
          <p:cNvPr id="13" name="TextBox 12"/>
          <p:cNvSpPr txBox="1"/>
          <p:nvPr/>
        </p:nvSpPr>
        <p:spPr>
          <a:xfrm>
            <a:off x="3566160" y="2642615"/>
            <a:ext cx="2392527" cy="36576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Repeated ids in one submission rejected, 400, no writes</a:t>
            </a:r>
          </a:p>
        </p:txBody>
      </p:sp>
      <p:sp>
        <p:nvSpPr>
          <p:cNvPr id="14" name="TextBox 13"/>
          <p:cNvSpPr txBox="1"/>
          <p:nvPr/>
        </p:nvSpPr>
        <p:spPr>
          <a:xfrm>
            <a:off x="640080" y="3209544"/>
            <a:ext cx="256032" cy="274320"/>
          </a:xfrm>
          <a:prstGeom prst="rect">
            <a:avLst/>
          </a:prstGeom>
          <a:noFill/>
        </p:spPr>
        <p:txBody>
          <a:bodyPr wrap="square" lIns="0" rIns="0" tIns="0" bIns="0" anchor="t">
            <a:spAutoFit/>
          </a:bodyPr>
          <a:lstStyle/>
          <a:p>
            <a:pPr algn="l">
              <a:lnSpc>
                <a:spcPct val="100000"/>
              </a:lnSpc>
            </a:pPr>
            <a:r>
              <a:rPr sz="1200" b="1" i="0">
                <a:solidFill>
                  <a:srgbClr val="0E6E6E"/>
                </a:solidFill>
                <a:latin typeface="Segoe UI"/>
              </a:rPr>
              <a:t>▪</a:t>
            </a:r>
          </a:p>
        </p:txBody>
      </p:sp>
      <p:sp>
        <p:nvSpPr>
          <p:cNvPr id="15" name="TextBox 14"/>
          <p:cNvSpPr txBox="1"/>
          <p:nvPr/>
        </p:nvSpPr>
        <p:spPr>
          <a:xfrm>
            <a:off x="914400" y="3191256"/>
            <a:ext cx="2606040" cy="274320"/>
          </a:xfrm>
          <a:prstGeom prst="rect">
            <a:avLst/>
          </a:prstGeom>
          <a:noFill/>
        </p:spPr>
        <p:txBody>
          <a:bodyPr wrap="square" lIns="0" rIns="0" tIns="0" bIns="0" anchor="t">
            <a:spAutoFit/>
          </a:bodyPr>
          <a:lstStyle/>
          <a:p>
            <a:pPr algn="l">
              <a:lnSpc>
                <a:spcPct val="100000"/>
              </a:lnSpc>
            </a:pPr>
            <a:r>
              <a:rPr sz="1150" b="1" i="0">
                <a:solidFill>
                  <a:srgbClr val="12263A"/>
                </a:solidFill>
                <a:latin typeface="Segoe UI"/>
              </a:rPr>
              <a:t>Role-based access control</a:t>
            </a:r>
          </a:p>
        </p:txBody>
      </p:sp>
      <p:sp>
        <p:nvSpPr>
          <p:cNvPr id="16" name="TextBox 15"/>
          <p:cNvSpPr txBox="1"/>
          <p:nvPr/>
        </p:nvSpPr>
        <p:spPr>
          <a:xfrm>
            <a:off x="3566160" y="3209544"/>
            <a:ext cx="2392527" cy="36576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Querysets scoped by role; drafts invisible to learners</a:t>
            </a:r>
          </a:p>
        </p:txBody>
      </p:sp>
      <p:sp>
        <p:nvSpPr>
          <p:cNvPr id="17" name="TextBox 16"/>
          <p:cNvSpPr txBox="1"/>
          <p:nvPr/>
        </p:nvSpPr>
        <p:spPr>
          <a:xfrm>
            <a:off x="640080" y="3776472"/>
            <a:ext cx="256032" cy="274320"/>
          </a:xfrm>
          <a:prstGeom prst="rect">
            <a:avLst/>
          </a:prstGeom>
          <a:noFill/>
        </p:spPr>
        <p:txBody>
          <a:bodyPr wrap="square" lIns="0" rIns="0" tIns="0" bIns="0" anchor="t">
            <a:spAutoFit/>
          </a:bodyPr>
          <a:lstStyle/>
          <a:p>
            <a:pPr algn="l">
              <a:lnSpc>
                <a:spcPct val="100000"/>
              </a:lnSpc>
            </a:pPr>
            <a:r>
              <a:rPr sz="1200" b="1" i="0">
                <a:solidFill>
                  <a:srgbClr val="0E6E6E"/>
                </a:solidFill>
                <a:latin typeface="Segoe UI"/>
              </a:rPr>
              <a:t>▪</a:t>
            </a:r>
          </a:p>
        </p:txBody>
      </p:sp>
      <p:sp>
        <p:nvSpPr>
          <p:cNvPr id="18" name="TextBox 17"/>
          <p:cNvSpPr txBox="1"/>
          <p:nvPr/>
        </p:nvSpPr>
        <p:spPr>
          <a:xfrm>
            <a:off x="914400" y="3758184"/>
            <a:ext cx="2606040" cy="274320"/>
          </a:xfrm>
          <a:prstGeom prst="rect">
            <a:avLst/>
          </a:prstGeom>
          <a:noFill/>
        </p:spPr>
        <p:txBody>
          <a:bodyPr wrap="square" lIns="0" rIns="0" tIns="0" bIns="0" anchor="t">
            <a:spAutoFit/>
          </a:bodyPr>
          <a:lstStyle/>
          <a:p>
            <a:pPr algn="l">
              <a:lnSpc>
                <a:spcPct val="100000"/>
              </a:lnSpc>
            </a:pPr>
            <a:r>
              <a:rPr sz="1150" b="1" i="0">
                <a:solidFill>
                  <a:srgbClr val="12263A"/>
                </a:solidFill>
                <a:latin typeface="Segoe UI"/>
              </a:rPr>
              <a:t>SME approval gate</a:t>
            </a:r>
          </a:p>
        </p:txBody>
      </p:sp>
      <p:sp>
        <p:nvSpPr>
          <p:cNvPr id="19" name="TextBox 18"/>
          <p:cNvSpPr txBox="1"/>
          <p:nvPr/>
        </p:nvSpPr>
        <p:spPr>
          <a:xfrm>
            <a:off x="3566160" y="3776472"/>
            <a:ext cx="2392527" cy="36576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Only approved content is ever served</a:t>
            </a:r>
          </a:p>
        </p:txBody>
      </p:sp>
      <p:sp>
        <p:nvSpPr>
          <p:cNvPr id="20" name="TextBox 19"/>
          <p:cNvSpPr txBox="1"/>
          <p:nvPr/>
        </p:nvSpPr>
        <p:spPr>
          <a:xfrm>
            <a:off x="6233007" y="1508760"/>
            <a:ext cx="256032" cy="274320"/>
          </a:xfrm>
          <a:prstGeom prst="rect">
            <a:avLst/>
          </a:prstGeom>
          <a:noFill/>
        </p:spPr>
        <p:txBody>
          <a:bodyPr wrap="square" lIns="0" rIns="0" tIns="0" bIns="0" anchor="t">
            <a:spAutoFit/>
          </a:bodyPr>
          <a:lstStyle/>
          <a:p>
            <a:pPr algn="l">
              <a:lnSpc>
                <a:spcPct val="100000"/>
              </a:lnSpc>
            </a:pPr>
            <a:r>
              <a:rPr sz="1200" b="1" i="0">
                <a:solidFill>
                  <a:srgbClr val="0E6E6E"/>
                </a:solidFill>
                <a:latin typeface="Segoe UI"/>
              </a:rPr>
              <a:t>▪</a:t>
            </a:r>
          </a:p>
        </p:txBody>
      </p:sp>
      <p:sp>
        <p:nvSpPr>
          <p:cNvPr id="21" name="TextBox 20"/>
          <p:cNvSpPr txBox="1"/>
          <p:nvPr/>
        </p:nvSpPr>
        <p:spPr>
          <a:xfrm>
            <a:off x="6507327" y="1490472"/>
            <a:ext cx="2606040" cy="274320"/>
          </a:xfrm>
          <a:prstGeom prst="rect">
            <a:avLst/>
          </a:prstGeom>
          <a:noFill/>
        </p:spPr>
        <p:txBody>
          <a:bodyPr wrap="square" lIns="0" rIns="0" tIns="0" bIns="0" anchor="t">
            <a:spAutoFit/>
          </a:bodyPr>
          <a:lstStyle/>
          <a:p>
            <a:pPr algn="l">
              <a:lnSpc>
                <a:spcPct val="100000"/>
              </a:lnSpc>
            </a:pPr>
            <a:r>
              <a:rPr sz="1150" b="1" i="0">
                <a:solidFill>
                  <a:srgbClr val="12263A"/>
                </a:solidFill>
                <a:latin typeface="Segoe UI"/>
              </a:rPr>
              <a:t>Electronic signature</a:t>
            </a:r>
          </a:p>
        </p:txBody>
      </p:sp>
      <p:sp>
        <p:nvSpPr>
          <p:cNvPr id="22" name="TextBox 21"/>
          <p:cNvSpPr txBox="1"/>
          <p:nvPr/>
        </p:nvSpPr>
        <p:spPr>
          <a:xfrm>
            <a:off x="9159087" y="1508760"/>
            <a:ext cx="2392527" cy="36576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Password re-verification + SHA-256 content hash</a:t>
            </a:r>
          </a:p>
        </p:txBody>
      </p:sp>
      <p:sp>
        <p:nvSpPr>
          <p:cNvPr id="23" name="TextBox 22"/>
          <p:cNvSpPr txBox="1"/>
          <p:nvPr/>
        </p:nvSpPr>
        <p:spPr>
          <a:xfrm>
            <a:off x="6233007" y="2075688"/>
            <a:ext cx="256032" cy="274320"/>
          </a:xfrm>
          <a:prstGeom prst="rect">
            <a:avLst/>
          </a:prstGeom>
          <a:noFill/>
        </p:spPr>
        <p:txBody>
          <a:bodyPr wrap="square" lIns="0" rIns="0" tIns="0" bIns="0" anchor="t">
            <a:spAutoFit/>
          </a:bodyPr>
          <a:lstStyle/>
          <a:p>
            <a:pPr algn="l">
              <a:lnSpc>
                <a:spcPct val="100000"/>
              </a:lnSpc>
            </a:pPr>
            <a:r>
              <a:rPr sz="1200" b="1" i="0">
                <a:solidFill>
                  <a:srgbClr val="0E6E6E"/>
                </a:solidFill>
                <a:latin typeface="Segoe UI"/>
              </a:rPr>
              <a:t>▪</a:t>
            </a:r>
          </a:p>
        </p:txBody>
      </p:sp>
      <p:sp>
        <p:nvSpPr>
          <p:cNvPr id="24" name="TextBox 23"/>
          <p:cNvSpPr txBox="1"/>
          <p:nvPr/>
        </p:nvSpPr>
        <p:spPr>
          <a:xfrm>
            <a:off x="6507327" y="2057400"/>
            <a:ext cx="2606040" cy="274320"/>
          </a:xfrm>
          <a:prstGeom prst="rect">
            <a:avLst/>
          </a:prstGeom>
          <a:noFill/>
        </p:spPr>
        <p:txBody>
          <a:bodyPr wrap="square" lIns="0" rIns="0" tIns="0" bIns="0" anchor="t">
            <a:spAutoFit/>
          </a:bodyPr>
          <a:lstStyle/>
          <a:p>
            <a:pPr algn="l">
              <a:lnSpc>
                <a:spcPct val="100000"/>
              </a:lnSpc>
            </a:pPr>
            <a:r>
              <a:rPr sz="1150" b="1" i="0">
                <a:solidFill>
                  <a:srgbClr val="12263A"/>
                </a:solidFill>
                <a:latin typeface="Segoe UI"/>
              </a:rPr>
              <a:t>Approved-content immutability</a:t>
            </a:r>
          </a:p>
        </p:txBody>
      </p:sp>
      <p:sp>
        <p:nvSpPr>
          <p:cNvPr id="25" name="TextBox 24"/>
          <p:cNvSpPr txBox="1"/>
          <p:nvPr/>
        </p:nvSpPr>
        <p:spPr>
          <a:xfrm>
            <a:off x="9159087" y="2075688"/>
            <a:ext cx="2392527" cy="36576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Write methods return 403</a:t>
            </a:r>
          </a:p>
        </p:txBody>
      </p:sp>
      <p:sp>
        <p:nvSpPr>
          <p:cNvPr id="26" name="TextBox 25"/>
          <p:cNvSpPr txBox="1"/>
          <p:nvPr/>
        </p:nvSpPr>
        <p:spPr>
          <a:xfrm>
            <a:off x="6233007" y="2642615"/>
            <a:ext cx="256032" cy="274320"/>
          </a:xfrm>
          <a:prstGeom prst="rect">
            <a:avLst/>
          </a:prstGeom>
          <a:noFill/>
        </p:spPr>
        <p:txBody>
          <a:bodyPr wrap="square" lIns="0" rIns="0" tIns="0" bIns="0" anchor="t">
            <a:spAutoFit/>
          </a:bodyPr>
          <a:lstStyle/>
          <a:p>
            <a:pPr algn="l">
              <a:lnSpc>
                <a:spcPct val="100000"/>
              </a:lnSpc>
            </a:pPr>
            <a:r>
              <a:rPr sz="1200" b="1" i="0">
                <a:solidFill>
                  <a:srgbClr val="0E6E6E"/>
                </a:solidFill>
                <a:latin typeface="Segoe UI"/>
              </a:rPr>
              <a:t>▪</a:t>
            </a:r>
          </a:p>
        </p:txBody>
      </p:sp>
      <p:sp>
        <p:nvSpPr>
          <p:cNvPr id="27" name="TextBox 26"/>
          <p:cNvSpPr txBox="1"/>
          <p:nvPr/>
        </p:nvSpPr>
        <p:spPr>
          <a:xfrm>
            <a:off x="6507327" y="2624327"/>
            <a:ext cx="2606040" cy="274320"/>
          </a:xfrm>
          <a:prstGeom prst="rect">
            <a:avLst/>
          </a:prstGeom>
          <a:noFill/>
        </p:spPr>
        <p:txBody>
          <a:bodyPr wrap="square" lIns="0" rIns="0" tIns="0" bIns="0" anchor="t">
            <a:spAutoFit/>
          </a:bodyPr>
          <a:lstStyle/>
          <a:p>
            <a:pPr algn="l">
              <a:lnSpc>
                <a:spcPct val="100000"/>
              </a:lnSpc>
            </a:pPr>
            <a:r>
              <a:rPr sz="1150" b="1" i="0">
                <a:solidFill>
                  <a:srgbClr val="12263A"/>
                </a:solidFill>
                <a:latin typeface="Segoe UI"/>
              </a:rPr>
              <a:t>Single-submission guarantee</a:t>
            </a:r>
          </a:p>
        </p:txBody>
      </p:sp>
      <p:sp>
        <p:nvSpPr>
          <p:cNvPr id="28" name="TextBox 27"/>
          <p:cNvSpPr txBox="1"/>
          <p:nvPr/>
        </p:nvSpPr>
        <p:spPr>
          <a:xfrm>
            <a:off x="9159087" y="2642615"/>
            <a:ext cx="2392527" cy="36576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Atomic compare-and-set; resubmission returns 409</a:t>
            </a:r>
          </a:p>
        </p:txBody>
      </p:sp>
      <p:sp>
        <p:nvSpPr>
          <p:cNvPr id="29" name="TextBox 28"/>
          <p:cNvSpPr txBox="1"/>
          <p:nvPr/>
        </p:nvSpPr>
        <p:spPr>
          <a:xfrm>
            <a:off x="6233007" y="3209544"/>
            <a:ext cx="256032" cy="274320"/>
          </a:xfrm>
          <a:prstGeom prst="rect">
            <a:avLst/>
          </a:prstGeom>
          <a:noFill/>
        </p:spPr>
        <p:txBody>
          <a:bodyPr wrap="square" lIns="0" rIns="0" tIns="0" bIns="0" anchor="t">
            <a:spAutoFit/>
          </a:bodyPr>
          <a:lstStyle/>
          <a:p>
            <a:pPr algn="l">
              <a:lnSpc>
                <a:spcPct val="100000"/>
              </a:lnSpc>
            </a:pPr>
            <a:r>
              <a:rPr sz="1200" b="1" i="0">
                <a:solidFill>
                  <a:srgbClr val="0E6E6E"/>
                </a:solidFill>
                <a:latin typeface="Segoe UI"/>
              </a:rPr>
              <a:t>▪</a:t>
            </a:r>
          </a:p>
        </p:txBody>
      </p:sp>
      <p:sp>
        <p:nvSpPr>
          <p:cNvPr id="30" name="TextBox 29"/>
          <p:cNvSpPr txBox="1"/>
          <p:nvPr/>
        </p:nvSpPr>
        <p:spPr>
          <a:xfrm>
            <a:off x="6507327" y="3191256"/>
            <a:ext cx="2606040" cy="274320"/>
          </a:xfrm>
          <a:prstGeom prst="rect">
            <a:avLst/>
          </a:prstGeom>
          <a:noFill/>
        </p:spPr>
        <p:txBody>
          <a:bodyPr wrap="square" lIns="0" rIns="0" tIns="0" bIns="0" anchor="t">
            <a:spAutoFit/>
          </a:bodyPr>
          <a:lstStyle/>
          <a:p>
            <a:pPr algn="l">
              <a:lnSpc>
                <a:spcPct val="100000"/>
              </a:lnSpc>
            </a:pPr>
            <a:r>
              <a:rPr sz="1150" b="1" i="0">
                <a:solidFill>
                  <a:srgbClr val="12263A"/>
                </a:solidFill>
                <a:latin typeface="Segoe UI"/>
              </a:rPr>
              <a:t>Audit trail</a:t>
            </a:r>
          </a:p>
        </p:txBody>
      </p:sp>
      <p:sp>
        <p:nvSpPr>
          <p:cNvPr id="31" name="TextBox 30"/>
          <p:cNvSpPr txBox="1"/>
          <p:nvPr/>
        </p:nvSpPr>
        <p:spPr>
          <a:xfrm>
            <a:off x="9159087" y="3209544"/>
            <a:ext cx="2392527" cy="36576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17 attributed action types</a:t>
            </a:r>
          </a:p>
        </p:txBody>
      </p:sp>
      <p:sp>
        <p:nvSpPr>
          <p:cNvPr id="32" name="TextBox 31"/>
          <p:cNvSpPr txBox="1"/>
          <p:nvPr/>
        </p:nvSpPr>
        <p:spPr>
          <a:xfrm>
            <a:off x="6233007" y="3776472"/>
            <a:ext cx="256032" cy="274320"/>
          </a:xfrm>
          <a:prstGeom prst="rect">
            <a:avLst/>
          </a:prstGeom>
          <a:noFill/>
        </p:spPr>
        <p:txBody>
          <a:bodyPr wrap="square" lIns="0" rIns="0" tIns="0" bIns="0" anchor="t">
            <a:spAutoFit/>
          </a:bodyPr>
          <a:lstStyle/>
          <a:p>
            <a:pPr algn="l">
              <a:lnSpc>
                <a:spcPct val="100000"/>
              </a:lnSpc>
            </a:pPr>
            <a:r>
              <a:rPr sz="1200" b="1" i="0">
                <a:solidFill>
                  <a:srgbClr val="0E6E6E"/>
                </a:solidFill>
                <a:latin typeface="Segoe UI"/>
              </a:rPr>
              <a:t>▪</a:t>
            </a:r>
          </a:p>
        </p:txBody>
      </p:sp>
      <p:sp>
        <p:nvSpPr>
          <p:cNvPr id="33" name="TextBox 32"/>
          <p:cNvSpPr txBox="1"/>
          <p:nvPr/>
        </p:nvSpPr>
        <p:spPr>
          <a:xfrm>
            <a:off x="6507327" y="3758184"/>
            <a:ext cx="2606040" cy="274320"/>
          </a:xfrm>
          <a:prstGeom prst="rect">
            <a:avLst/>
          </a:prstGeom>
          <a:noFill/>
        </p:spPr>
        <p:txBody>
          <a:bodyPr wrap="square" lIns="0" rIns="0" tIns="0" bIns="0" anchor="t">
            <a:spAutoFit/>
          </a:bodyPr>
          <a:lstStyle/>
          <a:p>
            <a:pPr algn="l">
              <a:lnSpc>
                <a:spcPct val="100000"/>
              </a:lnSpc>
            </a:pPr>
            <a:r>
              <a:rPr sz="1150" b="1" i="0">
                <a:solidFill>
                  <a:srgbClr val="12263A"/>
                </a:solidFill>
                <a:latin typeface="Segoe UI"/>
              </a:rPr>
              <a:t>Media protection</a:t>
            </a:r>
          </a:p>
        </p:txBody>
      </p:sp>
      <p:sp>
        <p:nvSpPr>
          <p:cNvPr id="34" name="TextBox 33"/>
          <p:cNvSpPr txBox="1"/>
          <p:nvPr/>
        </p:nvSpPr>
        <p:spPr>
          <a:xfrm>
            <a:off x="9159087" y="3776472"/>
            <a:ext cx="2392527" cy="365760"/>
          </a:xfrm>
          <a:prstGeom prst="rect">
            <a:avLst/>
          </a:prstGeom>
          <a:noFill/>
        </p:spPr>
        <p:txBody>
          <a:bodyPr wrap="square" lIns="0" rIns="0" tIns="0" bIns="0" anchor="t">
            <a:spAutoFit/>
          </a:bodyPr>
          <a:lstStyle/>
          <a:p>
            <a:pPr algn="l">
              <a:lnSpc>
                <a:spcPct val="100000"/>
              </a:lnSpc>
            </a:pPr>
            <a:r>
              <a:rPr sz="1050" b="0" i="0">
                <a:solidFill>
                  <a:srgbClr val="5A6B73"/>
                </a:solidFill>
                <a:latin typeface="Segoe UI"/>
              </a:rPr>
              <a:t>No public media route; authenticated download only</a:t>
            </a:r>
          </a:p>
        </p:txBody>
      </p:sp>
      <p:sp>
        <p:nvSpPr>
          <p:cNvPr id="35" name="Rounded Rectangle 34"/>
          <p:cNvSpPr/>
          <p:nvPr/>
        </p:nvSpPr>
        <p:spPr>
          <a:xfrm>
            <a:off x="640080" y="4526280"/>
            <a:ext cx="5318607" cy="1280160"/>
          </a:xfrm>
          <a:prstGeom prst="roundRect">
            <a:avLst>
              <a:gd name="adj" fmla="val 3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681728"/>
            <a:ext cx="4769967" cy="27432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TEST SUITE</a:t>
            </a:r>
          </a:p>
        </p:txBody>
      </p:sp>
      <p:sp>
        <p:nvSpPr>
          <p:cNvPr id="37" name="TextBox 36"/>
          <p:cNvSpPr txBox="1"/>
          <p:nvPr/>
        </p:nvSpPr>
        <p:spPr>
          <a:xfrm>
            <a:off x="914400" y="5029200"/>
            <a:ext cx="2011680" cy="457200"/>
          </a:xfrm>
          <a:prstGeom prst="rect">
            <a:avLst/>
          </a:prstGeom>
          <a:noFill/>
        </p:spPr>
        <p:txBody>
          <a:bodyPr wrap="square" lIns="0" rIns="0" tIns="0" bIns="0" anchor="t">
            <a:spAutoFit/>
          </a:bodyPr>
          <a:lstStyle/>
          <a:p>
            <a:pPr algn="l">
              <a:lnSpc>
                <a:spcPct val="100000"/>
              </a:lnSpc>
            </a:pPr>
            <a:r>
              <a:rPr sz="3000" b="1" i="0">
                <a:solidFill>
                  <a:srgbClr val="12263A"/>
                </a:solidFill>
                <a:latin typeface="Segoe UI Semibold"/>
              </a:rPr>
              <a:t>221</a:t>
            </a:r>
          </a:p>
        </p:txBody>
      </p:sp>
      <p:sp>
        <p:nvSpPr>
          <p:cNvPr id="38" name="TextBox 37"/>
          <p:cNvSpPr txBox="1"/>
          <p:nvPr/>
        </p:nvSpPr>
        <p:spPr>
          <a:xfrm>
            <a:off x="2377439" y="5138928"/>
            <a:ext cx="3291840" cy="548640"/>
          </a:xfrm>
          <a:prstGeom prst="rect">
            <a:avLst/>
          </a:prstGeom>
          <a:noFill/>
        </p:spPr>
        <p:txBody>
          <a:bodyPr wrap="square" lIns="0" rIns="0" tIns="0" bIns="0" anchor="t">
            <a:spAutoFit/>
          </a:bodyPr>
          <a:lstStyle/>
          <a:p>
            <a:pPr algn="l">
              <a:lnSpc>
                <a:spcPct val="115000"/>
              </a:lnSpc>
            </a:pPr>
            <a:r>
              <a:rPr sz="1150" b="0" i="0">
                <a:solidFill>
                  <a:srgbClr val="12263A"/>
                </a:solidFill>
                <a:latin typeface="Segoe UI"/>
              </a:rPr>
              <a:t>tests passing</a:t>
            </a:r>
          </a:p>
          <a:p>
            <a:pPr algn="l">
              <a:lnSpc>
                <a:spcPct val="115000"/>
              </a:lnSpc>
            </a:pPr>
            <a:r>
              <a:rPr sz="1150" b="0" i="0">
                <a:solidFill>
                  <a:srgbClr val="12263A"/>
                </a:solidFill>
                <a:latin typeface="Segoe UI"/>
              </a:rPr>
              <a:t>0 failures · 0 skipped</a:t>
            </a:r>
          </a:p>
        </p:txBody>
      </p:sp>
      <p:sp>
        <p:nvSpPr>
          <p:cNvPr id="39" name="Rounded Rectangle 38"/>
          <p:cNvSpPr/>
          <p:nvPr/>
        </p:nvSpPr>
        <p:spPr>
          <a:xfrm>
            <a:off x="6233007" y="4526280"/>
            <a:ext cx="5318607" cy="1280160"/>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07327" y="4681728"/>
            <a:ext cx="4769967" cy="27432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COVERAGE BY MODULE</a:t>
            </a:r>
          </a:p>
        </p:txBody>
      </p:sp>
      <p:sp>
        <p:nvSpPr>
          <p:cNvPr id="41" name="TextBox 40"/>
          <p:cNvSpPr txBox="1"/>
          <p:nvPr/>
        </p:nvSpPr>
        <p:spPr>
          <a:xfrm>
            <a:off x="6507327" y="5074920"/>
            <a:ext cx="4769967" cy="548640"/>
          </a:xfrm>
          <a:prstGeom prst="rect">
            <a:avLst/>
          </a:prstGeom>
          <a:noFill/>
        </p:spPr>
        <p:txBody>
          <a:bodyPr wrap="square" lIns="0" rIns="0" tIns="0" bIns="0" anchor="t">
            <a:spAutoFit/>
          </a:bodyPr>
          <a:lstStyle/>
          <a:p>
            <a:pPr algn="l">
              <a:lnSpc>
                <a:spcPct val="120000"/>
              </a:lnSpc>
            </a:pPr>
            <a:r>
              <a:rPr sz="1150" b="0" i="0">
                <a:solidFill>
                  <a:srgbClr val="12263A"/>
                </a:solidFill>
                <a:latin typeface="Segoe UI"/>
              </a:rPr>
              <a:t>attempts 99  ·  quiz 36  ·  ai_engine 36  ·  sops 19  ·  accounts 16  ·  analytics 10  ·  audit 5</a:t>
            </a:r>
          </a:p>
        </p:txBody>
      </p:sp>
      <p:sp>
        <p:nvSpPr>
          <p:cNvPr id="42" name="Rounded Rectangle 41"/>
          <p:cNvSpPr/>
          <p:nvPr/>
        </p:nvSpPr>
        <p:spPr>
          <a:xfrm>
            <a:off x="640080" y="5961888"/>
            <a:ext cx="10911535" cy="548640"/>
          </a:xfrm>
          <a:prstGeom prst="roundRect">
            <a:avLst>
              <a:gd name="adj" fmla="val 3000"/>
            </a:avLst>
          </a:prstGeom>
          <a:solidFill>
            <a:srgbClr val="F9ECE7"/>
          </a:solidFill>
          <a:ln w="12700">
            <a:solidFill>
              <a:srgbClr val="A845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6089904"/>
            <a:ext cx="10362895" cy="320040"/>
          </a:xfrm>
          <a:prstGeom prst="rect">
            <a:avLst/>
          </a:prstGeom>
          <a:noFill/>
        </p:spPr>
        <p:txBody>
          <a:bodyPr wrap="square" lIns="0" rIns="0" tIns="0" bIns="0" anchor="t">
            <a:spAutoFit/>
          </a:bodyPr>
          <a:lstStyle/>
          <a:p>
            <a:pPr algn="l">
              <a:lnSpc>
                <a:spcPct val="100000"/>
              </a:lnSpc>
            </a:pPr>
            <a:r>
              <a:rPr sz="1200" b="1" i="0">
                <a:solidFill>
                  <a:srgbClr val="12263A"/>
                </a:solidFill>
                <a:latin typeface="Segoe UI"/>
              </a:rPr>
              <a:t>Tests validate system behaviour; they do not establish regulatory compliance.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14 · HONEST ASSESSMENT</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Limitations and Future Scope</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63040"/>
            <a:ext cx="5029200" cy="3703320"/>
          </a:xfrm>
          <a:prstGeom prst="roundRect">
            <a:avLst>
              <a:gd name="adj" fmla="val 3000"/>
            </a:avLst>
          </a:prstGeom>
          <a:solidFill>
            <a:srgbClr val="F9ECE7"/>
          </a:solidFill>
          <a:ln w="12700">
            <a:solidFill>
              <a:srgbClr val="A845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27632"/>
            <a:ext cx="4480560" cy="274320"/>
          </a:xfrm>
          <a:prstGeom prst="rect">
            <a:avLst/>
          </a:prstGeom>
          <a:noFill/>
        </p:spPr>
        <p:txBody>
          <a:bodyPr wrap="square" lIns="0" rIns="0" tIns="0" bIns="0" anchor="t">
            <a:spAutoFit/>
          </a:bodyPr>
          <a:lstStyle/>
          <a:p>
            <a:pPr algn="l">
              <a:lnSpc>
                <a:spcPct val="100000"/>
              </a:lnSpc>
            </a:pPr>
            <a:r>
              <a:rPr sz="1050" b="1" i="0">
                <a:solidFill>
                  <a:srgbClr val="A8452C"/>
                </a:solidFill>
                <a:latin typeface="Segoe UI Semibold"/>
              </a:rPr>
              <a:t>CURRENT LIMITATIONS</a:t>
            </a:r>
          </a:p>
        </p:txBody>
      </p:sp>
      <p:sp>
        <p:nvSpPr>
          <p:cNvPr id="7" name="TextBox 6"/>
          <p:cNvSpPr txBox="1"/>
          <p:nvPr/>
        </p:nvSpPr>
        <p:spPr>
          <a:xfrm>
            <a:off x="914400" y="2011680"/>
            <a:ext cx="274320" cy="274320"/>
          </a:xfrm>
          <a:prstGeom prst="rect">
            <a:avLst/>
          </a:prstGeom>
          <a:noFill/>
        </p:spPr>
        <p:txBody>
          <a:bodyPr wrap="square" lIns="0" rIns="0" tIns="0" bIns="0" anchor="t">
            <a:spAutoFit/>
          </a:bodyPr>
          <a:lstStyle/>
          <a:p>
            <a:pPr algn="l">
              <a:lnSpc>
                <a:spcPct val="100000"/>
              </a:lnSpc>
            </a:pPr>
            <a:r>
              <a:rPr sz="1150" b="1" i="0">
                <a:solidFill>
                  <a:srgbClr val="A8452C"/>
                </a:solidFill>
                <a:latin typeface="Segoe UI Semibold"/>
              </a:rPr>
              <a:t>1</a:t>
            </a:r>
          </a:p>
        </p:txBody>
      </p:sp>
      <p:sp>
        <p:nvSpPr>
          <p:cNvPr id="8" name="TextBox 7"/>
          <p:cNvSpPr txBox="1"/>
          <p:nvPr/>
        </p:nvSpPr>
        <p:spPr>
          <a:xfrm>
            <a:off x="1207007" y="2011680"/>
            <a:ext cx="4206240" cy="566928"/>
          </a:xfrm>
          <a:prstGeom prst="rect">
            <a:avLst/>
          </a:prstGeom>
          <a:noFill/>
        </p:spPr>
        <p:txBody>
          <a:bodyPr wrap="square" lIns="0" rIns="0" tIns="0" bIns="0" anchor="t">
            <a:spAutoFit/>
          </a:bodyPr>
          <a:lstStyle/>
          <a:p>
            <a:pPr algn="l">
              <a:lnSpc>
                <a:spcPct val="110000"/>
              </a:lnSpc>
            </a:pPr>
            <a:r>
              <a:rPr sz="1150" b="0" i="0">
                <a:solidFill>
                  <a:srgbClr val="12263A"/>
                </a:solidFill>
                <a:latin typeface="Segoe UI"/>
              </a:rPr>
              <a:t>Offered-question set not yet persisted as an immutable attempt-level record</a:t>
            </a:r>
          </a:p>
        </p:txBody>
      </p:sp>
      <p:sp>
        <p:nvSpPr>
          <p:cNvPr id="9" name="TextBox 8"/>
          <p:cNvSpPr txBox="1"/>
          <p:nvPr/>
        </p:nvSpPr>
        <p:spPr>
          <a:xfrm>
            <a:off x="914400" y="2615184"/>
            <a:ext cx="274320" cy="274320"/>
          </a:xfrm>
          <a:prstGeom prst="rect">
            <a:avLst/>
          </a:prstGeom>
          <a:noFill/>
        </p:spPr>
        <p:txBody>
          <a:bodyPr wrap="square" lIns="0" rIns="0" tIns="0" bIns="0" anchor="t">
            <a:spAutoFit/>
          </a:bodyPr>
          <a:lstStyle/>
          <a:p>
            <a:pPr algn="l">
              <a:lnSpc>
                <a:spcPct val="100000"/>
              </a:lnSpc>
            </a:pPr>
            <a:r>
              <a:rPr sz="1150" b="1" i="0">
                <a:solidFill>
                  <a:srgbClr val="A8452C"/>
                </a:solidFill>
                <a:latin typeface="Segoe UI Semibold"/>
              </a:rPr>
              <a:t>2</a:t>
            </a:r>
          </a:p>
        </p:txBody>
      </p:sp>
      <p:sp>
        <p:nvSpPr>
          <p:cNvPr id="10" name="TextBox 9"/>
          <p:cNvSpPr txBox="1"/>
          <p:nvPr/>
        </p:nvSpPr>
        <p:spPr>
          <a:xfrm>
            <a:off x="1207007" y="2615184"/>
            <a:ext cx="4206240" cy="566928"/>
          </a:xfrm>
          <a:prstGeom prst="rect">
            <a:avLst/>
          </a:prstGeom>
          <a:noFill/>
        </p:spPr>
        <p:txBody>
          <a:bodyPr wrap="square" lIns="0" rIns="0" tIns="0" bIns="0" anchor="t">
            <a:spAutoFit/>
          </a:bodyPr>
          <a:lstStyle/>
          <a:p>
            <a:pPr algn="l">
              <a:lnSpc>
                <a:spcPct val="110000"/>
              </a:lnSpc>
            </a:pPr>
            <a:r>
              <a:rPr sz="1150" b="0" i="0">
                <a:solidFill>
                  <a:srgbClr val="12263A"/>
                </a:solidFill>
                <a:latin typeface="Segoe UI"/>
              </a:rPr>
              <a:t>SOP version lifecycle not implemented — reprocessing is blocked, not versioned</a:t>
            </a:r>
          </a:p>
        </p:txBody>
      </p:sp>
      <p:sp>
        <p:nvSpPr>
          <p:cNvPr id="11" name="TextBox 10"/>
          <p:cNvSpPr txBox="1"/>
          <p:nvPr/>
        </p:nvSpPr>
        <p:spPr>
          <a:xfrm>
            <a:off x="914400" y="3218688"/>
            <a:ext cx="274320" cy="274320"/>
          </a:xfrm>
          <a:prstGeom prst="rect">
            <a:avLst/>
          </a:prstGeom>
          <a:noFill/>
        </p:spPr>
        <p:txBody>
          <a:bodyPr wrap="square" lIns="0" rIns="0" tIns="0" bIns="0" anchor="t">
            <a:spAutoFit/>
          </a:bodyPr>
          <a:lstStyle/>
          <a:p>
            <a:pPr algn="l">
              <a:lnSpc>
                <a:spcPct val="100000"/>
              </a:lnSpc>
            </a:pPr>
            <a:r>
              <a:rPr sz="1150" b="1" i="0">
                <a:solidFill>
                  <a:srgbClr val="A8452C"/>
                </a:solidFill>
                <a:latin typeface="Segoe UI Semibold"/>
              </a:rPr>
              <a:t>3</a:t>
            </a:r>
          </a:p>
        </p:txBody>
      </p:sp>
      <p:sp>
        <p:nvSpPr>
          <p:cNvPr id="12" name="TextBox 11"/>
          <p:cNvSpPr txBox="1"/>
          <p:nvPr/>
        </p:nvSpPr>
        <p:spPr>
          <a:xfrm>
            <a:off x="1207007" y="3218688"/>
            <a:ext cx="4206240" cy="566928"/>
          </a:xfrm>
          <a:prstGeom prst="rect">
            <a:avLst/>
          </a:prstGeom>
          <a:noFill/>
        </p:spPr>
        <p:txBody>
          <a:bodyPr wrap="square" lIns="0" rIns="0" tIns="0" bIns="0" anchor="t">
            <a:spAutoFit/>
          </a:bodyPr>
          <a:lstStyle/>
          <a:p>
            <a:pPr algn="l">
              <a:lnSpc>
                <a:spcPct val="110000"/>
              </a:lnSpc>
            </a:pPr>
            <a:r>
              <a:rPr sz="1150" b="0" i="0">
                <a:solidFill>
                  <a:srgbClr val="12263A"/>
                </a:solidFill>
                <a:latin typeface="Segoe UI"/>
              </a:rPr>
              <a:t>Difficulty does not directly influence adaptive priority</a:t>
            </a:r>
          </a:p>
        </p:txBody>
      </p:sp>
      <p:sp>
        <p:nvSpPr>
          <p:cNvPr id="13" name="TextBox 12"/>
          <p:cNvSpPr txBox="1"/>
          <p:nvPr/>
        </p:nvSpPr>
        <p:spPr>
          <a:xfrm>
            <a:off x="914400" y="3822191"/>
            <a:ext cx="274320" cy="274320"/>
          </a:xfrm>
          <a:prstGeom prst="rect">
            <a:avLst/>
          </a:prstGeom>
          <a:noFill/>
        </p:spPr>
        <p:txBody>
          <a:bodyPr wrap="square" lIns="0" rIns="0" tIns="0" bIns="0" anchor="t">
            <a:spAutoFit/>
          </a:bodyPr>
          <a:lstStyle/>
          <a:p>
            <a:pPr algn="l">
              <a:lnSpc>
                <a:spcPct val="100000"/>
              </a:lnSpc>
            </a:pPr>
            <a:r>
              <a:rPr sz="1150" b="1" i="0">
                <a:solidFill>
                  <a:srgbClr val="A8452C"/>
                </a:solidFill>
                <a:latin typeface="Segoe UI Semibold"/>
              </a:rPr>
              <a:t>4</a:t>
            </a:r>
          </a:p>
        </p:txBody>
      </p:sp>
      <p:sp>
        <p:nvSpPr>
          <p:cNvPr id="14" name="TextBox 13"/>
          <p:cNvSpPr txBox="1"/>
          <p:nvPr/>
        </p:nvSpPr>
        <p:spPr>
          <a:xfrm>
            <a:off x="1207007" y="3822191"/>
            <a:ext cx="4206240" cy="566928"/>
          </a:xfrm>
          <a:prstGeom prst="rect">
            <a:avLst/>
          </a:prstGeom>
          <a:noFill/>
        </p:spPr>
        <p:txBody>
          <a:bodyPr wrap="square" lIns="0" rIns="0" tIns="0" bIns="0" anchor="t">
            <a:spAutoFit/>
          </a:bodyPr>
          <a:lstStyle/>
          <a:p>
            <a:pPr algn="l">
              <a:lnSpc>
                <a:spcPct val="110000"/>
              </a:lnSpc>
            </a:pPr>
            <a:r>
              <a:rPr sz="1150" b="0" i="0">
                <a:solidFill>
                  <a:srgbClr val="12263A"/>
                </a:solidFill>
                <a:latin typeface="Segoe UI"/>
              </a:rPr>
              <a:t>Grounding is provenance + prompt constraint, not formal entailment verification</a:t>
            </a:r>
          </a:p>
        </p:txBody>
      </p:sp>
      <p:sp>
        <p:nvSpPr>
          <p:cNvPr id="15" name="TextBox 14"/>
          <p:cNvSpPr txBox="1"/>
          <p:nvPr/>
        </p:nvSpPr>
        <p:spPr>
          <a:xfrm>
            <a:off x="914400" y="4425696"/>
            <a:ext cx="274320" cy="274320"/>
          </a:xfrm>
          <a:prstGeom prst="rect">
            <a:avLst/>
          </a:prstGeom>
          <a:noFill/>
        </p:spPr>
        <p:txBody>
          <a:bodyPr wrap="square" lIns="0" rIns="0" tIns="0" bIns="0" anchor="t">
            <a:spAutoFit/>
          </a:bodyPr>
          <a:lstStyle/>
          <a:p>
            <a:pPr algn="l">
              <a:lnSpc>
                <a:spcPct val="100000"/>
              </a:lnSpc>
            </a:pPr>
            <a:r>
              <a:rPr sz="1150" b="1" i="0">
                <a:solidFill>
                  <a:srgbClr val="A8452C"/>
                </a:solidFill>
                <a:latin typeface="Segoe UI Semibold"/>
              </a:rPr>
              <a:t>5</a:t>
            </a:r>
          </a:p>
        </p:txBody>
      </p:sp>
      <p:sp>
        <p:nvSpPr>
          <p:cNvPr id="16" name="TextBox 15"/>
          <p:cNvSpPr txBox="1"/>
          <p:nvPr/>
        </p:nvSpPr>
        <p:spPr>
          <a:xfrm>
            <a:off x="1207007" y="4425696"/>
            <a:ext cx="4206240" cy="566928"/>
          </a:xfrm>
          <a:prstGeom prst="rect">
            <a:avLst/>
          </a:prstGeom>
          <a:noFill/>
        </p:spPr>
        <p:txBody>
          <a:bodyPr wrap="square" lIns="0" rIns="0" tIns="0" bIns="0" anchor="t">
            <a:spAutoFit/>
          </a:bodyPr>
          <a:lstStyle/>
          <a:p>
            <a:pPr algn="l">
              <a:lnSpc>
                <a:spcPct val="110000"/>
              </a:lnSpc>
            </a:pPr>
            <a:r>
              <a:rPr sz="1150" b="0" i="0">
                <a:solidFill>
                  <a:srgbClr val="12263A"/>
                </a:solidFill>
                <a:latin typeface="Segoe UI"/>
              </a:rPr>
              <a:t>No BKT / IRT knowledge-tracing model yet</a:t>
            </a:r>
          </a:p>
        </p:txBody>
      </p:sp>
      <p:sp>
        <p:nvSpPr>
          <p:cNvPr id="17" name="Rounded Rectangle 16"/>
          <p:cNvSpPr/>
          <p:nvPr/>
        </p:nvSpPr>
        <p:spPr>
          <a:xfrm>
            <a:off x="5943600" y="1463040"/>
            <a:ext cx="1747418" cy="3703320"/>
          </a:xfrm>
          <a:prstGeom prst="roundRect">
            <a:avLst>
              <a:gd name="adj" fmla="val 3000"/>
            </a:avLst>
          </a:prstGeom>
          <a:solidFill>
            <a:srgbClr val="E3F0F0"/>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1627632"/>
            <a:ext cx="1381658" cy="274320"/>
          </a:xfrm>
          <a:prstGeom prst="rect">
            <a:avLst/>
          </a:prstGeom>
          <a:noFill/>
        </p:spPr>
        <p:txBody>
          <a:bodyPr wrap="square" lIns="0" rIns="0" tIns="0" bIns="0" anchor="t">
            <a:spAutoFit/>
          </a:bodyPr>
          <a:lstStyle/>
          <a:p>
            <a:pPr algn="l">
              <a:lnSpc>
                <a:spcPct val="100000"/>
              </a:lnSpc>
            </a:pPr>
            <a:r>
              <a:rPr sz="1000" b="1" i="0">
                <a:solidFill>
                  <a:srgbClr val="0E6E6E"/>
                </a:solidFill>
                <a:latin typeface="Segoe UI Semibold"/>
              </a:rPr>
              <a:t>SHORT TERM</a:t>
            </a:r>
          </a:p>
        </p:txBody>
      </p:sp>
      <p:sp>
        <p:nvSpPr>
          <p:cNvPr id="19" name="TextBox 18"/>
          <p:cNvSpPr txBox="1"/>
          <p:nvPr/>
        </p:nvSpPr>
        <p:spPr>
          <a:xfrm>
            <a:off x="6126480" y="2011680"/>
            <a:ext cx="1381658" cy="438912"/>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QuizAttemptQuestion</a:t>
            </a:r>
          </a:p>
          <a:p>
            <a:pPr algn="l">
              <a:lnSpc>
                <a:spcPct val="110000"/>
              </a:lnSpc>
            </a:pPr>
            <a:r>
              <a:rPr sz="1000" b="0" i="0">
                <a:solidFill>
                  <a:srgbClr val="12263A"/>
                </a:solidFill>
                <a:latin typeface="Segoe UI"/>
              </a:rPr>
              <a:t>(server-side)</a:t>
            </a:r>
          </a:p>
        </p:txBody>
      </p:sp>
      <p:sp>
        <p:nvSpPr>
          <p:cNvPr id="20" name="TextBox 19"/>
          <p:cNvSpPr txBox="1"/>
          <p:nvPr/>
        </p:nvSpPr>
        <p:spPr>
          <a:xfrm>
            <a:off x="6126480" y="2514600"/>
            <a:ext cx="1381658" cy="265176"/>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SOP version lifecycle</a:t>
            </a:r>
          </a:p>
        </p:txBody>
      </p:sp>
      <p:sp>
        <p:nvSpPr>
          <p:cNvPr id="21" name="TextBox 20"/>
          <p:cNvSpPr txBox="1"/>
          <p:nvPr/>
        </p:nvSpPr>
        <p:spPr>
          <a:xfrm>
            <a:off x="6126480" y="2843784"/>
            <a:ext cx="1381658" cy="438912"/>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Question revision</a:t>
            </a:r>
          </a:p>
          <a:p>
            <a:pPr algn="l">
              <a:lnSpc>
                <a:spcPct val="110000"/>
              </a:lnSpc>
            </a:pPr>
            <a:r>
              <a:rPr sz="1000" b="0" i="0">
                <a:solidFill>
                  <a:srgbClr val="12263A"/>
                </a:solidFill>
                <a:latin typeface="Segoe UI"/>
              </a:rPr>
              <a:t>history</a:t>
            </a:r>
          </a:p>
        </p:txBody>
      </p:sp>
      <p:sp>
        <p:nvSpPr>
          <p:cNvPr id="22" name="TextBox 21"/>
          <p:cNvSpPr txBox="1"/>
          <p:nvPr/>
        </p:nvSpPr>
        <p:spPr>
          <a:xfrm>
            <a:off x="6126480" y="3346704"/>
            <a:ext cx="1381658" cy="265176"/>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Difficulty-aware priority</a:t>
            </a:r>
          </a:p>
        </p:txBody>
      </p:sp>
      <p:sp>
        <p:nvSpPr>
          <p:cNvPr id="23" name="TextBox 22"/>
          <p:cNvSpPr txBox="1"/>
          <p:nvPr/>
        </p:nvSpPr>
        <p:spPr>
          <a:xfrm>
            <a:off x="6126480" y="3675888"/>
            <a:ext cx="1381658" cy="438912"/>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Semantic duplicate</a:t>
            </a:r>
          </a:p>
          <a:p>
            <a:pPr algn="l">
              <a:lnSpc>
                <a:spcPct val="110000"/>
              </a:lnSpc>
            </a:pPr>
            <a:r>
              <a:rPr sz="1000" b="0" i="0">
                <a:solidFill>
                  <a:srgbClr val="12263A"/>
                </a:solidFill>
                <a:latin typeface="Segoe UI"/>
              </a:rPr>
              <a:t>detection</a:t>
            </a:r>
          </a:p>
        </p:txBody>
      </p:sp>
      <p:sp>
        <p:nvSpPr>
          <p:cNvPr id="24" name="TextBox 23"/>
          <p:cNvSpPr txBox="1"/>
          <p:nvPr/>
        </p:nvSpPr>
        <p:spPr>
          <a:xfrm>
            <a:off x="6126480" y="4178808"/>
            <a:ext cx="1381658" cy="265176"/>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Entailment verification</a:t>
            </a:r>
          </a:p>
        </p:txBody>
      </p:sp>
      <p:sp>
        <p:nvSpPr>
          <p:cNvPr id="25" name="Rounded Rectangle 24"/>
          <p:cNvSpPr/>
          <p:nvPr/>
        </p:nvSpPr>
        <p:spPr>
          <a:xfrm>
            <a:off x="7873898" y="1463040"/>
            <a:ext cx="1747418" cy="3703320"/>
          </a:xfrm>
          <a:prstGeom prst="roundRect">
            <a:avLst>
              <a:gd name="adj" fmla="val 3000"/>
            </a:avLst>
          </a:prstGeom>
          <a:solidFill>
            <a:srgbClr val="E8EFF3"/>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56778" y="1627632"/>
            <a:ext cx="1381658" cy="274320"/>
          </a:xfrm>
          <a:prstGeom prst="rect">
            <a:avLst/>
          </a:prstGeom>
          <a:noFill/>
        </p:spPr>
        <p:txBody>
          <a:bodyPr wrap="square" lIns="0" rIns="0" tIns="0" bIns="0" anchor="t">
            <a:spAutoFit/>
          </a:bodyPr>
          <a:lstStyle/>
          <a:p>
            <a:pPr algn="l">
              <a:lnSpc>
                <a:spcPct val="100000"/>
              </a:lnSpc>
            </a:pPr>
            <a:r>
              <a:rPr sz="1000" b="1" i="0">
                <a:solidFill>
                  <a:srgbClr val="1F5673"/>
                </a:solidFill>
                <a:latin typeface="Segoe UI Semibold"/>
              </a:rPr>
              <a:t>ADVANCED</a:t>
            </a:r>
          </a:p>
        </p:txBody>
      </p:sp>
      <p:sp>
        <p:nvSpPr>
          <p:cNvPr id="27" name="TextBox 26"/>
          <p:cNvSpPr txBox="1"/>
          <p:nvPr/>
        </p:nvSpPr>
        <p:spPr>
          <a:xfrm>
            <a:off x="8056778" y="2011680"/>
            <a:ext cx="1381658" cy="438912"/>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Bayesian Knowledge</a:t>
            </a:r>
          </a:p>
          <a:p>
            <a:pPr algn="l">
              <a:lnSpc>
                <a:spcPct val="110000"/>
              </a:lnSpc>
            </a:pPr>
            <a:r>
              <a:rPr sz="1000" b="0" i="0">
                <a:solidFill>
                  <a:srgbClr val="12263A"/>
                </a:solidFill>
                <a:latin typeface="Segoe UI"/>
              </a:rPr>
              <a:t>Tracing</a:t>
            </a:r>
          </a:p>
        </p:txBody>
      </p:sp>
      <p:sp>
        <p:nvSpPr>
          <p:cNvPr id="28" name="TextBox 27"/>
          <p:cNvSpPr txBox="1"/>
          <p:nvPr/>
        </p:nvSpPr>
        <p:spPr>
          <a:xfrm>
            <a:off x="8056778" y="2514600"/>
            <a:ext cx="1381658" cy="265176"/>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Item Response Theory</a:t>
            </a:r>
          </a:p>
        </p:txBody>
      </p:sp>
      <p:sp>
        <p:nvSpPr>
          <p:cNvPr id="29" name="TextBox 28"/>
          <p:cNvSpPr txBox="1"/>
          <p:nvPr/>
        </p:nvSpPr>
        <p:spPr>
          <a:xfrm>
            <a:off x="8056778" y="2843784"/>
            <a:ext cx="1381658" cy="438912"/>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Computerised Adaptive</a:t>
            </a:r>
          </a:p>
          <a:p>
            <a:pPr algn="l">
              <a:lnSpc>
                <a:spcPct val="110000"/>
              </a:lnSpc>
            </a:pPr>
            <a:r>
              <a:rPr sz="1000" b="0" i="0">
                <a:solidFill>
                  <a:srgbClr val="12263A"/>
                </a:solidFill>
                <a:latin typeface="Segoe UI"/>
              </a:rPr>
              <a:t>Testing</a:t>
            </a:r>
          </a:p>
        </p:txBody>
      </p:sp>
      <p:sp>
        <p:nvSpPr>
          <p:cNvPr id="30" name="TextBox 29"/>
          <p:cNvSpPr txBox="1"/>
          <p:nvPr/>
        </p:nvSpPr>
        <p:spPr>
          <a:xfrm>
            <a:off x="8056778" y="3346704"/>
            <a:ext cx="1381658" cy="438912"/>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Prerequisite / concept</a:t>
            </a:r>
          </a:p>
          <a:p>
            <a:pPr algn="l">
              <a:lnSpc>
                <a:spcPct val="110000"/>
              </a:lnSpc>
            </a:pPr>
            <a:r>
              <a:rPr sz="1000" b="0" i="0">
                <a:solidFill>
                  <a:srgbClr val="12263A"/>
                </a:solidFill>
                <a:latin typeface="Segoe UI"/>
              </a:rPr>
              <a:t>graphs</a:t>
            </a:r>
          </a:p>
        </p:txBody>
      </p:sp>
      <p:sp>
        <p:nvSpPr>
          <p:cNvPr id="31" name="TextBox 30"/>
          <p:cNvSpPr txBox="1"/>
          <p:nvPr/>
        </p:nvSpPr>
        <p:spPr>
          <a:xfrm>
            <a:off x="8056778" y="3849624"/>
            <a:ext cx="1381658" cy="438912"/>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Cross-SOP concept</a:t>
            </a:r>
          </a:p>
          <a:p>
            <a:pPr algn="l">
              <a:lnSpc>
                <a:spcPct val="110000"/>
              </a:lnSpc>
            </a:pPr>
            <a:r>
              <a:rPr sz="1000" b="0" i="0">
                <a:solidFill>
                  <a:srgbClr val="12263A"/>
                </a:solidFill>
                <a:latin typeface="Segoe UI"/>
              </a:rPr>
              <a:t>modelling</a:t>
            </a:r>
          </a:p>
        </p:txBody>
      </p:sp>
      <p:sp>
        <p:nvSpPr>
          <p:cNvPr id="32" name="Rounded Rectangle 31"/>
          <p:cNvSpPr/>
          <p:nvPr/>
        </p:nvSpPr>
        <p:spPr>
          <a:xfrm>
            <a:off x="9804196" y="1463040"/>
            <a:ext cx="1747418" cy="3703320"/>
          </a:xfrm>
          <a:prstGeom prst="roundRect">
            <a:avLst>
              <a:gd name="adj" fmla="val 3000"/>
            </a:avLst>
          </a:prstGeom>
          <a:solidFill>
            <a:srgbClr val="F4F7F8"/>
          </a:solidFill>
          <a:ln w="12700">
            <a:solidFill>
              <a:srgbClr val="5A6B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87076" y="1627632"/>
            <a:ext cx="1381658" cy="274320"/>
          </a:xfrm>
          <a:prstGeom prst="rect">
            <a:avLst/>
          </a:prstGeom>
          <a:noFill/>
        </p:spPr>
        <p:txBody>
          <a:bodyPr wrap="square" lIns="0" rIns="0" tIns="0" bIns="0" anchor="t">
            <a:spAutoFit/>
          </a:bodyPr>
          <a:lstStyle/>
          <a:p>
            <a:pPr algn="l">
              <a:lnSpc>
                <a:spcPct val="100000"/>
              </a:lnSpc>
            </a:pPr>
            <a:r>
              <a:rPr sz="1000" b="1" i="0">
                <a:solidFill>
                  <a:srgbClr val="5A6B73"/>
                </a:solidFill>
                <a:latin typeface="Segoe UI Semibold"/>
              </a:rPr>
              <a:t>RESEARCH / AGENTIC</a:t>
            </a:r>
          </a:p>
        </p:txBody>
      </p:sp>
      <p:sp>
        <p:nvSpPr>
          <p:cNvPr id="34" name="TextBox 33"/>
          <p:cNvSpPr txBox="1"/>
          <p:nvPr/>
        </p:nvSpPr>
        <p:spPr>
          <a:xfrm>
            <a:off x="9987076" y="2011680"/>
            <a:ext cx="1381658" cy="438912"/>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Agentic training</a:t>
            </a:r>
          </a:p>
          <a:p>
            <a:pPr algn="l">
              <a:lnSpc>
                <a:spcPct val="110000"/>
              </a:lnSpc>
            </a:pPr>
            <a:r>
              <a:rPr sz="1000" b="0" i="0">
                <a:solidFill>
                  <a:srgbClr val="12263A"/>
                </a:solidFill>
                <a:latin typeface="Segoe UI"/>
              </a:rPr>
              <a:t>orchestration</a:t>
            </a:r>
          </a:p>
        </p:txBody>
      </p:sp>
      <p:sp>
        <p:nvSpPr>
          <p:cNvPr id="35" name="TextBox 34"/>
          <p:cNvSpPr txBox="1"/>
          <p:nvPr/>
        </p:nvSpPr>
        <p:spPr>
          <a:xfrm>
            <a:off x="9987076" y="2514600"/>
            <a:ext cx="1381658" cy="786384"/>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Pipeline:  observe →</a:t>
            </a:r>
          </a:p>
          <a:p>
            <a:pPr algn="l">
              <a:lnSpc>
                <a:spcPct val="110000"/>
              </a:lnSpc>
            </a:pPr>
            <a:r>
              <a:rPr sz="1000" b="0" i="0">
                <a:solidFill>
                  <a:srgbClr val="12263A"/>
                </a:solidFill>
                <a:latin typeface="Segoe UI"/>
              </a:rPr>
              <a:t>analyse → plan →</a:t>
            </a:r>
          </a:p>
          <a:p>
            <a:pPr algn="l">
              <a:lnSpc>
                <a:spcPct val="110000"/>
              </a:lnSpc>
            </a:pPr>
            <a:r>
              <a:rPr sz="1000" b="0" i="0">
                <a:solidFill>
                  <a:srgbClr val="12263A"/>
                </a:solidFill>
                <a:latin typeface="Segoe UI"/>
              </a:rPr>
              <a:t>retrieve → train →</a:t>
            </a:r>
          </a:p>
          <a:p>
            <a:pPr algn="l">
              <a:lnSpc>
                <a:spcPct val="110000"/>
              </a:lnSpc>
            </a:pPr>
            <a:r>
              <a:rPr sz="1000" b="0" i="0">
                <a:solidFill>
                  <a:srgbClr val="12263A"/>
                </a:solidFill>
                <a:latin typeface="Segoe UI"/>
              </a:rPr>
              <a:t>evaluate → adapt</a:t>
            </a:r>
          </a:p>
        </p:txBody>
      </p:sp>
      <p:sp>
        <p:nvSpPr>
          <p:cNvPr id="36" name="TextBox 35"/>
          <p:cNvSpPr txBox="1"/>
          <p:nvPr/>
        </p:nvSpPr>
        <p:spPr>
          <a:xfrm>
            <a:off x="9987076" y="3364992"/>
            <a:ext cx="1381658" cy="265176"/>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Adaptive tutor agent</a:t>
            </a:r>
          </a:p>
        </p:txBody>
      </p:sp>
      <p:sp>
        <p:nvSpPr>
          <p:cNvPr id="37" name="TextBox 36"/>
          <p:cNvSpPr txBox="1"/>
          <p:nvPr/>
        </p:nvSpPr>
        <p:spPr>
          <a:xfrm>
            <a:off x="9987076" y="3694176"/>
            <a:ext cx="1381658" cy="438912"/>
          </a:xfrm>
          <a:prstGeom prst="rect">
            <a:avLst/>
          </a:prstGeom>
          <a:noFill/>
        </p:spPr>
        <p:txBody>
          <a:bodyPr wrap="square" lIns="0" rIns="0" tIns="0" bIns="0" anchor="t">
            <a:spAutoFit/>
          </a:bodyPr>
          <a:lstStyle/>
          <a:p>
            <a:pPr algn="l">
              <a:lnSpc>
                <a:spcPct val="110000"/>
              </a:lnSpc>
            </a:pPr>
            <a:r>
              <a:rPr sz="1000" b="0" i="0">
                <a:solidFill>
                  <a:srgbClr val="12263A"/>
                </a:solidFill>
                <a:latin typeface="Segoe UI"/>
              </a:rPr>
              <a:t>Automated learning-</a:t>
            </a:r>
          </a:p>
          <a:p>
            <a:pPr algn="l">
              <a:lnSpc>
                <a:spcPct val="110000"/>
              </a:lnSpc>
            </a:pPr>
            <a:r>
              <a:rPr sz="1000" b="0" i="0">
                <a:solidFill>
                  <a:srgbClr val="12263A"/>
                </a:solidFill>
                <a:latin typeface="Segoe UI"/>
              </a:rPr>
              <a:t>path planning</a:t>
            </a:r>
          </a:p>
        </p:txBody>
      </p:sp>
      <p:sp>
        <p:nvSpPr>
          <p:cNvPr id="38" name="Rounded Rectangle 37"/>
          <p:cNvSpPr/>
          <p:nvPr/>
        </p:nvSpPr>
        <p:spPr>
          <a:xfrm>
            <a:off x="640080" y="5303520"/>
            <a:ext cx="10911535" cy="1188720"/>
          </a:xfrm>
          <a:prstGeom prst="roundRect">
            <a:avLst>
              <a:gd name="adj" fmla="val 3000"/>
            </a:avLst>
          </a:prstGeom>
          <a:solidFill>
            <a:srgbClr val="12263A"/>
          </a:solidFill>
          <a:ln w="12700">
            <a:solidFill>
              <a:srgbClr val="12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0119" y="5449824"/>
            <a:ext cx="10271455" cy="274320"/>
          </a:xfrm>
          <a:prstGeom prst="rect">
            <a:avLst/>
          </a:prstGeom>
          <a:noFill/>
        </p:spPr>
        <p:txBody>
          <a:bodyPr wrap="square" lIns="0" rIns="0" tIns="0" bIns="0" anchor="t">
            <a:spAutoFit/>
          </a:bodyPr>
          <a:lstStyle/>
          <a:p>
            <a:pPr algn="l">
              <a:lnSpc>
                <a:spcPct val="100000"/>
              </a:lnSpc>
            </a:pPr>
            <a:r>
              <a:rPr sz="1000" b="1" i="0">
                <a:solidFill>
                  <a:srgbClr val="0E6E6E"/>
                </a:solidFill>
                <a:latin typeface="Segoe UI Semibold"/>
              </a:rPr>
              <a:t>PRIORITY ORDER — AND WHY</a:t>
            </a:r>
          </a:p>
        </p:txBody>
      </p:sp>
      <p:sp>
        <p:nvSpPr>
          <p:cNvPr id="40" name="TextBox 39"/>
          <p:cNvSpPr txBox="1"/>
          <p:nvPr/>
        </p:nvSpPr>
        <p:spPr>
          <a:xfrm>
            <a:off x="960119" y="5760720"/>
            <a:ext cx="10271455" cy="640080"/>
          </a:xfrm>
          <a:prstGeom prst="rect">
            <a:avLst/>
          </a:prstGeom>
          <a:noFill/>
        </p:spPr>
        <p:txBody>
          <a:bodyPr wrap="square" lIns="0" rIns="0" tIns="0" bIns="0" anchor="t">
            <a:spAutoFit/>
          </a:bodyPr>
          <a:lstStyle/>
          <a:p>
            <a:pPr algn="l">
              <a:lnSpc>
                <a:spcPct val="130000"/>
              </a:lnSpc>
            </a:pPr>
            <a:r>
              <a:rPr sz="1050" b="0" i="0">
                <a:solidFill>
                  <a:srgbClr val="FFFFFF"/>
                </a:solidFill>
                <a:latin typeface="Segoe UI"/>
              </a:rPr>
              <a:t>1. QuizAttemptQuestion — advisory becomes enforced.    2. SOP versioning — the only gap that can silently destroy learner data.    3. Revision history — content lineage.</a:t>
            </a:r>
          </a:p>
          <a:p>
            <a:pPr algn="l">
              <a:lnSpc>
                <a:spcPct val="130000"/>
              </a:lnSpc>
            </a:pPr>
            <a:r>
              <a:rPr sz="1050" b="0" i="0">
                <a:solidFill>
                  <a:srgbClr val="FFFFFF"/>
                </a:solidFill>
                <a:latin typeface="Segoe UI"/>
              </a:rPr>
              <a:t>Integrity first, then measurement quality, then intelligence.    Agentic AI never replaces SME approval or deterministic compliance controls.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15 · SUMMARY</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Conclusion</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527048"/>
            <a:ext cx="237744" cy="237744"/>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Segoe UI"/>
              </a:rPr>
              <a:t>✓</a:t>
            </a:r>
          </a:p>
        </p:txBody>
      </p:sp>
      <p:sp>
        <p:nvSpPr>
          <p:cNvPr id="6" name="TextBox 5"/>
          <p:cNvSpPr txBox="1"/>
          <p:nvPr/>
        </p:nvSpPr>
        <p:spPr>
          <a:xfrm>
            <a:off x="1024127" y="1481328"/>
            <a:ext cx="5074920" cy="320040"/>
          </a:xfrm>
          <a:prstGeom prst="rect">
            <a:avLst/>
          </a:prstGeom>
          <a:noFill/>
        </p:spPr>
        <p:txBody>
          <a:bodyPr wrap="square" lIns="0" rIns="0" tIns="0" bIns="0" anchor="t">
            <a:spAutoFit/>
          </a:bodyPr>
          <a:lstStyle/>
          <a:p>
            <a:pPr algn="l">
              <a:lnSpc>
                <a:spcPct val="100000"/>
              </a:lnSpc>
            </a:pPr>
            <a:r>
              <a:rPr sz="1300" b="1" i="0">
                <a:solidFill>
                  <a:srgbClr val="12263A"/>
                </a:solidFill>
                <a:latin typeface="Segoe UI"/>
              </a:rPr>
              <a:t>Converts SOPs into structured training content</a:t>
            </a:r>
          </a:p>
        </p:txBody>
      </p:sp>
      <p:sp>
        <p:nvSpPr>
          <p:cNvPr id="7" name="TextBox 6"/>
          <p:cNvSpPr txBox="1"/>
          <p:nvPr/>
        </p:nvSpPr>
        <p:spPr>
          <a:xfrm>
            <a:off x="6263640" y="1508760"/>
            <a:ext cx="5287975" cy="365760"/>
          </a:xfrm>
          <a:prstGeom prst="rect">
            <a:avLst/>
          </a:prstGeom>
          <a:noFill/>
        </p:spPr>
        <p:txBody>
          <a:bodyPr wrap="square" lIns="0" rIns="0" tIns="0" bIns="0" anchor="t">
            <a:spAutoFit/>
          </a:bodyPr>
          <a:lstStyle/>
          <a:p>
            <a:pPr algn="l">
              <a:lnSpc>
                <a:spcPct val="100000"/>
              </a:lnSpc>
            </a:pPr>
            <a:r>
              <a:rPr sz="1100" b="0" i="0">
                <a:solidFill>
                  <a:srgbClr val="5A6B73"/>
                </a:solidFill>
                <a:latin typeface="Segoe UI"/>
              </a:rPr>
              <a:t>Heading-aware chunking preserves real section boundaries</a:t>
            </a:r>
          </a:p>
        </p:txBody>
      </p:sp>
      <p:sp>
        <p:nvSpPr>
          <p:cNvPr id="8" name="Oval 7"/>
          <p:cNvSpPr/>
          <p:nvPr/>
        </p:nvSpPr>
        <p:spPr>
          <a:xfrm>
            <a:off x="640080" y="2075688"/>
            <a:ext cx="237744" cy="237744"/>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Segoe UI"/>
              </a:rPr>
              <a:t>✓</a:t>
            </a:r>
          </a:p>
        </p:txBody>
      </p:sp>
      <p:sp>
        <p:nvSpPr>
          <p:cNvPr id="9" name="TextBox 8"/>
          <p:cNvSpPr txBox="1"/>
          <p:nvPr/>
        </p:nvSpPr>
        <p:spPr>
          <a:xfrm>
            <a:off x="1024127" y="2029968"/>
            <a:ext cx="5074920" cy="320040"/>
          </a:xfrm>
          <a:prstGeom prst="rect">
            <a:avLst/>
          </a:prstGeom>
          <a:noFill/>
        </p:spPr>
        <p:txBody>
          <a:bodyPr wrap="square" lIns="0" rIns="0" tIns="0" bIns="0" anchor="t">
            <a:spAutoFit/>
          </a:bodyPr>
          <a:lstStyle/>
          <a:p>
            <a:pPr algn="l">
              <a:lnSpc>
                <a:spcPct val="100000"/>
              </a:lnSpc>
            </a:pPr>
            <a:r>
              <a:rPr sz="1300" b="1" i="0">
                <a:solidFill>
                  <a:srgbClr val="12263A"/>
                </a:solidFill>
                <a:latin typeface="Segoe UI"/>
              </a:rPr>
              <a:t>Uses AI for scalable question generation</a:t>
            </a:r>
          </a:p>
        </p:txBody>
      </p:sp>
      <p:sp>
        <p:nvSpPr>
          <p:cNvPr id="10" name="TextBox 9"/>
          <p:cNvSpPr txBox="1"/>
          <p:nvPr/>
        </p:nvSpPr>
        <p:spPr>
          <a:xfrm>
            <a:off x="6263640" y="2057400"/>
            <a:ext cx="5287975" cy="365760"/>
          </a:xfrm>
          <a:prstGeom prst="rect">
            <a:avLst/>
          </a:prstGeom>
          <a:noFill/>
        </p:spPr>
        <p:txBody>
          <a:bodyPr wrap="square" lIns="0" rIns="0" tIns="0" bIns="0" anchor="t">
            <a:spAutoFit/>
          </a:bodyPr>
          <a:lstStyle/>
          <a:p>
            <a:pPr algn="l">
              <a:lnSpc>
                <a:spcPct val="100000"/>
              </a:lnSpc>
            </a:pPr>
            <a:r>
              <a:rPr sz="1100" b="0" i="0">
                <a:solidFill>
                  <a:srgbClr val="5A6B73"/>
                </a:solidFill>
                <a:latin typeface="Segoe UI"/>
              </a:rPr>
              <a:t>Section-grounded prompting, never unrestricted generation</a:t>
            </a:r>
          </a:p>
        </p:txBody>
      </p:sp>
      <p:sp>
        <p:nvSpPr>
          <p:cNvPr id="11" name="Oval 10"/>
          <p:cNvSpPr/>
          <p:nvPr/>
        </p:nvSpPr>
        <p:spPr>
          <a:xfrm>
            <a:off x="640080" y="2624327"/>
            <a:ext cx="237744" cy="237744"/>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Segoe UI"/>
              </a:rPr>
              <a:t>✓</a:t>
            </a:r>
          </a:p>
        </p:txBody>
      </p:sp>
      <p:sp>
        <p:nvSpPr>
          <p:cNvPr id="12" name="TextBox 11"/>
          <p:cNvSpPr txBox="1"/>
          <p:nvPr/>
        </p:nvSpPr>
        <p:spPr>
          <a:xfrm>
            <a:off x="1024127" y="2578608"/>
            <a:ext cx="5074920" cy="320040"/>
          </a:xfrm>
          <a:prstGeom prst="rect">
            <a:avLst/>
          </a:prstGeom>
          <a:noFill/>
        </p:spPr>
        <p:txBody>
          <a:bodyPr wrap="square" lIns="0" rIns="0" tIns="0" bIns="0" anchor="t">
            <a:spAutoFit/>
          </a:bodyPr>
          <a:lstStyle/>
          <a:p>
            <a:pPr algn="l">
              <a:lnSpc>
                <a:spcPct val="100000"/>
              </a:lnSpc>
            </a:pPr>
            <a:r>
              <a:rPr sz="1300" b="1" i="0">
                <a:solidFill>
                  <a:srgbClr val="12263A"/>
                </a:solidFill>
                <a:latin typeface="Segoe UI"/>
              </a:rPr>
              <a:t>Maintains human SME control</a:t>
            </a:r>
          </a:p>
        </p:txBody>
      </p:sp>
      <p:sp>
        <p:nvSpPr>
          <p:cNvPr id="13" name="TextBox 12"/>
          <p:cNvSpPr txBox="1"/>
          <p:nvPr/>
        </p:nvSpPr>
        <p:spPr>
          <a:xfrm>
            <a:off x="6263640" y="2606039"/>
            <a:ext cx="5287975" cy="365760"/>
          </a:xfrm>
          <a:prstGeom prst="rect">
            <a:avLst/>
          </a:prstGeom>
          <a:noFill/>
        </p:spPr>
        <p:txBody>
          <a:bodyPr wrap="square" lIns="0" rIns="0" tIns="0" bIns="0" anchor="t">
            <a:spAutoFit/>
          </a:bodyPr>
          <a:lstStyle/>
          <a:p>
            <a:pPr algn="l">
              <a:lnSpc>
                <a:spcPct val="100000"/>
              </a:lnSpc>
            </a:pPr>
            <a:r>
              <a:rPr sz="1100" b="0" i="0">
                <a:solidFill>
                  <a:srgbClr val="5A6B73"/>
                </a:solidFill>
                <a:latin typeface="Segoe UI"/>
              </a:rPr>
              <a:t>Electronic signature bound to a content hash</a:t>
            </a:r>
          </a:p>
        </p:txBody>
      </p:sp>
      <p:sp>
        <p:nvSpPr>
          <p:cNvPr id="14" name="Oval 13"/>
          <p:cNvSpPr/>
          <p:nvPr/>
        </p:nvSpPr>
        <p:spPr>
          <a:xfrm>
            <a:off x="640080" y="3172968"/>
            <a:ext cx="237744" cy="237744"/>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Segoe UI"/>
              </a:rPr>
              <a:t>✓</a:t>
            </a:r>
          </a:p>
        </p:txBody>
      </p:sp>
      <p:sp>
        <p:nvSpPr>
          <p:cNvPr id="15" name="TextBox 14"/>
          <p:cNvSpPr txBox="1"/>
          <p:nvPr/>
        </p:nvSpPr>
        <p:spPr>
          <a:xfrm>
            <a:off x="1024127" y="3127248"/>
            <a:ext cx="5074920" cy="320040"/>
          </a:xfrm>
          <a:prstGeom prst="rect">
            <a:avLst/>
          </a:prstGeom>
          <a:noFill/>
        </p:spPr>
        <p:txBody>
          <a:bodyPr wrap="square" lIns="0" rIns="0" tIns="0" bIns="0" anchor="t">
            <a:spAutoFit/>
          </a:bodyPr>
          <a:lstStyle/>
          <a:p>
            <a:pPr algn="l">
              <a:lnSpc>
                <a:spcPct val="100000"/>
              </a:lnSpc>
            </a:pPr>
            <a:r>
              <a:rPr sz="1300" b="1" i="0">
                <a:solidFill>
                  <a:srgbClr val="12263A"/>
                </a:solidFill>
                <a:latin typeface="Segoe UI"/>
              </a:rPr>
              <a:t>Personalises retraining using learner performance</a:t>
            </a:r>
          </a:p>
        </p:txBody>
      </p:sp>
      <p:sp>
        <p:nvSpPr>
          <p:cNvPr id="16" name="TextBox 15"/>
          <p:cNvSpPr txBox="1"/>
          <p:nvPr/>
        </p:nvSpPr>
        <p:spPr>
          <a:xfrm>
            <a:off x="6263640" y="3154679"/>
            <a:ext cx="5287975" cy="365760"/>
          </a:xfrm>
          <a:prstGeom prst="rect">
            <a:avLst/>
          </a:prstGeom>
          <a:noFill/>
        </p:spPr>
        <p:txBody>
          <a:bodyPr wrap="square" lIns="0" rIns="0" tIns="0" bIns="0" anchor="t">
            <a:spAutoFit/>
          </a:bodyPr>
          <a:lstStyle/>
          <a:p>
            <a:pPr algn="l">
              <a:lnSpc>
                <a:spcPct val="100000"/>
              </a:lnSpc>
            </a:pPr>
            <a:r>
              <a:rPr sz="1100" b="0" i="0">
                <a:solidFill>
                  <a:srgbClr val="5A6B73"/>
                </a:solidFill>
                <a:latin typeface="Segoe UI"/>
              </a:rPr>
              <a:t>Section-level, per-learner, measured from stored answers</a:t>
            </a:r>
          </a:p>
        </p:txBody>
      </p:sp>
      <p:sp>
        <p:nvSpPr>
          <p:cNvPr id="17" name="Oval 16"/>
          <p:cNvSpPr/>
          <p:nvPr/>
        </p:nvSpPr>
        <p:spPr>
          <a:xfrm>
            <a:off x="640080" y="3721608"/>
            <a:ext cx="237744" cy="237744"/>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Segoe UI"/>
              </a:rPr>
              <a:t>✓</a:t>
            </a:r>
          </a:p>
        </p:txBody>
      </p:sp>
      <p:sp>
        <p:nvSpPr>
          <p:cNvPr id="18" name="TextBox 17"/>
          <p:cNvSpPr txBox="1"/>
          <p:nvPr/>
        </p:nvSpPr>
        <p:spPr>
          <a:xfrm>
            <a:off x="1024127" y="3675887"/>
            <a:ext cx="5074920" cy="320040"/>
          </a:xfrm>
          <a:prstGeom prst="rect">
            <a:avLst/>
          </a:prstGeom>
          <a:noFill/>
        </p:spPr>
        <p:txBody>
          <a:bodyPr wrap="square" lIns="0" rIns="0" tIns="0" bIns="0" anchor="t">
            <a:spAutoFit/>
          </a:bodyPr>
          <a:lstStyle/>
          <a:p>
            <a:pPr algn="l">
              <a:lnSpc>
                <a:spcPct val="100000"/>
              </a:lnSpc>
            </a:pPr>
            <a:r>
              <a:rPr sz="1300" b="1" i="0">
                <a:solidFill>
                  <a:srgbClr val="12263A"/>
                </a:solidFill>
                <a:latin typeface="Segoe UI"/>
              </a:rPr>
              <a:t>Separates what to learn from when to review</a:t>
            </a:r>
          </a:p>
        </p:txBody>
      </p:sp>
      <p:sp>
        <p:nvSpPr>
          <p:cNvPr id="19" name="TextBox 18"/>
          <p:cNvSpPr txBox="1"/>
          <p:nvPr/>
        </p:nvSpPr>
        <p:spPr>
          <a:xfrm>
            <a:off x="6263640" y="3703320"/>
            <a:ext cx="5287975" cy="365760"/>
          </a:xfrm>
          <a:prstGeom prst="rect">
            <a:avLst/>
          </a:prstGeom>
          <a:noFill/>
        </p:spPr>
        <p:txBody>
          <a:bodyPr wrap="square" lIns="0" rIns="0" tIns="0" bIns="0" anchor="t">
            <a:spAutoFit/>
          </a:bodyPr>
          <a:lstStyle/>
          <a:p>
            <a:pPr algn="l">
              <a:lnSpc>
                <a:spcPct val="100000"/>
              </a:lnSpc>
            </a:pPr>
            <a:r>
              <a:rPr sz="1100" b="0" i="0">
                <a:solidFill>
                  <a:srgbClr val="5A6B73"/>
                </a:solidFill>
                <a:latin typeface="Segoe UI"/>
              </a:rPr>
              <a:t>Adaptive selection and FSRS scheduling stay distinct</a:t>
            </a:r>
          </a:p>
        </p:txBody>
      </p:sp>
      <p:sp>
        <p:nvSpPr>
          <p:cNvPr id="20" name="Oval 19"/>
          <p:cNvSpPr/>
          <p:nvPr/>
        </p:nvSpPr>
        <p:spPr>
          <a:xfrm>
            <a:off x="640080" y="4270248"/>
            <a:ext cx="237744" cy="237744"/>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Segoe UI"/>
              </a:rPr>
              <a:t>✓</a:t>
            </a:r>
          </a:p>
        </p:txBody>
      </p:sp>
      <p:sp>
        <p:nvSpPr>
          <p:cNvPr id="21" name="TextBox 20"/>
          <p:cNvSpPr txBox="1"/>
          <p:nvPr/>
        </p:nvSpPr>
        <p:spPr>
          <a:xfrm>
            <a:off x="1024127" y="4224527"/>
            <a:ext cx="5074920" cy="320040"/>
          </a:xfrm>
          <a:prstGeom prst="rect">
            <a:avLst/>
          </a:prstGeom>
          <a:noFill/>
        </p:spPr>
        <p:txBody>
          <a:bodyPr wrap="square" lIns="0" rIns="0" tIns="0" bIns="0" anchor="t">
            <a:spAutoFit/>
          </a:bodyPr>
          <a:lstStyle/>
          <a:p>
            <a:pPr algn="l">
              <a:lnSpc>
                <a:spcPct val="100000"/>
              </a:lnSpc>
            </a:pPr>
            <a:r>
              <a:rPr sz="1300" b="1" i="0">
                <a:solidFill>
                  <a:srgbClr val="12263A"/>
                </a:solidFill>
                <a:latin typeface="Segoe UI"/>
              </a:rPr>
              <a:t>Provides explainable recommendations</a:t>
            </a:r>
          </a:p>
        </p:txBody>
      </p:sp>
      <p:sp>
        <p:nvSpPr>
          <p:cNvPr id="22" name="TextBox 21"/>
          <p:cNvSpPr txBox="1"/>
          <p:nvPr/>
        </p:nvSpPr>
        <p:spPr>
          <a:xfrm>
            <a:off x="6263640" y="4251959"/>
            <a:ext cx="5287975" cy="365760"/>
          </a:xfrm>
          <a:prstGeom prst="rect">
            <a:avLst/>
          </a:prstGeom>
          <a:noFill/>
        </p:spPr>
        <p:txBody>
          <a:bodyPr wrap="square" lIns="0" rIns="0" tIns="0" bIns="0" anchor="t">
            <a:spAutoFit/>
          </a:bodyPr>
          <a:lstStyle/>
          <a:p>
            <a:pPr algn="l">
              <a:lnSpc>
                <a:spcPct val="100000"/>
              </a:lnSpc>
            </a:pPr>
            <a:r>
              <a:rPr sz="1100" b="0" i="0">
                <a:solidFill>
                  <a:srgbClr val="5A6B73"/>
                </a:solidFill>
                <a:latin typeface="Segoe UI"/>
              </a:rPr>
              <a:t>Every selection states the evidence that produced it</a:t>
            </a:r>
          </a:p>
        </p:txBody>
      </p:sp>
      <p:sp>
        <p:nvSpPr>
          <p:cNvPr id="23" name="Oval 22"/>
          <p:cNvSpPr/>
          <p:nvPr/>
        </p:nvSpPr>
        <p:spPr>
          <a:xfrm>
            <a:off x="640080" y="4818888"/>
            <a:ext cx="237744" cy="237744"/>
          </a:xfrm>
          <a:prstGeom prst="ellipse">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Segoe UI"/>
              </a:rPr>
              <a:t>✓</a:t>
            </a:r>
          </a:p>
        </p:txBody>
      </p:sp>
      <p:sp>
        <p:nvSpPr>
          <p:cNvPr id="24" name="TextBox 23"/>
          <p:cNvSpPr txBox="1"/>
          <p:nvPr/>
        </p:nvSpPr>
        <p:spPr>
          <a:xfrm>
            <a:off x="1024127" y="4773167"/>
            <a:ext cx="5074920" cy="320040"/>
          </a:xfrm>
          <a:prstGeom prst="rect">
            <a:avLst/>
          </a:prstGeom>
          <a:noFill/>
        </p:spPr>
        <p:txBody>
          <a:bodyPr wrap="square" lIns="0" rIns="0" tIns="0" bIns="0" anchor="t">
            <a:spAutoFit/>
          </a:bodyPr>
          <a:lstStyle/>
          <a:p>
            <a:pPr algn="l">
              <a:lnSpc>
                <a:spcPct val="100000"/>
              </a:lnSpc>
            </a:pPr>
            <a:r>
              <a:rPr sz="1300" b="1" i="0">
                <a:solidFill>
                  <a:srgbClr val="12263A"/>
                </a:solidFill>
                <a:latin typeface="Segoe UI"/>
              </a:rPr>
              <a:t>Demonstrated measurable learning improvement</a:t>
            </a:r>
          </a:p>
        </p:txBody>
      </p:sp>
      <p:sp>
        <p:nvSpPr>
          <p:cNvPr id="25" name="TextBox 24"/>
          <p:cNvSpPr txBox="1"/>
          <p:nvPr/>
        </p:nvSpPr>
        <p:spPr>
          <a:xfrm>
            <a:off x="6263640" y="4800599"/>
            <a:ext cx="5287975" cy="365760"/>
          </a:xfrm>
          <a:prstGeom prst="rect">
            <a:avLst/>
          </a:prstGeom>
          <a:noFill/>
        </p:spPr>
        <p:txBody>
          <a:bodyPr wrap="square" lIns="0" rIns="0" tIns="0" bIns="0" anchor="t">
            <a:spAutoFit/>
          </a:bodyPr>
          <a:lstStyle/>
          <a:p>
            <a:pPr algn="l">
              <a:lnSpc>
                <a:spcPct val="100000"/>
              </a:lnSpc>
            </a:pPr>
            <a:r>
              <a:rPr sz="1100" b="0" i="0">
                <a:solidFill>
                  <a:srgbClr val="5A6B73"/>
                </a:solidFill>
                <a:latin typeface="Segoe UI"/>
              </a:rPr>
              <a:t>+50 percentage points in the verified demonstration</a:t>
            </a:r>
          </a:p>
        </p:txBody>
      </p:sp>
      <p:sp>
        <p:nvSpPr>
          <p:cNvPr id="26" name="Rounded Rectangle 25"/>
          <p:cNvSpPr/>
          <p:nvPr/>
        </p:nvSpPr>
        <p:spPr>
          <a:xfrm>
            <a:off x="640080" y="5440680"/>
            <a:ext cx="10911535" cy="1024128"/>
          </a:xfrm>
          <a:prstGeom prst="roundRect">
            <a:avLst>
              <a:gd name="adj" fmla="val 3000"/>
            </a:avLst>
          </a:prstGeom>
          <a:solidFill>
            <a:srgbClr val="12263A"/>
          </a:solidFill>
          <a:ln w="12700">
            <a:solidFill>
              <a:srgbClr val="122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19" y="5742432"/>
            <a:ext cx="2430703" cy="457200"/>
          </a:xfrm>
          <a:prstGeom prst="rect">
            <a:avLst/>
          </a:prstGeom>
          <a:noFill/>
        </p:spPr>
        <p:txBody>
          <a:bodyPr wrap="square" lIns="0" rIns="0" tIns="0" bIns="0" anchor="t">
            <a:spAutoFit/>
          </a:bodyPr>
          <a:lstStyle/>
          <a:p>
            <a:pPr algn="ctr">
              <a:lnSpc>
                <a:spcPct val="115000"/>
              </a:lnSpc>
            </a:pPr>
            <a:r>
              <a:rPr sz="1250" b="1" i="0">
                <a:solidFill>
                  <a:srgbClr val="FFFFFF"/>
                </a:solidFill>
                <a:latin typeface="Segoe UI"/>
              </a:rPr>
              <a:t>AI generates the content.</a:t>
            </a:r>
          </a:p>
        </p:txBody>
      </p:sp>
      <p:sp>
        <p:nvSpPr>
          <p:cNvPr id="28" name="TextBox 27"/>
          <p:cNvSpPr txBox="1"/>
          <p:nvPr/>
        </p:nvSpPr>
        <p:spPr>
          <a:xfrm>
            <a:off x="3527983" y="5742432"/>
            <a:ext cx="2430703" cy="457200"/>
          </a:xfrm>
          <a:prstGeom prst="rect">
            <a:avLst/>
          </a:prstGeom>
          <a:noFill/>
        </p:spPr>
        <p:txBody>
          <a:bodyPr wrap="square" lIns="0" rIns="0" tIns="0" bIns="0" anchor="t">
            <a:spAutoFit/>
          </a:bodyPr>
          <a:lstStyle/>
          <a:p>
            <a:pPr algn="ctr">
              <a:lnSpc>
                <a:spcPct val="115000"/>
              </a:lnSpc>
            </a:pPr>
            <a:r>
              <a:rPr sz="1250" b="1" i="0">
                <a:solidFill>
                  <a:srgbClr val="E3F0F0"/>
                </a:solidFill>
                <a:latin typeface="Segoe UI"/>
              </a:rPr>
              <a:t>SMEs control the content.</a:t>
            </a:r>
          </a:p>
        </p:txBody>
      </p:sp>
      <p:sp>
        <p:nvSpPr>
          <p:cNvPr id="29" name="TextBox 28"/>
          <p:cNvSpPr txBox="1"/>
          <p:nvPr/>
        </p:nvSpPr>
        <p:spPr>
          <a:xfrm>
            <a:off x="6095847" y="5742432"/>
            <a:ext cx="2430703" cy="457200"/>
          </a:xfrm>
          <a:prstGeom prst="rect">
            <a:avLst/>
          </a:prstGeom>
          <a:noFill/>
        </p:spPr>
        <p:txBody>
          <a:bodyPr wrap="square" lIns="0" rIns="0" tIns="0" bIns="0" anchor="t">
            <a:spAutoFit/>
          </a:bodyPr>
          <a:lstStyle/>
          <a:p>
            <a:pPr algn="ctr">
              <a:lnSpc>
                <a:spcPct val="115000"/>
              </a:lnSpc>
            </a:pPr>
            <a:r>
              <a:rPr sz="1250" b="1" i="0">
                <a:solidFill>
                  <a:srgbClr val="FFFFFF"/>
                </a:solidFill>
                <a:latin typeface="Segoe UI"/>
              </a:rPr>
              <a:t>Learner data drives adaptation.</a:t>
            </a:r>
          </a:p>
        </p:txBody>
      </p:sp>
      <p:sp>
        <p:nvSpPr>
          <p:cNvPr id="30" name="TextBox 29"/>
          <p:cNvSpPr txBox="1"/>
          <p:nvPr/>
        </p:nvSpPr>
        <p:spPr>
          <a:xfrm>
            <a:off x="8663711" y="5742432"/>
            <a:ext cx="2430703" cy="457200"/>
          </a:xfrm>
          <a:prstGeom prst="rect">
            <a:avLst/>
          </a:prstGeom>
          <a:noFill/>
        </p:spPr>
        <p:txBody>
          <a:bodyPr wrap="square" lIns="0" rIns="0" tIns="0" bIns="0" anchor="t">
            <a:spAutoFit/>
          </a:bodyPr>
          <a:lstStyle/>
          <a:p>
            <a:pPr algn="ctr">
              <a:lnSpc>
                <a:spcPct val="115000"/>
              </a:lnSpc>
            </a:pPr>
            <a:r>
              <a:rPr sz="1250" b="1" i="0">
                <a:solidFill>
                  <a:srgbClr val="E3F0F0"/>
                </a:solidFill>
                <a:latin typeface="Segoe UI"/>
              </a:rPr>
              <a:t>FSRS controls review timing.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11535" cy="228600"/>
          </a:xfrm>
          <a:prstGeom prst="rect">
            <a:avLst/>
          </a:prstGeom>
          <a:noFill/>
        </p:spPr>
        <p:txBody>
          <a:bodyPr wrap="square" lIns="0" rIns="0" tIns="0" bIns="0" anchor="t">
            <a:spAutoFit/>
          </a:bodyPr>
          <a:lstStyle/>
          <a:p>
            <a:pPr algn="l">
              <a:lnSpc>
                <a:spcPct val="100000"/>
              </a:lnSpc>
            </a:pPr>
            <a:r>
              <a:rPr sz="1050" b="1" i="0">
                <a:solidFill>
                  <a:srgbClr val="0E6E6E"/>
                </a:solidFill>
                <a:latin typeface="Segoe UI Semibold"/>
              </a:rPr>
              <a:t>IEEE STYLE</a:t>
            </a:r>
          </a:p>
        </p:txBody>
      </p:sp>
      <p:sp>
        <p:nvSpPr>
          <p:cNvPr id="3" name="TextBox 2"/>
          <p:cNvSpPr txBox="1"/>
          <p:nvPr/>
        </p:nvSpPr>
        <p:spPr>
          <a:xfrm>
            <a:off x="640080" y="658368"/>
            <a:ext cx="10911535" cy="502920"/>
          </a:xfrm>
          <a:prstGeom prst="rect">
            <a:avLst/>
          </a:prstGeom>
          <a:noFill/>
        </p:spPr>
        <p:txBody>
          <a:bodyPr wrap="square" lIns="0" rIns="0" tIns="0" bIns="0" anchor="t">
            <a:spAutoFit/>
          </a:bodyPr>
          <a:lstStyle/>
          <a:p>
            <a:pPr algn="l">
              <a:lnSpc>
                <a:spcPct val="100000"/>
              </a:lnSpc>
            </a:pPr>
            <a:r>
              <a:rPr sz="2700" b="1" i="0">
                <a:solidFill>
                  <a:srgbClr val="12263A"/>
                </a:solidFill>
                <a:latin typeface="Segoe UI Semibold"/>
              </a:rPr>
              <a:t>References</a:t>
            </a:r>
          </a:p>
        </p:txBody>
      </p:sp>
      <p:sp>
        <p:nvSpPr>
          <p:cNvPr id="4" name="Rectangle 3"/>
          <p:cNvSpPr/>
          <p:nvPr/>
        </p:nvSpPr>
        <p:spPr>
          <a:xfrm>
            <a:off x="640080" y="1280160"/>
            <a:ext cx="1051560" cy="29260"/>
          </a:xfrm>
          <a:prstGeom prst="rect">
            <a:avLst/>
          </a:prstGeom>
          <a:solidFill>
            <a:srgbClr val="0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81328"/>
            <a:ext cx="10911535" cy="594360"/>
          </a:xfrm>
          <a:prstGeom prst="rect">
            <a:avLst/>
          </a:prstGeom>
          <a:noFill/>
        </p:spPr>
        <p:txBody>
          <a:bodyPr wrap="square" lIns="0" rIns="0" tIns="0" bIns="0" anchor="t">
            <a:spAutoFit/>
          </a:bodyPr>
          <a:lstStyle/>
          <a:p>
            <a:pPr algn="l">
              <a:lnSpc>
                <a:spcPct val="115000"/>
              </a:lnSpc>
            </a:pPr>
            <a:r>
              <a:rPr sz="1100" b="0" i="0">
                <a:solidFill>
                  <a:srgbClr val="12263A"/>
                </a:solidFill>
                <a:latin typeface="Segoe UI"/>
              </a:rPr>
              <a:t>[1]  A. T. Corbett and J. R. Anderson, “Knowledge tracing: Modeling the acquisition of procedural knowledge,” User Modeling and User-Adapted Interaction, vol. 4, no. 4, pp. 253–278, 1994, doi: 10.1007/BF01099821.</a:t>
            </a:r>
          </a:p>
        </p:txBody>
      </p:sp>
      <p:sp>
        <p:nvSpPr>
          <p:cNvPr id="6" name="TextBox 5"/>
          <p:cNvSpPr txBox="1"/>
          <p:nvPr/>
        </p:nvSpPr>
        <p:spPr>
          <a:xfrm>
            <a:off x="640080" y="2139696"/>
            <a:ext cx="10911535" cy="594360"/>
          </a:xfrm>
          <a:prstGeom prst="rect">
            <a:avLst/>
          </a:prstGeom>
          <a:noFill/>
        </p:spPr>
        <p:txBody>
          <a:bodyPr wrap="square" lIns="0" rIns="0" tIns="0" bIns="0" anchor="t">
            <a:spAutoFit/>
          </a:bodyPr>
          <a:lstStyle/>
          <a:p>
            <a:pPr algn="l">
              <a:lnSpc>
                <a:spcPct val="115000"/>
              </a:lnSpc>
            </a:pPr>
            <a:r>
              <a:rPr sz="1100" b="0" i="0">
                <a:solidFill>
                  <a:srgbClr val="12263A"/>
                </a:solidFill>
                <a:latin typeface="Segoe UI"/>
              </a:rPr>
              <a:t>[2]  C. Piech et al., “Deep knowledge tracing,” in Advances in Neural Information Processing Systems (NeurIPS), vol. 28, 2015, pp. 505–513.</a:t>
            </a:r>
          </a:p>
        </p:txBody>
      </p:sp>
      <p:sp>
        <p:nvSpPr>
          <p:cNvPr id="7" name="TextBox 6"/>
          <p:cNvSpPr txBox="1"/>
          <p:nvPr/>
        </p:nvSpPr>
        <p:spPr>
          <a:xfrm>
            <a:off x="640080" y="2798064"/>
            <a:ext cx="10911535" cy="594360"/>
          </a:xfrm>
          <a:prstGeom prst="rect">
            <a:avLst/>
          </a:prstGeom>
          <a:noFill/>
        </p:spPr>
        <p:txBody>
          <a:bodyPr wrap="square" lIns="0" rIns="0" tIns="0" bIns="0" anchor="t">
            <a:spAutoFit/>
          </a:bodyPr>
          <a:lstStyle/>
          <a:p>
            <a:pPr algn="l">
              <a:lnSpc>
                <a:spcPct val="115000"/>
              </a:lnSpc>
            </a:pPr>
            <a:r>
              <a:rPr sz="1100" b="0" i="0">
                <a:solidFill>
                  <a:srgbClr val="12263A"/>
                </a:solidFill>
                <a:latin typeface="Segoe UI"/>
              </a:rPr>
              <a:t>[3]  R. Pelánek, “Applications of the Elo rating system in adaptive educational systems,” Computers &amp; Education, vol. 98, pp. 169–179, 2016, doi: 10.1016/j.compedu.2016.03.017.</a:t>
            </a:r>
          </a:p>
        </p:txBody>
      </p:sp>
      <p:sp>
        <p:nvSpPr>
          <p:cNvPr id="8" name="TextBox 7"/>
          <p:cNvSpPr txBox="1"/>
          <p:nvPr/>
        </p:nvSpPr>
        <p:spPr>
          <a:xfrm>
            <a:off x="640080" y="3456432"/>
            <a:ext cx="10911535" cy="594360"/>
          </a:xfrm>
          <a:prstGeom prst="rect">
            <a:avLst/>
          </a:prstGeom>
          <a:noFill/>
        </p:spPr>
        <p:txBody>
          <a:bodyPr wrap="square" lIns="0" rIns="0" tIns="0" bIns="0" anchor="t">
            <a:spAutoFit/>
          </a:bodyPr>
          <a:lstStyle/>
          <a:p>
            <a:pPr algn="l">
              <a:lnSpc>
                <a:spcPct val="115000"/>
              </a:lnSpc>
            </a:pPr>
            <a:r>
              <a:rPr sz="1100" b="0" i="0">
                <a:solidFill>
                  <a:srgbClr val="12263A"/>
                </a:solidFill>
                <a:latin typeface="Segoe UI"/>
              </a:rPr>
              <a:t>[4]  B. Settles and B. Meeder, “A trainable spaced repetition model for language learning,” in Proc. 54th Annual Meeting of the Association for Computational Linguistics (ACL), Berlin, Germany, 2016, pp. 1848–1858.</a:t>
            </a:r>
          </a:p>
        </p:txBody>
      </p:sp>
      <p:sp>
        <p:nvSpPr>
          <p:cNvPr id="9" name="TextBox 8"/>
          <p:cNvSpPr txBox="1"/>
          <p:nvPr/>
        </p:nvSpPr>
        <p:spPr>
          <a:xfrm>
            <a:off x="640080" y="4114800"/>
            <a:ext cx="10911535" cy="594360"/>
          </a:xfrm>
          <a:prstGeom prst="rect">
            <a:avLst/>
          </a:prstGeom>
          <a:noFill/>
        </p:spPr>
        <p:txBody>
          <a:bodyPr wrap="square" lIns="0" rIns="0" tIns="0" bIns="0" anchor="t">
            <a:spAutoFit/>
          </a:bodyPr>
          <a:lstStyle/>
          <a:p>
            <a:pPr algn="l">
              <a:lnSpc>
                <a:spcPct val="115000"/>
              </a:lnSpc>
            </a:pPr>
            <a:r>
              <a:rPr sz="1100" b="0" i="0">
                <a:solidFill>
                  <a:srgbClr val="12263A"/>
                </a:solidFill>
                <a:latin typeface="Segoe UI"/>
              </a:rPr>
              <a:t>[5]  J. Ye, J. Su, and Y. Cao, “A stochastic shortest path algorithm for optimizing spaced repetition scheduling,” in Proc. 28th ACM SIGKDD Conf. Knowledge Discovery and Data Mining (KDD), 2022, pp. 4381–4390, doi: 10.1145/3534678.3539081.</a:t>
            </a:r>
          </a:p>
        </p:txBody>
      </p:sp>
      <p:sp>
        <p:nvSpPr>
          <p:cNvPr id="10" name="TextBox 9"/>
          <p:cNvSpPr txBox="1"/>
          <p:nvPr/>
        </p:nvSpPr>
        <p:spPr>
          <a:xfrm>
            <a:off x="640080" y="4773168"/>
            <a:ext cx="10911535" cy="594360"/>
          </a:xfrm>
          <a:prstGeom prst="rect">
            <a:avLst/>
          </a:prstGeom>
          <a:noFill/>
        </p:spPr>
        <p:txBody>
          <a:bodyPr wrap="square" lIns="0" rIns="0" tIns="0" bIns="0" anchor="t">
            <a:spAutoFit/>
          </a:bodyPr>
          <a:lstStyle/>
          <a:p>
            <a:pPr algn="l">
              <a:lnSpc>
                <a:spcPct val="115000"/>
              </a:lnSpc>
            </a:pPr>
            <a:r>
              <a:rPr sz="1100" b="0" i="0">
                <a:solidFill>
                  <a:srgbClr val="12263A"/>
                </a:solidFill>
                <a:latin typeface="Segoe UI"/>
              </a:rPr>
              <a:t>[6]  J. Su, J. Ye, L. Nie, Y. Cao, and Y. Chen, “Optimizing spaced repetition schedule by capturing the dynamics of memory,” IEEE Trans. Knowledge and Data Engineering, vol. 35, no. 10, pp. 10085–10097, 2023, doi: 10.1109/TKDE.2023.3251721.</a:t>
            </a:r>
          </a:p>
        </p:txBody>
      </p:sp>
      <p:sp>
        <p:nvSpPr>
          <p:cNvPr id="11" name="TextBox 10"/>
          <p:cNvSpPr txBox="1"/>
          <p:nvPr/>
        </p:nvSpPr>
        <p:spPr>
          <a:xfrm>
            <a:off x="640080" y="5431536"/>
            <a:ext cx="10911535" cy="594360"/>
          </a:xfrm>
          <a:prstGeom prst="rect">
            <a:avLst/>
          </a:prstGeom>
          <a:noFill/>
        </p:spPr>
        <p:txBody>
          <a:bodyPr wrap="square" lIns="0" rIns="0" tIns="0" bIns="0" anchor="t">
            <a:spAutoFit/>
          </a:bodyPr>
          <a:lstStyle/>
          <a:p>
            <a:pPr algn="l">
              <a:lnSpc>
                <a:spcPct val="115000"/>
              </a:lnSpc>
            </a:pPr>
            <a:r>
              <a:rPr sz="1100" b="0" i="0">
                <a:solidFill>
                  <a:srgbClr val="12263A"/>
                </a:solidFill>
                <a:latin typeface="Segoe UI"/>
              </a:rPr>
              <a:t>[7]  Y. S. Kıyak, A. B. Kaya, and E. Emekli, “Validity of AI-generated multiple-choice questions in medical education: a systematic review,” Postgraduate Medical Journal, 2026, doi: 10.1093/postmj/qgag057.</a:t>
            </a:r>
          </a:p>
        </p:txBody>
      </p:sp>
      <p:sp>
        <p:nvSpPr>
          <p:cNvPr id="12" name="Rounded Rectangle 11"/>
          <p:cNvSpPr/>
          <p:nvPr/>
        </p:nvSpPr>
        <p:spPr>
          <a:xfrm>
            <a:off x="640080" y="6144768"/>
            <a:ext cx="10911535" cy="457200"/>
          </a:xfrm>
          <a:prstGeom prst="roundRect">
            <a:avLst>
              <a:gd name="adj" fmla="val 3000"/>
            </a:avLst>
          </a:prstGeom>
          <a:solidFill>
            <a:srgbClr val="F4F7F8"/>
          </a:solidFill>
          <a:ln w="12700">
            <a:solidFill>
              <a:srgbClr val="D6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6254496"/>
            <a:ext cx="10362895" cy="274320"/>
          </a:xfrm>
          <a:prstGeom prst="rect">
            <a:avLst/>
          </a:prstGeom>
          <a:noFill/>
        </p:spPr>
        <p:txBody>
          <a:bodyPr wrap="square" lIns="0" rIns="0" tIns="0" bIns="0" anchor="t">
            <a:spAutoFit/>
          </a:bodyPr>
          <a:lstStyle/>
          <a:p>
            <a:pPr algn="l">
              <a:lnSpc>
                <a:spcPct val="100000"/>
              </a:lnSpc>
            </a:pPr>
            <a:r>
              <a:rPr sz="1050" b="0" i="1">
                <a:solidFill>
                  <a:srgbClr val="5A6B73"/>
                </a:solidFill>
                <a:latin typeface="Segoe UI"/>
              </a:rPr>
              <a:t>All references verified against the publisher record. No citation, DOI or result on any slide is fabricated.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